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5143500" cx="9144000"/>
  <p:notesSz cx="6858000" cy="9144000"/>
  <p:embeddedFontLst>
    <p:embeddedFont>
      <p:font typeface="Lexend"/>
      <p:regular r:id="rId27"/>
      <p:bold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CBC510D-0102-4B47-B6DC-0431241D4BD7}">
  <a:tblStyle styleId="{9CBC510D-0102-4B47-B6DC-0431241D4BD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Lexend-bold.fntdata"/><Relationship Id="rId27" Type="http://schemas.openxmlformats.org/officeDocument/2006/relationships/font" Target="fonts/Lexend-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g3dbca61ca7b_2_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g3dbca61ca7b_2_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SzPts val="1100"/>
              <a:buNone/>
            </a:pPr>
            <a:r>
              <a:rPr lang="en"/>
              <a:t>Good afternoon everyone, we are team Omnipresent, and today we’ll be presenting our project on integrating MOSS-TTS models into vLLM-Omni.</a:t>
            </a:r>
            <a:endParaRPr/>
          </a:p>
        </p:txBody>
      </p:sp>
      <p:sp>
        <p:nvSpPr>
          <p:cNvPr id="14" name="Google Shape;14;g3dbca61ca7b_2_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g3dbca61ca7b_2_1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g3dbca61ca7b_2_1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Before diving into the technical details, I want to first explain why this project matters. Over the past few years, vLLM has become one of the most widely adopted inference serving systems for LLMs because of its efficiency and scalability. Building on top of that, vLLM-Omni extends the framework to include speech and audio generation. </a:t>
            </a:r>
            <a:r>
              <a:rPr lang="en"/>
              <a:t>However, vLLM-Omni is still relatively new, and there are currently very few integratio</a:t>
            </a:r>
            <a:r>
              <a:rPr lang="en"/>
              <a:t>ns of state-of-the-art text-to-speech models. Meanwhile, high-quality TTS systems are becoming increasingly important for applications like AI assistants and accessibility tools. In this project, we focus on integrating Moss-TTS-Local and Moss-TTS-Delay into the vLLM-Omni serving pipeline.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main motivation is not just to make the models run, but to specifically address inference bottlenecks and improve serving efficiency. The ultimate goal is to match or even exceed the throughput and latency performance of the original Hugging Face implementations.</a:t>
            </a:r>
            <a:endParaRPr/>
          </a:p>
        </p:txBody>
      </p:sp>
      <p:sp>
        <p:nvSpPr>
          <p:cNvPr id="25" name="Google Shape;25;g3dbca61ca7b_2_1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g3dbca61ca7b_2_2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 name="Google Shape;38;g3dbca61ca7b_2_2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Next, I’ll briefly introduce the models, datasets, and hardware setup we used for our experiments. We worked with two different TTS architectures.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first is Moss-TTS-Delay, which uses a delay-pattern architecture built on a single large Transformer backbone with around 8 billion parameters. The second model is Moss-TTS-Local, which is smaller at around 1.7 billion parameters with a </a:t>
            </a:r>
            <a:r>
              <a:rPr lang="en"/>
              <a:t>different</a:t>
            </a:r>
            <a:r>
              <a:rPr lang="en"/>
              <a:t> </a:t>
            </a:r>
            <a:r>
              <a:rPr lang="en"/>
              <a:t>architecture</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evaluation, we used two categories of data.</a:t>
            </a:r>
            <a:endParaRPr/>
          </a:p>
          <a:p>
            <a:pPr indent="0" lvl="0" marL="0" rtl="0" algn="l">
              <a:spcBef>
                <a:spcPts val="0"/>
              </a:spcBef>
              <a:spcAft>
                <a:spcPts val="0"/>
              </a:spcAft>
              <a:buNone/>
            </a:pPr>
            <a:r>
              <a:rPr lang="en"/>
              <a:t>First, we used samples from the WikiText dataset with varying sentence lengths to evaluate metrics such as real-time factor and first-chunk latency.</a:t>
            </a:r>
            <a:endParaRPr/>
          </a:p>
          <a:p>
            <a:pPr indent="0" lvl="0" marL="0" rtl="0" algn="l">
              <a:spcBef>
                <a:spcPts val="0"/>
              </a:spcBef>
              <a:spcAft>
                <a:spcPts val="0"/>
              </a:spcAft>
              <a:buNone/>
            </a:pPr>
            <a:r>
              <a:rPr lang="en"/>
              <a:t>Second, we used static fixed sentences for throughput benchmarking in order to reduce variance and ensure more consistent comparisons across different serving configurations.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Last but not least, f</a:t>
            </a:r>
            <a:r>
              <a:rPr lang="en"/>
              <a:t>or hardware, all experiments were conducted on NVIDIA A100 GPU with 80GB VRAM.</a:t>
            </a:r>
            <a:endParaRPr/>
          </a:p>
        </p:txBody>
      </p:sp>
      <p:sp>
        <p:nvSpPr>
          <p:cNvPr id="39" name="Google Shape;39;g3dbca61ca7b_2_2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dbca61ca7b_2_44: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 name="Google Shape;57;g3dbca61ca7b_2_44: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 name="Google Shape;58;g3dbca61ca7b_2_44: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dd971e288c_0_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 name="Google Shape;84;g3dd971e288c_0_0: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 name="Google Shape;85;g3dd971e288c_0_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dbca61ca7b_2_6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g3dbca61ca7b_2_6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g3dbca61ca7b_2_6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dbca61ca7b_2_7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g3dbca61ca7b_2_7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These are some of the numbers that we thought were significant. We were able to significantly increase throughput, almost by 2.8 times the huggingface baseline for the best </a:t>
            </a:r>
            <a:r>
              <a:rPr lang="en"/>
              <a:t>performing</a:t>
            </a:r>
            <a:r>
              <a:rPr lang="en"/>
              <a:t> models. We also significantly reduced the FCL, or better put, integrated FCL, and we reduced Kernel Launch time by 44%!</a:t>
            </a:r>
            <a:endParaRPr/>
          </a:p>
        </p:txBody>
      </p:sp>
      <p:sp>
        <p:nvSpPr>
          <p:cNvPr id="132" name="Google Shape;132;g3dbca61ca7b_2_7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ddd73a4984_0_1: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g3ddd73a4984_0_1: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This table represents a before and after for our throughput comparisons of the HuggingFace and VLLM variants. We can see that as batch size continues to increase, the vllm variants tend to completely outperform the HF variants in throughput, or audio per second. One of the most significant finds is how vLLM Sync for the Delay model generates a whopping 69 seconds of audio per second, crushing the HuggingFace and Async Variants by almost 2.7 times the amount of audio generated by the second. We also point out that for the delay model, with the 128 and 256 batch sizes, we actually run out of memory making the model default to single request backup process, which hinders the speedup and overall throughput. With more GPUs, for example separating the stage 0 and 1 process into two separate GPUs, we may have even greater gains. </a:t>
            </a:r>
            <a:endParaRPr/>
          </a:p>
        </p:txBody>
      </p:sp>
      <p:sp>
        <p:nvSpPr>
          <p:cNvPr id="147" name="Google Shape;147;g3ddd73a4984_0_1: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ddd73a4984_0_34: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g3ddd73a4984_0_34: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Continuing, we also take a look at more serving side metrics. This is where Async variants of the model truly shine. Async is built to stream audio while generating the output, meaning that the FCL or Time to first Audio is significantly reduced compared to synchronous and HF model variants. You will notice that synchronous and HF models have the same total latency and first chunk averages, signifying that audio is not streamed until everything is generated completely. Overall, we can see the real time factor of both local and delay VLLM variants significantly outperform HF variants, showcasing the VLLM optimizations. </a:t>
            </a:r>
            <a:endParaRPr/>
          </a:p>
        </p:txBody>
      </p:sp>
      <p:sp>
        <p:nvSpPr>
          <p:cNvPr id="160" name="Google Shape;160;g3ddd73a4984_0_34: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dbca61ca7b_2_10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g3dbca61ca7b_2_10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Here we show our profiling, where the top portion showcases the vllm profiling, and we point out a significant bottleneck, the stage0/local_forward. We compare the results of before and after the KV Cache, showcasing an 8 percent CUDA time reduction. </a:t>
            </a:r>
            <a:endParaRPr/>
          </a:p>
        </p:txBody>
      </p:sp>
      <p:sp>
        <p:nvSpPr>
          <p:cNvPr id="173" name="Google Shape;173;g3dbca61ca7b_2_10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dbca61ca7b_2_11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g3dbca61ca7b_2_11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g3dbca61ca7b_2_11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dbca61ca7b_2_13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g3dbca61ca7b_2_13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g3dbca61ca7b_2_13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dbca61ca7b_2_144: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g3dbca61ca7b_2_144: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g3dbca61ca7b_2_144: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dbca61ca7b_2_154: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g3dbca61ca7b_2_154: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g3dbca61ca7b_2_154: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dbca61ca7b_2_16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g3dbca61ca7b_2_16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g3dbca61ca7b_2_16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ddcd2e682d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ddcd2e682d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df1ffb8b5d_0_4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df1ffb8b5d_0_4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df1ffb8b5d_0_4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df1ffb8b5d_0_4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dd971e288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dd971e288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df1ffb8b5d_0_0: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g3df1ffb8b5d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 type="tx">
  <p:cSld name="TITLE_AND_BODY">
    <p:spTree>
      <p:nvGrpSpPr>
        <p:cNvPr id="7" name="Shape 7"/>
        <p:cNvGrpSpPr/>
        <p:nvPr/>
      </p:nvGrpSpPr>
      <p:grpSpPr>
        <a:xfrm>
          <a:off x="0" y="0"/>
          <a:ext cx="0" cy="0"/>
          <a:chOff x="0" y="0"/>
          <a:chExt cx="0" cy="0"/>
        </a:xfrm>
      </p:grpSpPr>
      <p:sp>
        <p:nvSpPr>
          <p:cNvPr id="8" name="Google Shape;8;p3"/>
          <p:cNvSpPr txBox="1"/>
          <p:nvPr>
            <p:ph type="title"/>
          </p:nvPr>
        </p:nvSpPr>
        <p:spPr>
          <a:xfrm>
            <a:off x="311699" y="216424"/>
            <a:ext cx="8520600" cy="572700"/>
          </a:xfrm>
          <a:prstGeom prst="rect">
            <a:avLst/>
          </a:prstGeom>
          <a:noFill/>
          <a:ln>
            <a:noFill/>
          </a:ln>
        </p:spPr>
        <p:txBody>
          <a:bodyPr anchorCtr="0" anchor="t" bIns="91400" lIns="91400" spcFirstLastPara="1" rIns="91400" wrap="square" tIns="91400">
            <a:normAutofit/>
          </a:bodyPr>
          <a:lstStyle>
            <a:lvl1pPr lvl="0" algn="ctr">
              <a:lnSpc>
                <a:spcPct val="100000"/>
              </a:lnSpc>
              <a:spcBef>
                <a:spcPts val="0"/>
              </a:spcBef>
              <a:spcAft>
                <a:spcPts val="0"/>
              </a:spcAft>
              <a:buClr>
                <a:srgbClr val="000000"/>
              </a:buClr>
              <a:buSzPts val="1800"/>
              <a:buChar char="●"/>
              <a:defRPr/>
            </a:lvl1pPr>
            <a:lvl2pPr lvl="1" algn="ctr">
              <a:lnSpc>
                <a:spcPct val="100000"/>
              </a:lnSpc>
              <a:spcBef>
                <a:spcPts val="0"/>
              </a:spcBef>
              <a:spcAft>
                <a:spcPts val="0"/>
              </a:spcAft>
              <a:buClr>
                <a:srgbClr val="000000"/>
              </a:buClr>
              <a:buSzPts val="1800"/>
              <a:buChar char="○"/>
              <a:defRPr/>
            </a:lvl2pPr>
            <a:lvl3pPr lvl="2" algn="ctr">
              <a:lnSpc>
                <a:spcPct val="100000"/>
              </a:lnSpc>
              <a:spcBef>
                <a:spcPts val="0"/>
              </a:spcBef>
              <a:spcAft>
                <a:spcPts val="0"/>
              </a:spcAft>
              <a:buClr>
                <a:srgbClr val="000000"/>
              </a:buClr>
              <a:buSzPts val="1800"/>
              <a:buChar char="■"/>
              <a:defRPr/>
            </a:lvl3pPr>
            <a:lvl4pPr lvl="3" algn="ctr">
              <a:lnSpc>
                <a:spcPct val="100000"/>
              </a:lnSpc>
              <a:spcBef>
                <a:spcPts val="0"/>
              </a:spcBef>
              <a:spcAft>
                <a:spcPts val="0"/>
              </a:spcAft>
              <a:buClr>
                <a:srgbClr val="000000"/>
              </a:buClr>
              <a:buSzPts val="1800"/>
              <a:buChar char="●"/>
              <a:defRPr/>
            </a:lvl4pPr>
            <a:lvl5pPr lvl="4" algn="ctr">
              <a:lnSpc>
                <a:spcPct val="100000"/>
              </a:lnSpc>
              <a:spcBef>
                <a:spcPts val="0"/>
              </a:spcBef>
              <a:spcAft>
                <a:spcPts val="0"/>
              </a:spcAft>
              <a:buClr>
                <a:srgbClr val="000000"/>
              </a:buClr>
              <a:buSzPts val="1800"/>
              <a:buChar char="○"/>
              <a:defRPr/>
            </a:lvl5pPr>
            <a:lvl6pPr lvl="5" algn="ctr">
              <a:lnSpc>
                <a:spcPct val="100000"/>
              </a:lnSpc>
              <a:spcBef>
                <a:spcPts val="0"/>
              </a:spcBef>
              <a:spcAft>
                <a:spcPts val="0"/>
              </a:spcAft>
              <a:buClr>
                <a:srgbClr val="000000"/>
              </a:buClr>
              <a:buSzPts val="1800"/>
              <a:buChar char="■"/>
              <a:defRPr/>
            </a:lvl6pPr>
            <a:lvl7pPr lvl="6" algn="ctr">
              <a:lnSpc>
                <a:spcPct val="100000"/>
              </a:lnSpc>
              <a:spcBef>
                <a:spcPts val="0"/>
              </a:spcBef>
              <a:spcAft>
                <a:spcPts val="0"/>
              </a:spcAft>
              <a:buClr>
                <a:srgbClr val="000000"/>
              </a:buClr>
              <a:buSzPts val="1800"/>
              <a:buChar char="●"/>
              <a:defRPr/>
            </a:lvl7pPr>
            <a:lvl8pPr lvl="7" algn="ctr">
              <a:lnSpc>
                <a:spcPct val="100000"/>
              </a:lnSpc>
              <a:spcBef>
                <a:spcPts val="0"/>
              </a:spcBef>
              <a:spcAft>
                <a:spcPts val="0"/>
              </a:spcAft>
              <a:buClr>
                <a:srgbClr val="000000"/>
              </a:buClr>
              <a:buSzPts val="1800"/>
              <a:buChar char="○"/>
              <a:defRPr/>
            </a:lvl8pPr>
            <a:lvl9pPr lvl="8" algn="ctr">
              <a:lnSpc>
                <a:spcPct val="100000"/>
              </a:lnSpc>
              <a:spcBef>
                <a:spcPts val="0"/>
              </a:spcBef>
              <a:spcAft>
                <a:spcPts val="0"/>
              </a:spcAft>
              <a:buClr>
                <a:srgbClr val="000000"/>
              </a:buClr>
              <a:buSzPts val="1800"/>
              <a:buChar char="■"/>
              <a:defRPr/>
            </a:lvl9pPr>
          </a:lstStyle>
          <a:p/>
        </p:txBody>
      </p:sp>
      <p:sp>
        <p:nvSpPr>
          <p:cNvPr id="9" name="Google Shape;9;p3"/>
          <p:cNvSpPr txBox="1"/>
          <p:nvPr>
            <p:ph idx="1" type="body"/>
          </p:nvPr>
        </p:nvSpPr>
        <p:spPr>
          <a:xfrm>
            <a:off x="311699" y="923875"/>
            <a:ext cx="8520600" cy="3416400"/>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0" name="Google Shape;10;p3"/>
          <p:cNvSpPr txBox="1"/>
          <p:nvPr>
            <p:ph idx="12" type="sldNum"/>
          </p:nvPr>
        </p:nvSpPr>
        <p:spPr>
          <a:xfrm>
            <a:off x="8684345" y="4692391"/>
            <a:ext cx="336900" cy="335400"/>
          </a:xfrm>
          <a:prstGeom prst="rect">
            <a:avLst/>
          </a:prstGeom>
          <a:noFill/>
          <a:ln>
            <a:noFill/>
          </a:ln>
        </p:spPr>
        <p:txBody>
          <a:bodyPr anchorCtr="0" anchor="ctr" bIns="91400" lIns="91400" spcFirstLastPara="1" rIns="91400" wrap="square" tIns="91400">
            <a:normAutofit/>
          </a:bodyPr>
          <a:lstStyle>
            <a:lvl1pPr indent="0" lvl="0" marL="0" algn="r">
              <a:lnSpc>
                <a:spcPct val="100000"/>
              </a:lnSpc>
              <a:spcBef>
                <a:spcPts val="0"/>
              </a:spcBef>
              <a:spcAft>
                <a:spcPts val="0"/>
              </a:spcAft>
              <a:buClr>
                <a:srgbClr val="585858"/>
              </a:buClr>
              <a:buSzPts val="1000"/>
              <a:buFont typeface="Lexend"/>
              <a:buNone/>
              <a:defRPr sz="1000">
                <a:solidFill>
                  <a:srgbClr val="585858"/>
                </a:solidFill>
                <a:latin typeface="Lexend"/>
                <a:ea typeface="Lexend"/>
                <a:cs typeface="Lexend"/>
                <a:sym typeface="Lexend"/>
              </a:defRPr>
            </a:lvl1pPr>
            <a:lvl2pPr indent="0" lvl="1" marL="0" algn="r">
              <a:lnSpc>
                <a:spcPct val="100000"/>
              </a:lnSpc>
              <a:spcBef>
                <a:spcPts val="0"/>
              </a:spcBef>
              <a:spcAft>
                <a:spcPts val="0"/>
              </a:spcAft>
              <a:buClr>
                <a:srgbClr val="585858"/>
              </a:buClr>
              <a:buSzPts val="1000"/>
              <a:buFont typeface="Lexend"/>
              <a:buNone/>
              <a:defRPr sz="1000">
                <a:solidFill>
                  <a:srgbClr val="585858"/>
                </a:solidFill>
                <a:latin typeface="Lexend"/>
                <a:ea typeface="Lexend"/>
                <a:cs typeface="Lexend"/>
                <a:sym typeface="Lexend"/>
              </a:defRPr>
            </a:lvl2pPr>
            <a:lvl3pPr indent="0" lvl="2" marL="0" algn="r">
              <a:lnSpc>
                <a:spcPct val="100000"/>
              </a:lnSpc>
              <a:spcBef>
                <a:spcPts val="0"/>
              </a:spcBef>
              <a:spcAft>
                <a:spcPts val="0"/>
              </a:spcAft>
              <a:buClr>
                <a:srgbClr val="585858"/>
              </a:buClr>
              <a:buSzPts val="1000"/>
              <a:buFont typeface="Lexend"/>
              <a:buNone/>
              <a:defRPr sz="1000">
                <a:solidFill>
                  <a:srgbClr val="585858"/>
                </a:solidFill>
                <a:latin typeface="Lexend"/>
                <a:ea typeface="Lexend"/>
                <a:cs typeface="Lexend"/>
                <a:sym typeface="Lexend"/>
              </a:defRPr>
            </a:lvl3pPr>
            <a:lvl4pPr indent="0" lvl="3" marL="0" algn="r">
              <a:lnSpc>
                <a:spcPct val="100000"/>
              </a:lnSpc>
              <a:spcBef>
                <a:spcPts val="0"/>
              </a:spcBef>
              <a:spcAft>
                <a:spcPts val="0"/>
              </a:spcAft>
              <a:buClr>
                <a:srgbClr val="585858"/>
              </a:buClr>
              <a:buSzPts val="1000"/>
              <a:buFont typeface="Lexend"/>
              <a:buNone/>
              <a:defRPr sz="1000">
                <a:solidFill>
                  <a:srgbClr val="585858"/>
                </a:solidFill>
                <a:latin typeface="Lexend"/>
                <a:ea typeface="Lexend"/>
                <a:cs typeface="Lexend"/>
                <a:sym typeface="Lexend"/>
              </a:defRPr>
            </a:lvl4pPr>
            <a:lvl5pPr indent="0" lvl="4" marL="0" algn="r">
              <a:lnSpc>
                <a:spcPct val="100000"/>
              </a:lnSpc>
              <a:spcBef>
                <a:spcPts val="0"/>
              </a:spcBef>
              <a:spcAft>
                <a:spcPts val="0"/>
              </a:spcAft>
              <a:buClr>
                <a:srgbClr val="585858"/>
              </a:buClr>
              <a:buSzPts val="1000"/>
              <a:buFont typeface="Lexend"/>
              <a:buNone/>
              <a:defRPr sz="1000">
                <a:solidFill>
                  <a:srgbClr val="585858"/>
                </a:solidFill>
                <a:latin typeface="Lexend"/>
                <a:ea typeface="Lexend"/>
                <a:cs typeface="Lexend"/>
                <a:sym typeface="Lexend"/>
              </a:defRPr>
            </a:lvl5pPr>
            <a:lvl6pPr indent="0" lvl="5" marL="0" algn="r">
              <a:lnSpc>
                <a:spcPct val="100000"/>
              </a:lnSpc>
              <a:spcBef>
                <a:spcPts val="0"/>
              </a:spcBef>
              <a:spcAft>
                <a:spcPts val="0"/>
              </a:spcAft>
              <a:buClr>
                <a:srgbClr val="585858"/>
              </a:buClr>
              <a:buSzPts val="1000"/>
              <a:buFont typeface="Lexend"/>
              <a:buNone/>
              <a:defRPr sz="1000">
                <a:solidFill>
                  <a:srgbClr val="585858"/>
                </a:solidFill>
                <a:latin typeface="Lexend"/>
                <a:ea typeface="Lexend"/>
                <a:cs typeface="Lexend"/>
                <a:sym typeface="Lexend"/>
              </a:defRPr>
            </a:lvl6pPr>
            <a:lvl7pPr indent="0" lvl="6" marL="0" algn="r">
              <a:lnSpc>
                <a:spcPct val="100000"/>
              </a:lnSpc>
              <a:spcBef>
                <a:spcPts val="0"/>
              </a:spcBef>
              <a:spcAft>
                <a:spcPts val="0"/>
              </a:spcAft>
              <a:buClr>
                <a:srgbClr val="585858"/>
              </a:buClr>
              <a:buSzPts val="1000"/>
              <a:buFont typeface="Lexend"/>
              <a:buNone/>
              <a:defRPr sz="1000">
                <a:solidFill>
                  <a:srgbClr val="585858"/>
                </a:solidFill>
                <a:latin typeface="Lexend"/>
                <a:ea typeface="Lexend"/>
                <a:cs typeface="Lexend"/>
                <a:sym typeface="Lexend"/>
              </a:defRPr>
            </a:lvl7pPr>
            <a:lvl8pPr indent="0" lvl="7" marL="0" algn="r">
              <a:lnSpc>
                <a:spcPct val="100000"/>
              </a:lnSpc>
              <a:spcBef>
                <a:spcPts val="0"/>
              </a:spcBef>
              <a:spcAft>
                <a:spcPts val="0"/>
              </a:spcAft>
              <a:buClr>
                <a:srgbClr val="585858"/>
              </a:buClr>
              <a:buSzPts val="1000"/>
              <a:buFont typeface="Lexend"/>
              <a:buNone/>
              <a:defRPr sz="1000">
                <a:solidFill>
                  <a:srgbClr val="585858"/>
                </a:solidFill>
                <a:latin typeface="Lexend"/>
                <a:ea typeface="Lexend"/>
                <a:cs typeface="Lexend"/>
                <a:sym typeface="Lexend"/>
              </a:defRPr>
            </a:lvl8pPr>
            <a:lvl9pPr indent="0" lvl="8" marL="0" algn="r">
              <a:lnSpc>
                <a:spcPct val="100000"/>
              </a:lnSpc>
              <a:spcBef>
                <a:spcPts val="0"/>
              </a:spcBef>
              <a:spcAft>
                <a:spcPts val="0"/>
              </a:spcAft>
              <a:buClr>
                <a:srgbClr val="585858"/>
              </a:buClr>
              <a:buSzPts val="1000"/>
              <a:buFont typeface="Lexend"/>
              <a:buNone/>
              <a:defRPr sz="1000">
                <a:solidFill>
                  <a:srgbClr val="585858"/>
                </a:solidFill>
                <a:latin typeface="Lexend"/>
                <a:ea typeface="Lexend"/>
                <a:cs typeface="Lexend"/>
                <a:sym typeface="Lexend"/>
              </a:defRPr>
            </a:lvl9pPr>
          </a:lstStyle>
          <a:p>
            <a:pPr indent="0" lvl="0" marL="0" rtl="0" algn="r">
              <a:spcBef>
                <a:spcPts val="0"/>
              </a:spcBef>
              <a:spcAft>
                <a:spcPts val="0"/>
              </a:spcAft>
              <a:buNone/>
            </a:pPr>
            <a:fld id="{00000000-1234-1234-1234-123412341234}" type="slidenum">
              <a:rPr lang="en"/>
              <a:t>‹#›</a:t>
            </a:fld>
            <a:endParaRPr sz="1400">
              <a:solidFill>
                <a:srgbClr val="000000"/>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github.com/candylyt/vllm-omni" TargetMode="External"/><Relationship Id="rId4" Type="http://schemas.openxmlformats.org/officeDocument/2006/relationships/hyperlink" Target="https://wandb.ai/ac5905-columbia-university/hpml-final-project/runs/xfa9dt56?nw=nwuserac5905"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14.png"/><Relationship Id="rId5"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www.youtube.com/watch?v=N2BfkAF7an0" TargetMode="External"/><Relationship Id="rId4" Type="http://schemas.openxmlformats.org/officeDocument/2006/relationships/image" Target="../media/image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github.com/candylyt/vllm-omni" TargetMode="External"/><Relationship Id="rId4" Type="http://schemas.openxmlformats.org/officeDocument/2006/relationships/hyperlink" Target="https://wandb.ai/ac5905-columbia-university/hpml-final-project/runs/xfa9dt56?nw=nwuserac5905"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2.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9.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1F26"/>
        </a:solidFill>
      </p:bgPr>
    </p:bg>
    <p:spTree>
      <p:nvGrpSpPr>
        <p:cNvPr id="15" name="Shape 15"/>
        <p:cNvGrpSpPr/>
        <p:nvPr/>
      </p:nvGrpSpPr>
      <p:grpSpPr>
        <a:xfrm>
          <a:off x="0" y="0"/>
          <a:ext cx="0" cy="0"/>
          <a:chOff x="0" y="0"/>
          <a:chExt cx="0" cy="0"/>
        </a:xfrm>
      </p:grpSpPr>
      <p:sp>
        <p:nvSpPr>
          <p:cNvPr id="16" name="Google Shape;16;p4"/>
          <p:cNvSpPr/>
          <p:nvPr/>
        </p:nvSpPr>
        <p:spPr>
          <a:xfrm>
            <a:off x="411480" y="411480"/>
            <a:ext cx="822960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CC4"/>
              </a:buClr>
              <a:buSzPts val="900"/>
              <a:buFont typeface="Calibri"/>
              <a:buNone/>
            </a:pPr>
            <a:r>
              <a:rPr b="0" i="0" lang="en" sz="900" u="none" cap="none" strike="noStrike">
                <a:solidFill>
                  <a:srgbClr val="B8BCC4"/>
                </a:solidFill>
                <a:latin typeface="Calibri"/>
                <a:ea typeface="Calibri"/>
                <a:cs typeface="Calibri"/>
                <a:sym typeface="Calibri"/>
              </a:rPr>
              <a:t>HPML Final Project  ·  Spring 2026</a:t>
            </a:r>
            <a:endParaRPr b="0" i="0" sz="900" u="none" cap="none" strike="noStrike">
              <a:solidFill>
                <a:schemeClr val="dk1"/>
              </a:solidFill>
              <a:latin typeface="Calibri"/>
              <a:ea typeface="Calibri"/>
              <a:cs typeface="Calibri"/>
              <a:sym typeface="Calibri"/>
            </a:endParaRPr>
          </a:p>
        </p:txBody>
      </p:sp>
      <p:sp>
        <p:nvSpPr>
          <p:cNvPr id="17" name="Google Shape;17;p4"/>
          <p:cNvSpPr/>
          <p:nvPr/>
        </p:nvSpPr>
        <p:spPr>
          <a:xfrm>
            <a:off x="411480" y="1508760"/>
            <a:ext cx="822960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100"/>
              <a:buFont typeface="Calibri"/>
              <a:buNone/>
            </a:pPr>
            <a:r>
              <a:rPr b="1" lang="en" sz="4100">
                <a:solidFill>
                  <a:srgbClr val="FFFFFF"/>
                </a:solidFill>
                <a:latin typeface="Calibri"/>
                <a:ea typeface="Calibri"/>
                <a:cs typeface="Calibri"/>
                <a:sym typeface="Calibri"/>
              </a:rPr>
              <a:t>Moss-TTS Integration for vLLM-Omni</a:t>
            </a:r>
            <a:endParaRPr b="0" i="0" sz="4100" u="none" cap="none" strike="noStrike">
              <a:solidFill>
                <a:schemeClr val="dk1"/>
              </a:solidFill>
              <a:latin typeface="Calibri"/>
              <a:ea typeface="Calibri"/>
              <a:cs typeface="Calibri"/>
              <a:sym typeface="Calibri"/>
            </a:endParaRPr>
          </a:p>
        </p:txBody>
      </p:sp>
      <p:sp>
        <p:nvSpPr>
          <p:cNvPr id="18" name="Google Shape;18;p4"/>
          <p:cNvSpPr/>
          <p:nvPr/>
        </p:nvSpPr>
        <p:spPr>
          <a:xfrm>
            <a:off x="411480" y="2537460"/>
            <a:ext cx="8229600"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CC4"/>
              </a:buClr>
              <a:buSzPts val="1500"/>
              <a:buFont typeface="Calibri"/>
              <a:buNone/>
            </a:pPr>
            <a:r>
              <a:rPr i="1" lang="en" sz="1500">
                <a:solidFill>
                  <a:srgbClr val="B8BCC4"/>
                </a:solidFill>
                <a:latin typeface="Calibri"/>
                <a:ea typeface="Calibri"/>
                <a:cs typeface="Calibri"/>
                <a:sym typeface="Calibri"/>
              </a:rPr>
              <a:t>Achieved DOUBLED tput and SIGNIFICANT improvement on FCL in the latest MOSS-TTS models</a:t>
            </a:r>
            <a:endParaRPr b="0" i="0" sz="1500" u="none" cap="none" strike="noStrike">
              <a:solidFill>
                <a:schemeClr val="dk1"/>
              </a:solidFill>
              <a:latin typeface="Calibri"/>
              <a:ea typeface="Calibri"/>
              <a:cs typeface="Calibri"/>
              <a:sym typeface="Calibri"/>
            </a:endParaRPr>
          </a:p>
        </p:txBody>
      </p:sp>
      <p:sp>
        <p:nvSpPr>
          <p:cNvPr id="19" name="Google Shape;19;p4"/>
          <p:cNvSpPr/>
          <p:nvPr/>
        </p:nvSpPr>
        <p:spPr>
          <a:xfrm>
            <a:off x="411480" y="3429000"/>
            <a:ext cx="411480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 sz="1200">
                <a:solidFill>
                  <a:srgbClr val="FFFFFF"/>
                </a:solidFill>
                <a:latin typeface="Calibri"/>
                <a:ea typeface="Calibri"/>
                <a:cs typeface="Calibri"/>
                <a:sym typeface="Calibri"/>
              </a:rPr>
              <a:t>Omnipresent</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8CCD2"/>
              </a:buClr>
              <a:buSzPts val="1000"/>
              <a:buFont typeface="Calibri"/>
              <a:buNone/>
            </a:pPr>
            <a:r>
              <a:rPr lang="en" sz="1000">
                <a:solidFill>
                  <a:srgbClr val="C8CCD2"/>
                </a:solidFill>
                <a:latin typeface="Calibri"/>
                <a:ea typeface="Calibri"/>
                <a:cs typeface="Calibri"/>
                <a:sym typeface="Calibri"/>
              </a:rPr>
              <a:t>Andrew Chung</a:t>
            </a:r>
            <a:r>
              <a:rPr b="0" i="0" lang="en" sz="1000" u="none" cap="none" strike="noStrike">
                <a:solidFill>
                  <a:srgbClr val="C8CCD2"/>
                </a:solidFill>
                <a:latin typeface="Calibri"/>
                <a:ea typeface="Calibri"/>
                <a:cs typeface="Calibri"/>
                <a:sym typeface="Calibri"/>
              </a:rPr>
              <a:t> · </a:t>
            </a:r>
            <a:r>
              <a:rPr lang="en" sz="1000">
                <a:solidFill>
                  <a:srgbClr val="C8CCD2"/>
                </a:solidFill>
                <a:latin typeface="Calibri"/>
                <a:ea typeface="Calibri"/>
                <a:cs typeface="Calibri"/>
                <a:sym typeface="Calibri"/>
              </a:rPr>
              <a:t>ac5905</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8CCD2"/>
              </a:buClr>
              <a:buSzPts val="1000"/>
              <a:buFont typeface="Calibri"/>
              <a:buNone/>
            </a:pPr>
            <a:r>
              <a:rPr lang="en" sz="1000">
                <a:solidFill>
                  <a:srgbClr val="C8CCD2"/>
                </a:solidFill>
                <a:latin typeface="Calibri"/>
                <a:ea typeface="Calibri"/>
                <a:cs typeface="Calibri"/>
                <a:sym typeface="Calibri"/>
              </a:rPr>
              <a:t>Yuting Liu</a:t>
            </a:r>
            <a:r>
              <a:rPr b="0" i="0" lang="en" sz="1000" u="none" cap="none" strike="noStrike">
                <a:solidFill>
                  <a:srgbClr val="C8CCD2"/>
                </a:solidFill>
                <a:latin typeface="Calibri"/>
                <a:ea typeface="Calibri"/>
                <a:cs typeface="Calibri"/>
                <a:sym typeface="Calibri"/>
              </a:rPr>
              <a:t> · </a:t>
            </a:r>
            <a:r>
              <a:rPr lang="en" sz="1000">
                <a:solidFill>
                  <a:srgbClr val="C8CCD2"/>
                </a:solidFill>
                <a:latin typeface="Calibri"/>
                <a:ea typeface="Calibri"/>
                <a:cs typeface="Calibri"/>
                <a:sym typeface="Calibri"/>
              </a:rPr>
              <a:t>yl5961</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8CCD2"/>
              </a:buClr>
              <a:buSzPts val="1000"/>
              <a:buFont typeface="Calibri"/>
              <a:buNone/>
            </a:pPr>
            <a:r>
              <a:rPr lang="en" sz="1000">
                <a:solidFill>
                  <a:srgbClr val="C8CCD2"/>
                </a:solidFill>
                <a:latin typeface="Calibri"/>
                <a:ea typeface="Calibri"/>
                <a:cs typeface="Calibri"/>
                <a:sym typeface="Calibri"/>
              </a:rPr>
              <a:t>Xingru Lu</a:t>
            </a:r>
            <a:r>
              <a:rPr b="0" i="0" lang="en" sz="1000" u="none" cap="none" strike="noStrike">
                <a:solidFill>
                  <a:srgbClr val="C8CCD2"/>
                </a:solidFill>
                <a:latin typeface="Calibri"/>
                <a:ea typeface="Calibri"/>
                <a:cs typeface="Calibri"/>
                <a:sym typeface="Calibri"/>
              </a:rPr>
              <a:t> · </a:t>
            </a:r>
            <a:r>
              <a:rPr lang="en" sz="1000">
                <a:solidFill>
                  <a:srgbClr val="C8CCD2"/>
                </a:solidFill>
                <a:latin typeface="Calibri"/>
                <a:ea typeface="Calibri"/>
                <a:cs typeface="Calibri"/>
                <a:sym typeface="Calibri"/>
              </a:rPr>
              <a:t>xl3602</a:t>
            </a:r>
            <a:endParaRPr sz="1000">
              <a:solidFill>
                <a:srgbClr val="C8CCD2"/>
              </a:solidFill>
              <a:latin typeface="Calibri"/>
              <a:ea typeface="Calibri"/>
              <a:cs typeface="Calibri"/>
              <a:sym typeface="Calibri"/>
            </a:endParaRPr>
          </a:p>
          <a:p>
            <a:pPr indent="0" lvl="0" marL="0" marR="0" rtl="0" algn="l">
              <a:spcBef>
                <a:spcPts val="0"/>
              </a:spcBef>
              <a:spcAft>
                <a:spcPts val="0"/>
              </a:spcAft>
              <a:buClr>
                <a:srgbClr val="C8CCD2"/>
              </a:buClr>
              <a:buSzPts val="1000"/>
              <a:buFont typeface="Calibri"/>
              <a:buNone/>
            </a:pPr>
            <a:r>
              <a:rPr lang="en" sz="1000">
                <a:solidFill>
                  <a:srgbClr val="C8CCD2"/>
                </a:solidFill>
                <a:latin typeface="Calibri"/>
                <a:ea typeface="Calibri"/>
                <a:cs typeface="Calibri"/>
                <a:sym typeface="Calibri"/>
              </a:rPr>
              <a:t>Yutao Mao</a:t>
            </a:r>
            <a:r>
              <a:rPr b="0" i="0" lang="en" sz="1000" u="none" cap="none" strike="noStrike">
                <a:solidFill>
                  <a:srgbClr val="C8CCD2"/>
                </a:solidFill>
                <a:latin typeface="Calibri"/>
                <a:ea typeface="Calibri"/>
                <a:cs typeface="Calibri"/>
                <a:sym typeface="Calibri"/>
              </a:rPr>
              <a:t> · </a:t>
            </a:r>
            <a:r>
              <a:rPr lang="en" sz="1000">
                <a:solidFill>
                  <a:srgbClr val="C8CCD2"/>
                </a:solidFill>
                <a:latin typeface="Calibri"/>
                <a:ea typeface="Calibri"/>
                <a:cs typeface="Calibri"/>
                <a:sym typeface="Calibri"/>
              </a:rPr>
              <a:t>ym3019</a:t>
            </a:r>
            <a:endParaRPr b="0" i="0" sz="1200" u="none" cap="none" strike="noStrike">
              <a:solidFill>
                <a:schemeClr val="dk1"/>
              </a:solidFill>
              <a:latin typeface="Calibri"/>
              <a:ea typeface="Calibri"/>
              <a:cs typeface="Calibri"/>
              <a:sym typeface="Calibri"/>
            </a:endParaRPr>
          </a:p>
        </p:txBody>
      </p:sp>
      <p:sp>
        <p:nvSpPr>
          <p:cNvPr id="20" name="Google Shape;20;p4"/>
          <p:cNvSpPr/>
          <p:nvPr/>
        </p:nvSpPr>
        <p:spPr>
          <a:xfrm>
            <a:off x="4800600" y="3429000"/>
            <a:ext cx="411480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0" i="0" lang="en" sz="1000" u="none" cap="none" strike="noStrike">
                <a:solidFill>
                  <a:schemeClr val="lt1"/>
                </a:solidFill>
                <a:latin typeface="Calibri"/>
                <a:ea typeface="Calibri"/>
                <a:cs typeface="Calibri"/>
                <a:sym typeface="Calibri"/>
              </a:rPr>
              <a:t>GitHub:  </a:t>
            </a:r>
            <a:r>
              <a:rPr lang="en" sz="1000" u="sng">
                <a:solidFill>
                  <a:schemeClr val="lt1"/>
                </a:solidFill>
                <a:latin typeface="Calibri"/>
                <a:ea typeface="Calibri"/>
                <a:cs typeface="Calibri"/>
                <a:sym typeface="Calibri"/>
                <a:hlinkClick r:id="rId3">
                  <a:extLst>
                    <a:ext uri="{A12FA001-AC4F-418D-AE19-62706E023703}">
                      <ahyp:hlinkClr val="tx"/>
                    </a:ext>
                  </a:extLst>
                </a:hlinkClick>
              </a:rPr>
              <a:t>https://github.com/candylyt/vllm-omni</a:t>
            </a:r>
            <a:endParaRPr sz="1000">
              <a:solidFill>
                <a:schemeClr val="lt1"/>
              </a:solidFill>
              <a:latin typeface="Calibri"/>
              <a:ea typeface="Calibri"/>
              <a:cs typeface="Calibri"/>
              <a:sym typeface="Calibri"/>
            </a:endParaRPr>
          </a:p>
          <a:p>
            <a:pPr indent="0" lvl="0" marL="0" marR="0" rtl="0" algn="l">
              <a:spcBef>
                <a:spcPts val="0"/>
              </a:spcBef>
              <a:spcAft>
                <a:spcPts val="0"/>
              </a:spcAft>
              <a:buClr>
                <a:srgbClr val="FFFFFF"/>
              </a:buClr>
              <a:buSzPts val="1000"/>
              <a:buFont typeface="Calibri"/>
              <a:buNone/>
            </a:pPr>
            <a:r>
              <a:rPr b="0" i="0" lang="en" sz="1000" u="none" cap="none" strike="noStrike">
                <a:solidFill>
                  <a:schemeClr val="lt1"/>
                </a:solidFill>
                <a:latin typeface="Calibri"/>
                <a:ea typeface="Calibri"/>
                <a:cs typeface="Calibri"/>
                <a:sym typeface="Calibri"/>
              </a:rPr>
              <a:t>Tracking: </a:t>
            </a:r>
            <a:r>
              <a:rPr lang="en" sz="1000" u="sng">
                <a:solidFill>
                  <a:schemeClr val="lt1"/>
                </a:solidFill>
                <a:latin typeface="Calibri"/>
                <a:ea typeface="Calibri"/>
                <a:cs typeface="Calibri"/>
                <a:sym typeface="Calibri"/>
                <a:hlinkClick r:id="rId4">
                  <a:extLst>
                    <a:ext uri="{A12FA001-AC4F-418D-AE19-62706E023703}">
                      <ahyp:hlinkClr val="tx"/>
                    </a:ext>
                  </a:extLst>
                </a:hlinkClick>
              </a:rPr>
              <a:t>https://wandb.ai/ac5905-columbia-university/hpml-final-project/runs/xfa9dt56?nw=nwuserac5905</a:t>
            </a:r>
            <a:endParaRPr sz="1000">
              <a:solidFill>
                <a:schemeClr val="lt1"/>
              </a:solidFill>
              <a:latin typeface="Calibri"/>
              <a:ea typeface="Calibri"/>
              <a:cs typeface="Calibri"/>
              <a:sym typeface="Calibri"/>
            </a:endParaRPr>
          </a:p>
          <a:p>
            <a:pPr indent="0" lvl="0" marL="0" marR="0" rtl="0" algn="l">
              <a:spcBef>
                <a:spcPts val="0"/>
              </a:spcBef>
              <a:spcAft>
                <a:spcPts val="0"/>
              </a:spcAft>
              <a:buClr>
                <a:srgbClr val="FFFFFF"/>
              </a:buClr>
              <a:buSzPts val="1000"/>
              <a:buFont typeface="Calibri"/>
              <a:buNone/>
            </a:pPr>
            <a:r>
              <a:t/>
            </a:r>
            <a:endParaRPr sz="1000">
              <a:solidFill>
                <a:srgbClr val="FFFFFF"/>
              </a:solidFill>
              <a:latin typeface="Calibri"/>
              <a:ea typeface="Calibri"/>
              <a:cs typeface="Calibri"/>
              <a:sym typeface="Calibri"/>
            </a:endParaRPr>
          </a:p>
        </p:txBody>
      </p:sp>
      <p:sp>
        <p:nvSpPr>
          <p:cNvPr id="21" name="Google Shape;21;p4"/>
          <p:cNvSpPr/>
          <p:nvPr/>
        </p:nvSpPr>
        <p:spPr>
          <a:xfrm>
            <a:off x="411480" y="4800600"/>
            <a:ext cx="82296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E939A"/>
              </a:buClr>
              <a:buSzPts val="800"/>
              <a:buFont typeface="Calibri"/>
              <a:buNone/>
            </a:pPr>
            <a:r>
              <a:rPr b="0" i="1" lang="en" sz="800" u="none" cap="none" strike="noStrike">
                <a:solidFill>
                  <a:srgbClr val="8E939A"/>
                </a:solidFill>
                <a:latin typeface="Calibri"/>
                <a:ea typeface="Calibri"/>
                <a:cs typeface="Calibri"/>
                <a:sym typeface="Calibri"/>
              </a:rPr>
              <a:t>Dr. Kaoutar El Maghraoui  ·  Columbia University  ·  Week of May 4, 2026</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 name="Shape 26"/>
        <p:cNvGrpSpPr/>
        <p:nvPr/>
      </p:nvGrpSpPr>
      <p:grpSpPr>
        <a:xfrm>
          <a:off x="0" y="0"/>
          <a:ext cx="0" cy="0"/>
          <a:chOff x="0" y="0"/>
          <a:chExt cx="0" cy="0"/>
        </a:xfrm>
      </p:grpSpPr>
      <p:sp>
        <p:nvSpPr>
          <p:cNvPr id="27" name="Google Shape;27;p5"/>
          <p:cNvSpPr/>
          <p:nvPr/>
        </p:nvSpPr>
        <p:spPr>
          <a:xfrm>
            <a:off x="342900" y="377190"/>
            <a:ext cx="8455914"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400"/>
              <a:buFont typeface="Calibri"/>
              <a:buNone/>
            </a:pPr>
            <a:r>
              <a:rPr b="1" i="0" lang="en" sz="2400" u="none" cap="none" strike="noStrike">
                <a:solidFill>
                  <a:srgbClr val="1A1A1A"/>
                </a:solidFill>
                <a:latin typeface="Calibri"/>
                <a:ea typeface="Calibri"/>
                <a:cs typeface="Calibri"/>
                <a:sym typeface="Calibri"/>
              </a:rPr>
              <a:t>Motivation &amp; Problem</a:t>
            </a:r>
            <a:endParaRPr b="0" i="0" sz="2400" u="none" cap="none" strike="noStrike">
              <a:solidFill>
                <a:schemeClr val="dk1"/>
              </a:solidFill>
              <a:latin typeface="Calibri"/>
              <a:ea typeface="Calibri"/>
              <a:cs typeface="Calibri"/>
              <a:sym typeface="Calibri"/>
            </a:endParaRPr>
          </a:p>
        </p:txBody>
      </p:sp>
      <p:cxnSp>
        <p:nvCxnSpPr>
          <p:cNvPr id="28" name="Google Shape;28;p5"/>
          <p:cNvCxnSpPr/>
          <p:nvPr/>
        </p:nvCxnSpPr>
        <p:spPr>
          <a:xfrm>
            <a:off x="342900" y="891540"/>
            <a:ext cx="8455914" cy="0"/>
          </a:xfrm>
          <a:prstGeom prst="straightConnector1">
            <a:avLst/>
          </a:prstGeom>
          <a:noFill/>
          <a:ln cap="flat" cmpd="sng" w="9525">
            <a:solidFill>
              <a:srgbClr val="D9D9D9"/>
            </a:solidFill>
            <a:prstDash val="solid"/>
            <a:round/>
            <a:headEnd len="sm" w="sm" type="none"/>
            <a:tailEnd len="sm" w="sm" type="none"/>
          </a:ln>
        </p:spPr>
      </p:cxnSp>
      <p:sp>
        <p:nvSpPr>
          <p:cNvPr id="29" name="Google Shape;29;p5"/>
          <p:cNvSpPr/>
          <p:nvPr/>
        </p:nvSpPr>
        <p:spPr>
          <a:xfrm>
            <a:off x="342900" y="994410"/>
            <a:ext cx="82296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800"/>
              <a:buFont typeface="Calibri"/>
              <a:buNone/>
            </a:pPr>
            <a:r>
              <a:rPr b="0" i="1" lang="en" sz="800" u="none" cap="none" strike="noStrike">
                <a:solidFill>
                  <a:srgbClr val="6B6F76"/>
                </a:solidFill>
                <a:latin typeface="Calibri"/>
                <a:ea typeface="Calibri"/>
                <a:cs typeface="Calibri"/>
                <a:sym typeface="Calibri"/>
              </a:rPr>
              <a:t>Time budget: 1 minute.</a:t>
            </a:r>
            <a:endParaRPr b="0" i="0" sz="800" u="none" cap="none" strike="noStrike">
              <a:solidFill>
                <a:schemeClr val="dk1"/>
              </a:solidFill>
              <a:latin typeface="Calibri"/>
              <a:ea typeface="Calibri"/>
              <a:cs typeface="Calibri"/>
              <a:sym typeface="Calibri"/>
            </a:endParaRPr>
          </a:p>
        </p:txBody>
      </p:sp>
      <p:sp>
        <p:nvSpPr>
          <p:cNvPr id="30" name="Google Shape;30;p5"/>
          <p:cNvSpPr/>
          <p:nvPr/>
        </p:nvSpPr>
        <p:spPr>
          <a:xfrm>
            <a:off x="342900" y="1371600"/>
            <a:ext cx="4114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200"/>
              <a:buFont typeface="Calibri"/>
              <a:buNone/>
            </a:pPr>
            <a:r>
              <a:rPr b="1" i="0" lang="en" sz="1600" u="none" cap="none" strike="noStrike">
                <a:solidFill>
                  <a:srgbClr val="1A1A1A"/>
                </a:solidFill>
                <a:latin typeface="Calibri"/>
                <a:ea typeface="Calibri"/>
                <a:cs typeface="Calibri"/>
                <a:sym typeface="Calibri"/>
              </a:rPr>
              <a:t>Why this matters</a:t>
            </a:r>
            <a:endParaRPr b="0" i="0" sz="1600" u="none" cap="none" strike="noStrike">
              <a:solidFill>
                <a:schemeClr val="dk1"/>
              </a:solidFill>
              <a:latin typeface="Calibri"/>
              <a:ea typeface="Calibri"/>
              <a:cs typeface="Calibri"/>
              <a:sym typeface="Calibri"/>
            </a:endParaRPr>
          </a:p>
        </p:txBody>
      </p:sp>
      <p:sp>
        <p:nvSpPr>
          <p:cNvPr id="31" name="Google Shape;31;p5"/>
          <p:cNvSpPr/>
          <p:nvPr/>
        </p:nvSpPr>
        <p:spPr>
          <a:xfrm>
            <a:off x="275025" y="1714500"/>
            <a:ext cx="4114800" cy="2743200"/>
          </a:xfrm>
          <a:prstGeom prst="rect">
            <a:avLst/>
          </a:prstGeom>
          <a:noFill/>
          <a:ln>
            <a:noFill/>
          </a:ln>
        </p:spPr>
        <p:txBody>
          <a:bodyPr anchorCtr="0" anchor="t" bIns="34275" lIns="68575" spcFirstLastPara="1" rIns="68575" wrap="square" tIns="34275">
            <a:noAutofit/>
          </a:bodyPr>
          <a:lstStyle/>
          <a:p>
            <a:pPr indent="-260350" lvl="0" marL="254000" marR="0" rtl="0" algn="l">
              <a:spcBef>
                <a:spcPts val="600"/>
              </a:spcBef>
              <a:spcAft>
                <a:spcPts val="0"/>
              </a:spcAft>
              <a:buClr>
                <a:srgbClr val="1A1A1A"/>
              </a:buClr>
              <a:buSzPts val="1300"/>
              <a:buFont typeface="Calibri"/>
              <a:buChar char="•"/>
            </a:pPr>
            <a:r>
              <a:rPr lang="en" sz="1300">
                <a:solidFill>
                  <a:srgbClr val="1A1A1A"/>
                </a:solidFill>
                <a:latin typeface="Calibri"/>
                <a:ea typeface="Calibri"/>
                <a:cs typeface="Calibri"/>
                <a:sym typeface="Calibri"/>
              </a:rPr>
              <a:t>Vllm and Vllm-Omni have become an integral part of the LLM and Multimodal LLM inference serving system</a:t>
            </a:r>
            <a:endParaRPr sz="1300">
              <a:solidFill>
                <a:srgbClr val="1A1A1A"/>
              </a:solidFill>
              <a:latin typeface="Calibri"/>
              <a:ea typeface="Calibri"/>
              <a:cs typeface="Calibri"/>
              <a:sym typeface="Calibri"/>
            </a:endParaRPr>
          </a:p>
          <a:p>
            <a:pPr indent="-260350" lvl="0" marL="254000" marR="0" rtl="0" algn="l">
              <a:spcBef>
                <a:spcPts val="600"/>
              </a:spcBef>
              <a:spcAft>
                <a:spcPts val="0"/>
              </a:spcAft>
              <a:buClr>
                <a:srgbClr val="1A1A1A"/>
              </a:buClr>
              <a:buSzPts val="1300"/>
              <a:buFont typeface="Calibri"/>
              <a:buChar char="•"/>
            </a:pPr>
            <a:r>
              <a:rPr lang="en" sz="1300">
                <a:solidFill>
                  <a:srgbClr val="1A1A1A"/>
                </a:solidFill>
                <a:latin typeface="Calibri"/>
                <a:ea typeface="Calibri"/>
                <a:cs typeface="Calibri"/>
                <a:sym typeface="Calibri"/>
              </a:rPr>
              <a:t>Vllm-Omni is a relatively new iteration of Vllm, specifically integrating multimodal models that have different architectures from standard LLM</a:t>
            </a:r>
            <a:endParaRPr sz="1300">
              <a:solidFill>
                <a:srgbClr val="1A1A1A"/>
              </a:solidFill>
              <a:latin typeface="Calibri"/>
              <a:ea typeface="Calibri"/>
              <a:cs typeface="Calibri"/>
              <a:sym typeface="Calibri"/>
            </a:endParaRPr>
          </a:p>
          <a:p>
            <a:pPr indent="-260350" lvl="0" marL="254000" marR="0" rtl="0" algn="l">
              <a:spcBef>
                <a:spcPts val="600"/>
              </a:spcBef>
              <a:spcAft>
                <a:spcPts val="0"/>
              </a:spcAft>
              <a:buClr>
                <a:srgbClr val="1A1A1A"/>
              </a:buClr>
              <a:buSzPts val="1300"/>
              <a:buFont typeface="Calibri"/>
              <a:buChar char="•"/>
            </a:pPr>
            <a:r>
              <a:rPr lang="en" sz="1300">
                <a:solidFill>
                  <a:srgbClr val="1A1A1A"/>
                </a:solidFill>
                <a:latin typeface="Calibri"/>
                <a:ea typeface="Calibri"/>
                <a:cs typeface="Calibri"/>
                <a:sym typeface="Calibri"/>
              </a:rPr>
              <a:t>New Service → relatively few integrations of SOTA models</a:t>
            </a:r>
            <a:endParaRPr sz="1300">
              <a:solidFill>
                <a:srgbClr val="1A1A1A"/>
              </a:solidFill>
              <a:latin typeface="Calibri"/>
              <a:ea typeface="Calibri"/>
              <a:cs typeface="Calibri"/>
              <a:sym typeface="Calibri"/>
            </a:endParaRPr>
          </a:p>
          <a:p>
            <a:pPr indent="-260350" lvl="0" marL="254000" marR="0" rtl="0" algn="l">
              <a:spcBef>
                <a:spcPts val="600"/>
              </a:spcBef>
              <a:spcAft>
                <a:spcPts val="0"/>
              </a:spcAft>
              <a:buClr>
                <a:srgbClr val="1A1A1A"/>
              </a:buClr>
              <a:buSzPts val="1300"/>
              <a:buFont typeface="Calibri"/>
              <a:buChar char="•"/>
            </a:pPr>
            <a:r>
              <a:rPr lang="en" sz="1300">
                <a:solidFill>
                  <a:srgbClr val="1A1A1A"/>
                </a:solidFill>
                <a:latin typeface="Calibri"/>
                <a:ea typeface="Calibri"/>
                <a:cs typeface="Calibri"/>
                <a:sym typeface="Calibri"/>
              </a:rPr>
              <a:t>Moss-TTS is a SOTA family of TTS models that would be of use for many different organizations and people</a:t>
            </a:r>
            <a:endParaRPr sz="1300">
              <a:solidFill>
                <a:srgbClr val="1A1A1A"/>
              </a:solidFill>
              <a:latin typeface="Calibri"/>
              <a:ea typeface="Calibri"/>
              <a:cs typeface="Calibri"/>
              <a:sym typeface="Calibri"/>
            </a:endParaRPr>
          </a:p>
          <a:p>
            <a:pPr indent="-260350" lvl="0" marL="254000" marR="0" rtl="0" algn="l">
              <a:spcBef>
                <a:spcPts val="600"/>
              </a:spcBef>
              <a:spcAft>
                <a:spcPts val="0"/>
              </a:spcAft>
              <a:buClr>
                <a:srgbClr val="1A1A1A"/>
              </a:buClr>
              <a:buSzPts val="1300"/>
              <a:buFont typeface="Calibri"/>
              <a:buChar char="•"/>
            </a:pPr>
            <a:r>
              <a:rPr lang="en" sz="1300">
                <a:solidFill>
                  <a:srgbClr val="1A1A1A"/>
                </a:solidFill>
                <a:latin typeface="Calibri"/>
                <a:ea typeface="Calibri"/>
                <a:cs typeface="Calibri"/>
                <a:sym typeface="Calibri"/>
              </a:rPr>
              <a:t>Integrating Moss-TTS would allow for faster serving and inference, leading to a production level pipeline.</a:t>
            </a:r>
            <a:endParaRPr sz="1300">
              <a:solidFill>
                <a:srgbClr val="1A1A1A"/>
              </a:solidFill>
              <a:latin typeface="Calibri"/>
              <a:ea typeface="Calibri"/>
              <a:cs typeface="Calibri"/>
              <a:sym typeface="Calibri"/>
            </a:endParaRPr>
          </a:p>
        </p:txBody>
      </p:sp>
      <p:sp>
        <p:nvSpPr>
          <p:cNvPr id="32" name="Google Shape;32;p5"/>
          <p:cNvSpPr/>
          <p:nvPr/>
        </p:nvSpPr>
        <p:spPr>
          <a:xfrm>
            <a:off x="4697730" y="1371600"/>
            <a:ext cx="4114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200"/>
              <a:buFont typeface="Calibri"/>
              <a:buNone/>
            </a:pPr>
            <a:r>
              <a:rPr b="1" i="0" lang="en" sz="1700" u="none" cap="none" strike="noStrike">
                <a:solidFill>
                  <a:srgbClr val="1A1A1A"/>
                </a:solidFill>
                <a:latin typeface="Calibri"/>
                <a:ea typeface="Calibri"/>
                <a:cs typeface="Calibri"/>
                <a:sym typeface="Calibri"/>
              </a:rPr>
              <a:t>Problem statement</a:t>
            </a:r>
            <a:endParaRPr b="0" i="0" sz="1700" u="none" cap="none" strike="noStrike">
              <a:solidFill>
                <a:schemeClr val="dk1"/>
              </a:solidFill>
              <a:latin typeface="Calibri"/>
              <a:ea typeface="Calibri"/>
              <a:cs typeface="Calibri"/>
              <a:sym typeface="Calibri"/>
            </a:endParaRPr>
          </a:p>
        </p:txBody>
      </p:sp>
      <p:sp>
        <p:nvSpPr>
          <p:cNvPr id="33" name="Google Shape;33;p5"/>
          <p:cNvSpPr/>
          <p:nvPr/>
        </p:nvSpPr>
        <p:spPr>
          <a:xfrm>
            <a:off x="4697730" y="1714500"/>
            <a:ext cx="4114800" cy="2743200"/>
          </a:xfrm>
          <a:prstGeom prst="rect">
            <a:avLst/>
          </a:prstGeom>
          <a:noFill/>
          <a:ln>
            <a:noFill/>
          </a:ln>
        </p:spPr>
        <p:txBody>
          <a:bodyPr anchorCtr="0" anchor="t" bIns="34275" lIns="68575" spcFirstLastPara="1" rIns="68575" wrap="square" tIns="34275">
            <a:noAutofit/>
          </a:bodyPr>
          <a:lstStyle/>
          <a:p>
            <a:pPr indent="0" lvl="0" marL="0" marR="0" rtl="0" algn="l">
              <a:spcBef>
                <a:spcPts val="600"/>
              </a:spcBef>
              <a:spcAft>
                <a:spcPts val="0"/>
              </a:spcAft>
              <a:buClr>
                <a:srgbClr val="1A1A1A"/>
              </a:buClr>
              <a:buSzPts val="1100"/>
              <a:buFont typeface="Calibri"/>
              <a:buNone/>
            </a:pPr>
            <a:r>
              <a:rPr i="1" lang="en" sz="1300">
                <a:solidFill>
                  <a:srgbClr val="1A1A1A"/>
                </a:solidFill>
                <a:latin typeface="Calibri"/>
                <a:ea typeface="Calibri"/>
                <a:cs typeface="Calibri"/>
                <a:sym typeface="Calibri"/>
              </a:rPr>
              <a:t>We attempt to integrate Moss-TTS-Local and Moss-TTS-Delay into the VLLM-Omni serving pipeline, </a:t>
            </a:r>
            <a:r>
              <a:rPr i="1" lang="en" sz="1300">
                <a:solidFill>
                  <a:srgbClr val="1A1A1A"/>
                </a:solidFill>
                <a:latin typeface="Calibri"/>
                <a:ea typeface="Calibri"/>
                <a:cs typeface="Calibri"/>
                <a:sym typeface="Calibri"/>
              </a:rPr>
              <a:t>specifically</a:t>
            </a:r>
            <a:r>
              <a:rPr i="1" lang="en" sz="1300">
                <a:solidFill>
                  <a:srgbClr val="1A1A1A"/>
                </a:solidFill>
                <a:latin typeface="Calibri"/>
                <a:ea typeface="Calibri"/>
                <a:cs typeface="Calibri"/>
                <a:sym typeface="Calibri"/>
              </a:rPr>
              <a:t> </a:t>
            </a:r>
            <a:r>
              <a:rPr i="1" lang="en" sz="1300">
                <a:solidFill>
                  <a:srgbClr val="1A1A1A"/>
                </a:solidFill>
                <a:latin typeface="Calibri"/>
                <a:ea typeface="Calibri"/>
                <a:cs typeface="Calibri"/>
                <a:sym typeface="Calibri"/>
              </a:rPr>
              <a:t>targeting</a:t>
            </a:r>
            <a:r>
              <a:rPr i="1" lang="en" sz="1300">
                <a:solidFill>
                  <a:srgbClr val="1A1A1A"/>
                </a:solidFill>
                <a:latin typeface="Calibri"/>
                <a:ea typeface="Calibri"/>
                <a:cs typeface="Calibri"/>
                <a:sym typeface="Calibri"/>
              </a:rPr>
              <a:t> inference bottlenecks</a:t>
            </a:r>
            <a:endParaRPr b="0" i="0" sz="13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1A1A1A"/>
              </a:buClr>
              <a:buSzPts val="1100"/>
              <a:buFont typeface="Calibri"/>
              <a:buNone/>
            </a:pPr>
            <a:r>
              <a:rPr b="1" i="0" lang="en" sz="1300" u="none" cap="none" strike="noStrike">
                <a:solidFill>
                  <a:srgbClr val="1A1A1A"/>
                </a:solidFill>
                <a:latin typeface="Calibri"/>
                <a:ea typeface="Calibri"/>
                <a:cs typeface="Calibri"/>
                <a:sym typeface="Calibri"/>
              </a:rPr>
              <a:t>Goal: </a:t>
            </a:r>
            <a:r>
              <a:rPr lang="en" sz="1300">
                <a:solidFill>
                  <a:srgbClr val="1A1A1A"/>
                </a:solidFill>
                <a:latin typeface="Calibri"/>
                <a:ea typeface="Calibri"/>
                <a:cs typeface="Calibri"/>
                <a:sym typeface="Calibri"/>
              </a:rPr>
              <a:t>Match or exceed basic vanilla HF variants of both models, especially on the inference/throughput side. </a:t>
            </a:r>
            <a:endParaRPr b="0" i="0" sz="1300" u="none" cap="none" strike="noStrike">
              <a:solidFill>
                <a:schemeClr val="dk1"/>
              </a:solidFill>
              <a:latin typeface="Calibri"/>
              <a:ea typeface="Calibri"/>
              <a:cs typeface="Calibri"/>
              <a:sym typeface="Calibri"/>
            </a:endParaRPr>
          </a:p>
        </p:txBody>
      </p:sp>
      <p:sp>
        <p:nvSpPr>
          <p:cNvPr id="34" name="Google Shape;34;p5"/>
          <p:cNvSpPr/>
          <p:nvPr/>
        </p:nvSpPr>
        <p:spPr>
          <a:xfrm>
            <a:off x="342900" y="4903470"/>
            <a:ext cx="41148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800"/>
              <a:buFont typeface="Calibri"/>
              <a:buNone/>
            </a:pPr>
            <a:r>
              <a:rPr b="0" i="1" lang="en" sz="800" u="none" cap="none" strike="noStrike">
                <a:solidFill>
                  <a:srgbClr val="6B6F76"/>
                </a:solidFill>
                <a:latin typeface="Calibri"/>
                <a:ea typeface="Calibri"/>
                <a:cs typeface="Calibri"/>
                <a:sym typeface="Calibri"/>
              </a:rPr>
              <a:t>HPML · Spring 2026</a:t>
            </a:r>
            <a:endParaRPr b="0" i="0" sz="800" u="none" cap="none" strike="noStrike">
              <a:solidFill>
                <a:schemeClr val="dk1"/>
              </a:solidFill>
              <a:latin typeface="Calibri"/>
              <a:ea typeface="Calibri"/>
              <a:cs typeface="Calibri"/>
              <a:sym typeface="Calibri"/>
            </a:endParaRPr>
          </a:p>
        </p:txBody>
      </p:sp>
      <p:sp>
        <p:nvSpPr>
          <p:cNvPr id="35" name="Google Shape;35;p5"/>
          <p:cNvSpPr/>
          <p:nvPr/>
        </p:nvSpPr>
        <p:spPr>
          <a:xfrm>
            <a:off x="4684014" y="4903470"/>
            <a:ext cx="4114800" cy="2057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800"/>
              <a:buFont typeface="Calibri"/>
              <a:buNone/>
            </a:pPr>
            <a:r>
              <a:rPr b="0" i="0" lang="en" sz="800" u="none" cap="none" strike="noStrike">
                <a:solidFill>
                  <a:srgbClr val="6B6F76"/>
                </a:solidFill>
                <a:latin typeface="Calibri"/>
                <a:ea typeface="Calibri"/>
                <a:cs typeface="Calibri"/>
                <a:sym typeface="Calibri"/>
              </a:rPr>
              <a:t>2 / 1</a:t>
            </a:r>
            <a:r>
              <a:rPr lang="en" sz="800">
                <a:solidFill>
                  <a:srgbClr val="6B6F76"/>
                </a:solidFill>
                <a:latin typeface="Calibri"/>
                <a:ea typeface="Calibri"/>
                <a:cs typeface="Calibri"/>
                <a:sym typeface="Calibri"/>
              </a:rPr>
              <a:t>5</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 name="Shape 40"/>
        <p:cNvGrpSpPr/>
        <p:nvPr/>
      </p:nvGrpSpPr>
      <p:grpSpPr>
        <a:xfrm>
          <a:off x="0" y="0"/>
          <a:ext cx="0" cy="0"/>
          <a:chOff x="0" y="0"/>
          <a:chExt cx="0" cy="0"/>
        </a:xfrm>
      </p:grpSpPr>
      <p:sp>
        <p:nvSpPr>
          <p:cNvPr id="41" name="Google Shape;41;p6"/>
          <p:cNvSpPr/>
          <p:nvPr/>
        </p:nvSpPr>
        <p:spPr>
          <a:xfrm>
            <a:off x="342900" y="377190"/>
            <a:ext cx="8455914"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400"/>
              <a:buFont typeface="Calibri"/>
              <a:buNone/>
            </a:pPr>
            <a:r>
              <a:rPr b="1" i="0" lang="en" sz="2400" u="none" cap="none" strike="noStrike">
                <a:solidFill>
                  <a:srgbClr val="1A1A1A"/>
                </a:solidFill>
                <a:latin typeface="Calibri"/>
                <a:ea typeface="Calibri"/>
                <a:cs typeface="Calibri"/>
                <a:sym typeface="Calibri"/>
              </a:rPr>
              <a:t>Technical Approach — Model &amp; Data</a:t>
            </a:r>
            <a:endParaRPr b="0" i="0" sz="2400" u="none" cap="none" strike="noStrike">
              <a:solidFill>
                <a:schemeClr val="dk1"/>
              </a:solidFill>
              <a:latin typeface="Calibri"/>
              <a:ea typeface="Calibri"/>
              <a:cs typeface="Calibri"/>
              <a:sym typeface="Calibri"/>
            </a:endParaRPr>
          </a:p>
        </p:txBody>
      </p:sp>
      <p:cxnSp>
        <p:nvCxnSpPr>
          <p:cNvPr id="42" name="Google Shape;42;p6"/>
          <p:cNvCxnSpPr/>
          <p:nvPr/>
        </p:nvCxnSpPr>
        <p:spPr>
          <a:xfrm>
            <a:off x="342900" y="891540"/>
            <a:ext cx="8455914" cy="0"/>
          </a:xfrm>
          <a:prstGeom prst="straightConnector1">
            <a:avLst/>
          </a:prstGeom>
          <a:noFill/>
          <a:ln cap="flat" cmpd="sng" w="9525">
            <a:solidFill>
              <a:srgbClr val="D9D9D9"/>
            </a:solidFill>
            <a:prstDash val="solid"/>
            <a:round/>
            <a:headEnd len="sm" w="sm" type="none"/>
            <a:tailEnd len="sm" w="sm" type="none"/>
          </a:ln>
        </p:spPr>
      </p:cxnSp>
      <p:sp>
        <p:nvSpPr>
          <p:cNvPr id="43" name="Google Shape;43;p6"/>
          <p:cNvSpPr/>
          <p:nvPr/>
        </p:nvSpPr>
        <p:spPr>
          <a:xfrm>
            <a:off x="342900" y="994410"/>
            <a:ext cx="82296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800"/>
              <a:buFont typeface="Calibri"/>
              <a:buNone/>
            </a:pPr>
            <a:r>
              <a:rPr b="0" i="1" lang="en" sz="800" u="none" cap="none" strike="noStrike">
                <a:solidFill>
                  <a:srgbClr val="6B6F76"/>
                </a:solidFill>
                <a:latin typeface="Calibri"/>
                <a:ea typeface="Calibri"/>
                <a:cs typeface="Calibri"/>
                <a:sym typeface="Calibri"/>
              </a:rPr>
              <a:t>Time budget: ~1 min of the 3-min approach section.</a:t>
            </a:r>
            <a:endParaRPr b="0" i="0" sz="800" u="none" cap="none" strike="noStrike">
              <a:solidFill>
                <a:schemeClr val="dk1"/>
              </a:solidFill>
              <a:latin typeface="Calibri"/>
              <a:ea typeface="Calibri"/>
              <a:cs typeface="Calibri"/>
              <a:sym typeface="Calibri"/>
            </a:endParaRPr>
          </a:p>
        </p:txBody>
      </p:sp>
      <p:sp>
        <p:nvSpPr>
          <p:cNvPr id="44" name="Google Shape;44;p6"/>
          <p:cNvSpPr/>
          <p:nvPr/>
        </p:nvSpPr>
        <p:spPr>
          <a:xfrm>
            <a:off x="342900" y="1371600"/>
            <a:ext cx="2688300" cy="33378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5" name="Google Shape;45;p6"/>
          <p:cNvSpPr/>
          <p:nvPr/>
        </p:nvSpPr>
        <p:spPr>
          <a:xfrm>
            <a:off x="514350" y="1508760"/>
            <a:ext cx="2345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200"/>
              <a:buFont typeface="Calibri"/>
              <a:buNone/>
            </a:pPr>
            <a:r>
              <a:rPr b="1" i="0" lang="en" sz="1700" u="none" cap="none" strike="noStrike">
                <a:solidFill>
                  <a:srgbClr val="1A1A1A"/>
                </a:solidFill>
                <a:latin typeface="Calibri"/>
                <a:ea typeface="Calibri"/>
                <a:cs typeface="Calibri"/>
                <a:sym typeface="Calibri"/>
              </a:rPr>
              <a:t>Model</a:t>
            </a:r>
            <a:endParaRPr b="0" i="0" sz="1700" u="none" cap="none" strike="noStrike">
              <a:solidFill>
                <a:schemeClr val="dk1"/>
              </a:solidFill>
              <a:latin typeface="Calibri"/>
              <a:ea typeface="Calibri"/>
              <a:cs typeface="Calibri"/>
              <a:sym typeface="Calibri"/>
            </a:endParaRPr>
          </a:p>
        </p:txBody>
      </p:sp>
      <p:sp>
        <p:nvSpPr>
          <p:cNvPr id="46" name="Google Shape;46;p6"/>
          <p:cNvSpPr/>
          <p:nvPr/>
        </p:nvSpPr>
        <p:spPr>
          <a:xfrm>
            <a:off x="514350" y="1889150"/>
            <a:ext cx="2415000" cy="2820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300">
                <a:solidFill>
                  <a:schemeClr val="dk1"/>
                </a:solidFill>
                <a:latin typeface="Calibri"/>
                <a:ea typeface="Calibri"/>
                <a:cs typeface="Calibri"/>
                <a:sym typeface="Calibri"/>
              </a:rPr>
              <a:t>1. MOSS-TTS-Delay (Delay-Pattern Model)</a:t>
            </a:r>
            <a:endParaRPr sz="1300">
              <a:solidFill>
                <a:schemeClr val="dk1"/>
              </a:solidFill>
              <a:latin typeface="Calibri"/>
              <a:ea typeface="Calibri"/>
              <a:cs typeface="Calibri"/>
              <a:sym typeface="Calibri"/>
            </a:endParaRPr>
          </a:p>
          <a:p>
            <a:pPr indent="-311150" lvl="0" marL="457200" marR="0" rtl="0" algn="l">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Single large-scale Transformer backbone with a specialized "delay pattern"</a:t>
            </a:r>
            <a:endParaRPr sz="1300">
              <a:solidFill>
                <a:schemeClr val="dk1"/>
              </a:solidFill>
              <a:latin typeface="Calibri"/>
              <a:ea typeface="Calibri"/>
              <a:cs typeface="Calibri"/>
              <a:sym typeface="Calibri"/>
            </a:endParaRPr>
          </a:p>
          <a:p>
            <a:pPr indent="-311150" lvl="0" marL="457200" marR="0" rtl="0" algn="l">
              <a:spcBef>
                <a:spcPts val="0"/>
              </a:spcBef>
              <a:spcAft>
                <a:spcPts val="0"/>
              </a:spcAft>
              <a:buClr>
                <a:schemeClr val="dk1"/>
              </a:buClr>
              <a:buSzPts val="1300"/>
              <a:buFont typeface="Calibri"/>
              <a:buChar char="●"/>
            </a:pPr>
            <a:r>
              <a:rPr b="1" lang="en" sz="1300">
                <a:solidFill>
                  <a:schemeClr val="dk1"/>
                </a:solidFill>
                <a:latin typeface="Calibri"/>
                <a:ea typeface="Calibri"/>
                <a:cs typeface="Calibri"/>
                <a:sym typeface="Calibri"/>
              </a:rPr>
              <a:t>8B</a:t>
            </a:r>
            <a:r>
              <a:rPr lang="en" sz="1300">
                <a:solidFill>
                  <a:schemeClr val="dk1"/>
                </a:solidFill>
                <a:latin typeface="Calibri"/>
                <a:ea typeface="Calibri"/>
                <a:cs typeface="Calibri"/>
                <a:sym typeface="Calibri"/>
              </a:rPr>
              <a:t> parameters</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lang="en" sz="1300">
                <a:solidFill>
                  <a:schemeClr val="dk1"/>
                </a:solidFill>
                <a:latin typeface="Calibri"/>
                <a:ea typeface="Calibri"/>
                <a:cs typeface="Calibri"/>
                <a:sym typeface="Calibri"/>
              </a:rPr>
              <a:t>2. MOSS-TTS-Local (Global-Latent + Local Transformer)</a:t>
            </a:r>
            <a:endParaRPr sz="1300">
              <a:solidFill>
                <a:schemeClr val="dk1"/>
              </a:solidFill>
              <a:latin typeface="Calibri"/>
              <a:ea typeface="Calibri"/>
              <a:cs typeface="Calibri"/>
              <a:sym typeface="Calibri"/>
            </a:endParaRPr>
          </a:p>
          <a:p>
            <a:pPr indent="-311150" lvl="0" marL="457200" marR="0" rtl="0" algn="l">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Global Transformer (Temporal) + Local Transformer (Depth)</a:t>
            </a:r>
            <a:endParaRPr sz="1300">
              <a:solidFill>
                <a:schemeClr val="dk1"/>
              </a:solidFill>
              <a:latin typeface="Calibri"/>
              <a:ea typeface="Calibri"/>
              <a:cs typeface="Calibri"/>
              <a:sym typeface="Calibri"/>
            </a:endParaRPr>
          </a:p>
          <a:p>
            <a:pPr indent="-311150" lvl="0" marL="457200" marR="0" rtl="0" algn="l">
              <a:spcBef>
                <a:spcPts val="0"/>
              </a:spcBef>
              <a:spcAft>
                <a:spcPts val="0"/>
              </a:spcAft>
              <a:buClr>
                <a:schemeClr val="dk1"/>
              </a:buClr>
              <a:buSzPts val="1300"/>
              <a:buFont typeface="Calibri"/>
              <a:buChar char="●"/>
            </a:pPr>
            <a:r>
              <a:rPr b="1" lang="en" sz="1300">
                <a:solidFill>
                  <a:schemeClr val="dk1"/>
                </a:solidFill>
                <a:latin typeface="Calibri"/>
                <a:ea typeface="Calibri"/>
                <a:cs typeface="Calibri"/>
                <a:sym typeface="Calibri"/>
              </a:rPr>
              <a:t>1.7B</a:t>
            </a:r>
            <a:r>
              <a:rPr lang="en" sz="1300">
                <a:solidFill>
                  <a:schemeClr val="dk1"/>
                </a:solidFill>
                <a:latin typeface="Calibri"/>
                <a:ea typeface="Calibri"/>
                <a:cs typeface="Calibri"/>
                <a:sym typeface="Calibri"/>
              </a:rPr>
              <a:t> parameters</a:t>
            </a:r>
            <a:endParaRPr sz="1300">
              <a:solidFill>
                <a:schemeClr val="dk1"/>
              </a:solidFill>
              <a:latin typeface="Calibri"/>
              <a:ea typeface="Calibri"/>
              <a:cs typeface="Calibri"/>
              <a:sym typeface="Calibri"/>
            </a:endParaRPr>
          </a:p>
        </p:txBody>
      </p:sp>
      <p:sp>
        <p:nvSpPr>
          <p:cNvPr id="47" name="Google Shape;47;p6"/>
          <p:cNvSpPr/>
          <p:nvPr/>
        </p:nvSpPr>
        <p:spPr>
          <a:xfrm>
            <a:off x="3236975" y="1371600"/>
            <a:ext cx="2688300" cy="33378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8" name="Google Shape;48;p6"/>
          <p:cNvSpPr/>
          <p:nvPr/>
        </p:nvSpPr>
        <p:spPr>
          <a:xfrm>
            <a:off x="3408426" y="1508760"/>
            <a:ext cx="23454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200"/>
              <a:buFont typeface="Calibri"/>
              <a:buNone/>
            </a:pPr>
            <a:r>
              <a:rPr b="1" i="0" lang="en" sz="1700" u="none" cap="none" strike="noStrike">
                <a:solidFill>
                  <a:srgbClr val="1A1A1A"/>
                </a:solidFill>
                <a:latin typeface="Calibri"/>
                <a:ea typeface="Calibri"/>
                <a:cs typeface="Calibri"/>
                <a:sym typeface="Calibri"/>
              </a:rPr>
              <a:t>Dataset</a:t>
            </a:r>
            <a:endParaRPr b="0" i="0" sz="1700" u="none" cap="none" strike="noStrike">
              <a:solidFill>
                <a:schemeClr val="dk1"/>
              </a:solidFill>
              <a:latin typeface="Calibri"/>
              <a:ea typeface="Calibri"/>
              <a:cs typeface="Calibri"/>
              <a:sym typeface="Calibri"/>
            </a:endParaRPr>
          </a:p>
        </p:txBody>
      </p:sp>
      <p:sp>
        <p:nvSpPr>
          <p:cNvPr id="49" name="Google Shape;49;p6"/>
          <p:cNvSpPr/>
          <p:nvPr/>
        </p:nvSpPr>
        <p:spPr>
          <a:xfrm>
            <a:off x="3408425" y="1851650"/>
            <a:ext cx="2517000" cy="2820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300">
                <a:solidFill>
                  <a:srgbClr val="1A1A1A"/>
                </a:solidFill>
                <a:latin typeface="Calibri"/>
                <a:ea typeface="Calibri"/>
                <a:cs typeface="Calibri"/>
                <a:sym typeface="Calibri"/>
              </a:rPr>
              <a:t>1. </a:t>
            </a:r>
            <a:r>
              <a:rPr lang="en" sz="1300">
                <a:solidFill>
                  <a:srgbClr val="1A1A1A"/>
                </a:solidFill>
                <a:latin typeface="Calibri"/>
                <a:ea typeface="Calibri"/>
                <a:cs typeface="Calibri"/>
                <a:sym typeface="Calibri"/>
              </a:rPr>
              <a:t>Wikitext Dataset from </a:t>
            </a:r>
            <a:r>
              <a:rPr lang="en" sz="1300">
                <a:solidFill>
                  <a:srgbClr val="1A1A1A"/>
                </a:solidFill>
                <a:latin typeface="Calibri"/>
                <a:ea typeface="Calibri"/>
                <a:cs typeface="Calibri"/>
                <a:sym typeface="Calibri"/>
              </a:rPr>
              <a:t>hugging face (For metrics like RTF, FCL) (20 examples of varying lengths)</a:t>
            </a:r>
            <a:endParaRPr sz="1300">
              <a:solidFill>
                <a:srgbClr val="1A1A1A"/>
              </a:solidFill>
              <a:latin typeface="Calibri"/>
              <a:ea typeface="Calibri"/>
              <a:cs typeface="Calibri"/>
              <a:sym typeface="Calibri"/>
            </a:endParaRPr>
          </a:p>
          <a:p>
            <a:pPr indent="0" lvl="0" marL="0" marR="0" rtl="0" algn="l">
              <a:spcBef>
                <a:spcPts val="0"/>
              </a:spcBef>
              <a:spcAft>
                <a:spcPts val="0"/>
              </a:spcAft>
              <a:buNone/>
            </a:pPr>
            <a:r>
              <a:t/>
            </a:r>
            <a:endParaRPr sz="1300">
              <a:solidFill>
                <a:srgbClr val="1A1A1A"/>
              </a:solidFill>
              <a:latin typeface="Calibri"/>
              <a:ea typeface="Calibri"/>
              <a:cs typeface="Calibri"/>
              <a:sym typeface="Calibri"/>
            </a:endParaRPr>
          </a:p>
          <a:p>
            <a:pPr indent="0" lvl="0" marL="0" marR="0" rtl="0" algn="l">
              <a:spcBef>
                <a:spcPts val="0"/>
              </a:spcBef>
              <a:spcAft>
                <a:spcPts val="0"/>
              </a:spcAft>
              <a:buNone/>
            </a:pPr>
            <a:r>
              <a:rPr lang="en" sz="1300">
                <a:solidFill>
                  <a:srgbClr val="1A1A1A"/>
                </a:solidFill>
                <a:latin typeface="Calibri"/>
                <a:ea typeface="Calibri"/>
                <a:cs typeface="Calibri"/>
                <a:sym typeface="Calibri"/>
              </a:rPr>
              <a:t>2. Static, fixed sentences for throughput benchmarks in order to reduce variance in our results.</a:t>
            </a:r>
            <a:endParaRPr sz="1300">
              <a:solidFill>
                <a:srgbClr val="1A1A1A"/>
              </a:solidFill>
              <a:latin typeface="Calibri"/>
              <a:ea typeface="Calibri"/>
              <a:cs typeface="Calibri"/>
              <a:sym typeface="Calibri"/>
            </a:endParaRPr>
          </a:p>
        </p:txBody>
      </p:sp>
      <p:sp>
        <p:nvSpPr>
          <p:cNvPr id="50" name="Google Shape;50;p6"/>
          <p:cNvSpPr/>
          <p:nvPr/>
        </p:nvSpPr>
        <p:spPr>
          <a:xfrm>
            <a:off x="6131050" y="1371600"/>
            <a:ext cx="2688300" cy="33378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1" name="Google Shape;51;p6"/>
          <p:cNvSpPr/>
          <p:nvPr/>
        </p:nvSpPr>
        <p:spPr>
          <a:xfrm>
            <a:off x="6302502" y="1508760"/>
            <a:ext cx="23454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200"/>
              <a:buFont typeface="Calibri"/>
              <a:buNone/>
            </a:pPr>
            <a:r>
              <a:rPr b="1" i="0" lang="en" sz="1700" u="none" cap="none" strike="noStrike">
                <a:solidFill>
                  <a:srgbClr val="1A1A1A"/>
                </a:solidFill>
                <a:latin typeface="Calibri"/>
                <a:ea typeface="Calibri"/>
                <a:cs typeface="Calibri"/>
                <a:sym typeface="Calibri"/>
              </a:rPr>
              <a:t>Hardware</a:t>
            </a:r>
            <a:endParaRPr b="0" i="0" sz="1700" u="none" cap="none" strike="noStrike">
              <a:solidFill>
                <a:schemeClr val="dk1"/>
              </a:solidFill>
              <a:latin typeface="Calibri"/>
              <a:ea typeface="Calibri"/>
              <a:cs typeface="Calibri"/>
              <a:sym typeface="Calibri"/>
            </a:endParaRPr>
          </a:p>
        </p:txBody>
      </p:sp>
      <p:sp>
        <p:nvSpPr>
          <p:cNvPr id="52" name="Google Shape;52;p6"/>
          <p:cNvSpPr/>
          <p:nvPr/>
        </p:nvSpPr>
        <p:spPr>
          <a:xfrm>
            <a:off x="6302502" y="1851660"/>
            <a:ext cx="2345436" cy="2400300"/>
          </a:xfrm>
          <a:prstGeom prst="rect">
            <a:avLst/>
          </a:prstGeom>
          <a:noFill/>
          <a:ln>
            <a:noFill/>
          </a:ln>
        </p:spPr>
        <p:txBody>
          <a:bodyPr anchorCtr="0" anchor="t" bIns="0" lIns="0" spcFirstLastPara="1" rIns="0" wrap="square" tIns="0">
            <a:noAutofit/>
          </a:bodyPr>
          <a:lstStyle/>
          <a:p>
            <a:pPr indent="-311150" lvl="0" marL="457200" marR="0" rtl="0" algn="l">
              <a:spcBef>
                <a:spcPts val="0"/>
              </a:spcBef>
              <a:spcAft>
                <a:spcPts val="0"/>
              </a:spcAft>
              <a:buClr>
                <a:srgbClr val="1A1A1A"/>
              </a:buClr>
              <a:buSzPts val="1300"/>
              <a:buFont typeface="Calibri"/>
              <a:buChar char="●"/>
            </a:pPr>
            <a:r>
              <a:rPr lang="en" sz="1300">
                <a:solidFill>
                  <a:srgbClr val="1A1A1A"/>
                </a:solidFill>
                <a:latin typeface="Calibri"/>
                <a:ea typeface="Calibri"/>
                <a:cs typeface="Calibri"/>
                <a:sym typeface="Calibri"/>
              </a:rPr>
              <a:t>A100 on Vast AI, a GPU rental website</a:t>
            </a:r>
            <a:endParaRPr sz="1300">
              <a:solidFill>
                <a:srgbClr val="1A1A1A"/>
              </a:solidFill>
              <a:latin typeface="Calibri"/>
              <a:ea typeface="Calibri"/>
              <a:cs typeface="Calibri"/>
              <a:sym typeface="Calibri"/>
            </a:endParaRPr>
          </a:p>
          <a:p>
            <a:pPr indent="-311150" lvl="1" marL="914400" marR="0" rtl="0" algn="l">
              <a:spcBef>
                <a:spcPts val="0"/>
              </a:spcBef>
              <a:spcAft>
                <a:spcPts val="0"/>
              </a:spcAft>
              <a:buClr>
                <a:srgbClr val="1A1A1A"/>
              </a:buClr>
              <a:buSzPts val="1300"/>
              <a:buFont typeface="Calibri"/>
              <a:buChar char="○"/>
            </a:pPr>
            <a:r>
              <a:rPr lang="en" sz="1300">
                <a:solidFill>
                  <a:srgbClr val="1A1A1A"/>
                </a:solidFill>
                <a:latin typeface="Calibri"/>
                <a:ea typeface="Calibri"/>
                <a:cs typeface="Calibri"/>
                <a:sym typeface="Calibri"/>
              </a:rPr>
              <a:t>VRAM: 80GB</a:t>
            </a:r>
            <a:endParaRPr sz="1300">
              <a:solidFill>
                <a:srgbClr val="1A1A1A"/>
              </a:solidFill>
              <a:latin typeface="Calibri"/>
              <a:ea typeface="Calibri"/>
              <a:cs typeface="Calibri"/>
              <a:sym typeface="Calibri"/>
            </a:endParaRPr>
          </a:p>
          <a:p>
            <a:pPr indent="-311150" lvl="1" marL="914400" marR="0" rtl="0" algn="l">
              <a:spcBef>
                <a:spcPts val="0"/>
              </a:spcBef>
              <a:spcAft>
                <a:spcPts val="0"/>
              </a:spcAft>
              <a:buClr>
                <a:srgbClr val="1A1A1A"/>
              </a:buClr>
              <a:buSzPts val="1300"/>
              <a:buFont typeface="Calibri"/>
              <a:buChar char="○"/>
            </a:pPr>
            <a:r>
              <a:rPr lang="en" sz="1300">
                <a:solidFill>
                  <a:srgbClr val="1A1A1A"/>
                </a:solidFill>
                <a:latin typeface="Calibri"/>
                <a:ea typeface="Calibri"/>
                <a:cs typeface="Calibri"/>
                <a:sym typeface="Calibri"/>
              </a:rPr>
              <a:t>Disk Size: 100GB</a:t>
            </a:r>
            <a:endParaRPr sz="1300">
              <a:solidFill>
                <a:srgbClr val="1A1A1A"/>
              </a:solidFill>
              <a:latin typeface="Calibri"/>
              <a:ea typeface="Calibri"/>
              <a:cs typeface="Calibri"/>
              <a:sym typeface="Calibri"/>
            </a:endParaRPr>
          </a:p>
          <a:p>
            <a:pPr indent="0" lvl="0" marL="0" marR="0" rtl="0" algn="l">
              <a:spcBef>
                <a:spcPts val="0"/>
              </a:spcBef>
              <a:spcAft>
                <a:spcPts val="0"/>
              </a:spcAft>
              <a:buNone/>
            </a:pPr>
            <a:r>
              <a:t/>
            </a:r>
            <a:endParaRPr sz="1300">
              <a:solidFill>
                <a:srgbClr val="1A1A1A"/>
              </a:solidFill>
              <a:latin typeface="Calibri"/>
              <a:ea typeface="Calibri"/>
              <a:cs typeface="Calibri"/>
              <a:sym typeface="Calibri"/>
            </a:endParaRPr>
          </a:p>
          <a:p>
            <a:pPr indent="-311150" lvl="0" marL="457200" marR="0" rtl="0" algn="l">
              <a:spcBef>
                <a:spcPts val="0"/>
              </a:spcBef>
              <a:spcAft>
                <a:spcPts val="0"/>
              </a:spcAft>
              <a:buClr>
                <a:srgbClr val="1A1A1A"/>
              </a:buClr>
              <a:buSzPts val="1300"/>
              <a:buFont typeface="Calibri"/>
              <a:buChar char="●"/>
            </a:pPr>
            <a:r>
              <a:rPr lang="en" sz="1300">
                <a:solidFill>
                  <a:srgbClr val="1A1A1A"/>
                </a:solidFill>
                <a:latin typeface="Calibri"/>
                <a:ea typeface="Calibri"/>
                <a:cs typeface="Calibri"/>
                <a:sym typeface="Calibri"/>
              </a:rPr>
              <a:t>Google Colab A100 GPU</a:t>
            </a:r>
            <a:endParaRPr sz="1300">
              <a:solidFill>
                <a:srgbClr val="1A1A1A"/>
              </a:solidFill>
              <a:latin typeface="Calibri"/>
              <a:ea typeface="Calibri"/>
              <a:cs typeface="Calibri"/>
              <a:sym typeface="Calibri"/>
            </a:endParaRPr>
          </a:p>
          <a:p>
            <a:pPr indent="-311150" lvl="1" marL="914400" marR="0" rtl="0" algn="l">
              <a:spcBef>
                <a:spcPts val="0"/>
              </a:spcBef>
              <a:spcAft>
                <a:spcPts val="0"/>
              </a:spcAft>
              <a:buClr>
                <a:srgbClr val="1A1A1A"/>
              </a:buClr>
              <a:buSzPts val="1300"/>
              <a:buFont typeface="Calibri"/>
              <a:buChar char="○"/>
            </a:pPr>
            <a:r>
              <a:rPr lang="en" sz="1300">
                <a:solidFill>
                  <a:srgbClr val="1A1A1A"/>
                </a:solidFill>
                <a:latin typeface="Calibri"/>
                <a:ea typeface="Calibri"/>
                <a:cs typeface="Calibri"/>
                <a:sym typeface="Calibri"/>
              </a:rPr>
              <a:t>VRAM: 80GB</a:t>
            </a:r>
            <a:endParaRPr sz="1300">
              <a:solidFill>
                <a:srgbClr val="1A1A1A"/>
              </a:solidFill>
              <a:latin typeface="Calibri"/>
              <a:ea typeface="Calibri"/>
              <a:cs typeface="Calibri"/>
              <a:sym typeface="Calibri"/>
            </a:endParaRPr>
          </a:p>
          <a:p>
            <a:pPr indent="-311150" lvl="1" marL="914400" marR="0" rtl="0" algn="l">
              <a:spcBef>
                <a:spcPts val="0"/>
              </a:spcBef>
              <a:spcAft>
                <a:spcPts val="0"/>
              </a:spcAft>
              <a:buClr>
                <a:srgbClr val="1A1A1A"/>
              </a:buClr>
              <a:buSzPts val="1300"/>
              <a:buFont typeface="Calibri"/>
              <a:buChar char="○"/>
            </a:pPr>
            <a:r>
              <a:rPr lang="en" sz="1300">
                <a:solidFill>
                  <a:srgbClr val="1A1A1A"/>
                </a:solidFill>
                <a:latin typeface="Calibri"/>
                <a:ea typeface="Calibri"/>
                <a:cs typeface="Calibri"/>
                <a:sym typeface="Calibri"/>
              </a:rPr>
              <a:t>Disk: 235.7GB</a:t>
            </a:r>
            <a:endParaRPr sz="1300">
              <a:solidFill>
                <a:srgbClr val="1A1A1A"/>
              </a:solidFill>
              <a:latin typeface="Calibri"/>
              <a:ea typeface="Calibri"/>
              <a:cs typeface="Calibri"/>
              <a:sym typeface="Calibri"/>
            </a:endParaRPr>
          </a:p>
        </p:txBody>
      </p:sp>
      <p:sp>
        <p:nvSpPr>
          <p:cNvPr id="53" name="Google Shape;53;p6"/>
          <p:cNvSpPr/>
          <p:nvPr/>
        </p:nvSpPr>
        <p:spPr>
          <a:xfrm>
            <a:off x="342900" y="4903470"/>
            <a:ext cx="41148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800"/>
              <a:buFont typeface="Calibri"/>
              <a:buNone/>
            </a:pPr>
            <a:r>
              <a:rPr b="0" i="1" lang="en" sz="800" u="none" cap="none" strike="noStrike">
                <a:solidFill>
                  <a:srgbClr val="6B6F76"/>
                </a:solidFill>
                <a:latin typeface="Calibri"/>
                <a:ea typeface="Calibri"/>
                <a:cs typeface="Calibri"/>
                <a:sym typeface="Calibri"/>
              </a:rPr>
              <a:t>HPML · Spring 2026</a:t>
            </a:r>
            <a:endParaRPr b="0" i="0" sz="800" u="none" cap="none" strike="noStrike">
              <a:solidFill>
                <a:schemeClr val="dk1"/>
              </a:solidFill>
              <a:latin typeface="Calibri"/>
              <a:ea typeface="Calibri"/>
              <a:cs typeface="Calibri"/>
              <a:sym typeface="Calibri"/>
            </a:endParaRPr>
          </a:p>
        </p:txBody>
      </p:sp>
      <p:sp>
        <p:nvSpPr>
          <p:cNvPr id="54" name="Google Shape;54;p6"/>
          <p:cNvSpPr/>
          <p:nvPr/>
        </p:nvSpPr>
        <p:spPr>
          <a:xfrm>
            <a:off x="4684014" y="4903470"/>
            <a:ext cx="4114800" cy="2057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800"/>
              <a:buFont typeface="Calibri"/>
              <a:buNone/>
            </a:pPr>
            <a:r>
              <a:rPr b="0" i="0" lang="en" sz="800" u="none" cap="none" strike="noStrike">
                <a:solidFill>
                  <a:srgbClr val="6B6F76"/>
                </a:solidFill>
                <a:latin typeface="Calibri"/>
                <a:ea typeface="Calibri"/>
                <a:cs typeface="Calibri"/>
                <a:sym typeface="Calibri"/>
              </a:rPr>
              <a:t>3 / 1</a:t>
            </a:r>
            <a:r>
              <a:rPr lang="en" sz="800">
                <a:solidFill>
                  <a:srgbClr val="6B6F76"/>
                </a:solidFill>
                <a:latin typeface="Calibri"/>
                <a:ea typeface="Calibri"/>
                <a:cs typeface="Calibri"/>
                <a:sym typeface="Calibri"/>
              </a:rPr>
              <a:t>5</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 name="Shape 59"/>
        <p:cNvGrpSpPr/>
        <p:nvPr/>
      </p:nvGrpSpPr>
      <p:grpSpPr>
        <a:xfrm>
          <a:off x="0" y="0"/>
          <a:ext cx="0" cy="0"/>
          <a:chOff x="0" y="0"/>
          <a:chExt cx="0" cy="0"/>
        </a:xfrm>
      </p:grpSpPr>
      <p:sp>
        <p:nvSpPr>
          <p:cNvPr id="60" name="Google Shape;60;p7"/>
          <p:cNvSpPr/>
          <p:nvPr/>
        </p:nvSpPr>
        <p:spPr>
          <a:xfrm>
            <a:off x="342900" y="381000"/>
            <a:ext cx="84582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2800">
                <a:solidFill>
                  <a:srgbClr val="1A1A1A"/>
                </a:solidFill>
                <a:latin typeface="Calibri"/>
                <a:ea typeface="Calibri"/>
                <a:cs typeface="Calibri"/>
                <a:sym typeface="Calibri"/>
              </a:rPr>
              <a:t>Technical Approach — Optimizations Applied</a:t>
            </a:r>
            <a:endParaRPr b="1" sz="2800">
              <a:solidFill>
                <a:srgbClr val="1A1A1A"/>
              </a:solidFill>
              <a:latin typeface="Calibri"/>
              <a:ea typeface="Calibri"/>
              <a:cs typeface="Calibri"/>
              <a:sym typeface="Calibri"/>
            </a:endParaRPr>
          </a:p>
        </p:txBody>
      </p:sp>
      <p:sp>
        <p:nvSpPr>
          <p:cNvPr id="61" name="Google Shape;61;p7"/>
          <p:cNvSpPr/>
          <p:nvPr/>
        </p:nvSpPr>
        <p:spPr>
          <a:xfrm>
            <a:off x="342900" y="857250"/>
            <a:ext cx="8229600" cy="209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1" lang="en" sz="900">
                <a:solidFill>
                  <a:srgbClr val="6B6F76"/>
                </a:solidFill>
                <a:latin typeface="Calibri"/>
                <a:ea typeface="Calibri"/>
                <a:cs typeface="Calibri"/>
                <a:sym typeface="Calibri"/>
              </a:rPr>
              <a:t>System-wide performance enhancements for efficient GPU utilization and reduced latency.</a:t>
            </a:r>
            <a:endParaRPr b="0" i="1" sz="900">
              <a:solidFill>
                <a:srgbClr val="6B6F76"/>
              </a:solidFill>
              <a:latin typeface="Calibri"/>
              <a:ea typeface="Calibri"/>
              <a:cs typeface="Calibri"/>
              <a:sym typeface="Calibri"/>
            </a:endParaRPr>
          </a:p>
        </p:txBody>
      </p:sp>
      <p:grpSp>
        <p:nvGrpSpPr>
          <p:cNvPr id="62" name="Google Shape;62;p7"/>
          <p:cNvGrpSpPr/>
          <p:nvPr/>
        </p:nvGrpSpPr>
        <p:grpSpPr>
          <a:xfrm>
            <a:off x="342900" y="1238250"/>
            <a:ext cx="4134000" cy="1428900"/>
            <a:chOff x="342900" y="1238250"/>
            <a:chExt cx="4134000" cy="1428900"/>
          </a:xfrm>
        </p:grpSpPr>
        <p:sp>
          <p:nvSpPr>
            <p:cNvPr id="63" name="Google Shape;63;p7"/>
            <p:cNvSpPr/>
            <p:nvPr/>
          </p:nvSpPr>
          <p:spPr>
            <a:xfrm>
              <a:off x="342900" y="1238250"/>
              <a:ext cx="4134000" cy="1428900"/>
            </a:xfrm>
            <a:prstGeom prst="roundRect">
              <a:avLst>
                <a:gd fmla="val 5333" name="adj"/>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 name="Google Shape;64;p7"/>
            <p:cNvSpPr/>
            <p:nvPr/>
          </p:nvSpPr>
          <p:spPr>
            <a:xfrm>
              <a:off x="342900" y="1238250"/>
              <a:ext cx="4134000" cy="381000"/>
            </a:xfrm>
            <a:prstGeom prst="roundRect">
              <a:avLst>
                <a:gd fmla="val 20000" name="adj"/>
              </a:avLst>
            </a:prstGeom>
            <a:solidFill>
              <a:srgbClr val="1A1A1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 name="Google Shape;65;p7"/>
            <p:cNvSpPr/>
            <p:nvPr/>
          </p:nvSpPr>
          <p:spPr>
            <a:xfrm>
              <a:off x="342900" y="1524000"/>
              <a:ext cx="4134000" cy="95400"/>
            </a:xfrm>
            <a:prstGeom prst="rect">
              <a:avLst/>
            </a:prstGeom>
            <a:solidFill>
              <a:srgbClr val="1A1A1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 name="Google Shape;66;p7"/>
            <p:cNvSpPr txBox="1"/>
            <p:nvPr/>
          </p:nvSpPr>
          <p:spPr>
            <a:xfrm>
              <a:off x="438150" y="1238250"/>
              <a:ext cx="39432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700">
                  <a:solidFill>
                    <a:srgbClr val="FFFFFF"/>
                  </a:solidFill>
                  <a:latin typeface="Calibri"/>
                  <a:ea typeface="Calibri"/>
                  <a:cs typeface="Calibri"/>
                  <a:sym typeface="Calibri"/>
                </a:rPr>
                <a:t>1. Stage-level Batching</a:t>
              </a:r>
              <a:endParaRPr b="1" sz="1700">
                <a:solidFill>
                  <a:srgbClr val="FFFFFF"/>
                </a:solidFill>
                <a:latin typeface="Calibri"/>
                <a:ea typeface="Calibri"/>
                <a:cs typeface="Calibri"/>
                <a:sym typeface="Calibri"/>
              </a:endParaRPr>
            </a:p>
          </p:txBody>
        </p:sp>
        <p:sp>
          <p:nvSpPr>
            <p:cNvPr id="67" name="Google Shape;67;p7"/>
            <p:cNvSpPr txBox="1"/>
            <p:nvPr/>
          </p:nvSpPr>
          <p:spPr>
            <a:xfrm>
              <a:off x="476250" y="1666875"/>
              <a:ext cx="3867300" cy="9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4A4A4A"/>
                  </a:solidFill>
                  <a:latin typeface="Calibri"/>
                  <a:ea typeface="Calibri"/>
                  <a:cs typeface="Calibri"/>
                  <a:sym typeface="Calibri"/>
                </a:rPr>
                <a:t>Amortizes GPU work across multiple requests by letting stages (especially decoder/audio) process batches together, cutting per-request overhead.</a:t>
              </a:r>
              <a:endParaRPr b="0" sz="1300">
                <a:solidFill>
                  <a:srgbClr val="4A4A4A"/>
                </a:solidFill>
                <a:latin typeface="Calibri"/>
                <a:ea typeface="Calibri"/>
                <a:cs typeface="Calibri"/>
                <a:sym typeface="Calibri"/>
              </a:endParaRPr>
            </a:p>
          </p:txBody>
        </p:sp>
      </p:grpSp>
      <p:grpSp>
        <p:nvGrpSpPr>
          <p:cNvPr id="68" name="Google Shape;68;p7"/>
          <p:cNvGrpSpPr/>
          <p:nvPr/>
        </p:nvGrpSpPr>
        <p:grpSpPr>
          <a:xfrm>
            <a:off x="4667250" y="1238250"/>
            <a:ext cx="4134000" cy="1428900"/>
            <a:chOff x="4667250" y="1238250"/>
            <a:chExt cx="4134000" cy="1428900"/>
          </a:xfrm>
        </p:grpSpPr>
        <p:sp>
          <p:nvSpPr>
            <p:cNvPr id="69" name="Google Shape;69;p7"/>
            <p:cNvSpPr/>
            <p:nvPr/>
          </p:nvSpPr>
          <p:spPr>
            <a:xfrm>
              <a:off x="4667250" y="1238250"/>
              <a:ext cx="4134000" cy="1428900"/>
            </a:xfrm>
            <a:prstGeom prst="roundRect">
              <a:avLst>
                <a:gd fmla="val 5333" name="adj"/>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 name="Google Shape;70;p7"/>
            <p:cNvSpPr/>
            <p:nvPr/>
          </p:nvSpPr>
          <p:spPr>
            <a:xfrm>
              <a:off x="4667250" y="1238250"/>
              <a:ext cx="4134000" cy="381000"/>
            </a:xfrm>
            <a:prstGeom prst="roundRect">
              <a:avLst>
                <a:gd fmla="val 20000" name="adj"/>
              </a:avLst>
            </a:prstGeom>
            <a:solidFill>
              <a:srgbClr val="1A1A1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 name="Google Shape;71;p7"/>
            <p:cNvSpPr/>
            <p:nvPr/>
          </p:nvSpPr>
          <p:spPr>
            <a:xfrm>
              <a:off x="4667250" y="1524000"/>
              <a:ext cx="4134000" cy="95400"/>
            </a:xfrm>
            <a:prstGeom prst="rect">
              <a:avLst/>
            </a:prstGeom>
            <a:solidFill>
              <a:srgbClr val="1A1A1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 name="Google Shape;72;p7"/>
            <p:cNvSpPr txBox="1"/>
            <p:nvPr/>
          </p:nvSpPr>
          <p:spPr>
            <a:xfrm>
              <a:off x="4762500" y="1238250"/>
              <a:ext cx="39432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700">
                  <a:solidFill>
                    <a:srgbClr val="FFFFFF"/>
                  </a:solidFill>
                  <a:latin typeface="Calibri"/>
                  <a:ea typeface="Calibri"/>
                  <a:cs typeface="Calibri"/>
                  <a:sym typeface="Calibri"/>
                </a:rPr>
                <a:t>2. Async Two-Stage Decoding</a:t>
              </a:r>
              <a:endParaRPr b="1" sz="1700">
                <a:solidFill>
                  <a:srgbClr val="FFFFFF"/>
                </a:solidFill>
                <a:latin typeface="Calibri"/>
                <a:ea typeface="Calibri"/>
                <a:cs typeface="Calibri"/>
                <a:sym typeface="Calibri"/>
              </a:endParaRPr>
            </a:p>
          </p:txBody>
        </p:sp>
        <p:sp>
          <p:nvSpPr>
            <p:cNvPr id="73" name="Google Shape;73;p7"/>
            <p:cNvSpPr txBox="1"/>
            <p:nvPr/>
          </p:nvSpPr>
          <p:spPr>
            <a:xfrm>
              <a:off x="4800600" y="1666875"/>
              <a:ext cx="3867300" cy="9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4A4A4A"/>
                  </a:solidFill>
                  <a:latin typeface="Calibri"/>
                  <a:ea typeface="Calibri"/>
                  <a:cs typeface="Calibri"/>
                  <a:sym typeface="Calibri"/>
                </a:rPr>
                <a:t>Splits TTS into streaming token-generation and waveform-decoding stages. Overlaps decoding with generation to significantly reduce TTFA.</a:t>
              </a:r>
              <a:endParaRPr b="0" sz="1300">
                <a:solidFill>
                  <a:srgbClr val="4A4A4A"/>
                </a:solidFill>
                <a:latin typeface="Calibri"/>
                <a:ea typeface="Calibri"/>
                <a:cs typeface="Calibri"/>
                <a:sym typeface="Calibri"/>
              </a:endParaRPr>
            </a:p>
          </p:txBody>
        </p:sp>
      </p:grpSp>
      <p:grpSp>
        <p:nvGrpSpPr>
          <p:cNvPr id="74" name="Google Shape;74;p7"/>
          <p:cNvGrpSpPr/>
          <p:nvPr/>
        </p:nvGrpSpPr>
        <p:grpSpPr>
          <a:xfrm>
            <a:off x="342900" y="2809875"/>
            <a:ext cx="4134000" cy="1428900"/>
            <a:chOff x="342900" y="2809875"/>
            <a:chExt cx="4134000" cy="1428900"/>
          </a:xfrm>
        </p:grpSpPr>
        <p:sp>
          <p:nvSpPr>
            <p:cNvPr id="75" name="Google Shape;75;p7"/>
            <p:cNvSpPr/>
            <p:nvPr/>
          </p:nvSpPr>
          <p:spPr>
            <a:xfrm>
              <a:off x="342900" y="2809875"/>
              <a:ext cx="4134000" cy="1428900"/>
            </a:xfrm>
            <a:prstGeom prst="roundRect">
              <a:avLst>
                <a:gd fmla="val 5333" name="adj"/>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 name="Google Shape;76;p7"/>
            <p:cNvSpPr/>
            <p:nvPr/>
          </p:nvSpPr>
          <p:spPr>
            <a:xfrm>
              <a:off x="342900" y="2809875"/>
              <a:ext cx="4134000" cy="381000"/>
            </a:xfrm>
            <a:prstGeom prst="roundRect">
              <a:avLst>
                <a:gd fmla="val 20000" name="adj"/>
              </a:avLst>
            </a:prstGeom>
            <a:solidFill>
              <a:srgbClr val="1A1A1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 name="Google Shape;77;p7"/>
            <p:cNvSpPr/>
            <p:nvPr/>
          </p:nvSpPr>
          <p:spPr>
            <a:xfrm>
              <a:off x="342900" y="3095625"/>
              <a:ext cx="4134000" cy="95400"/>
            </a:xfrm>
            <a:prstGeom prst="rect">
              <a:avLst/>
            </a:prstGeom>
            <a:solidFill>
              <a:srgbClr val="1A1A1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 name="Google Shape;78;p7"/>
            <p:cNvSpPr txBox="1"/>
            <p:nvPr/>
          </p:nvSpPr>
          <p:spPr>
            <a:xfrm>
              <a:off x="438150" y="2809875"/>
              <a:ext cx="39432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700">
                  <a:solidFill>
                    <a:srgbClr val="FFFFFF"/>
                  </a:solidFill>
                  <a:latin typeface="Calibri"/>
                  <a:ea typeface="Calibri"/>
                  <a:cs typeface="Calibri"/>
                  <a:sym typeface="Calibri"/>
                </a:rPr>
                <a:t>3. KV-Cache Management</a:t>
              </a:r>
              <a:endParaRPr b="1" sz="1700">
                <a:solidFill>
                  <a:srgbClr val="FFFFFF"/>
                </a:solidFill>
                <a:latin typeface="Calibri"/>
                <a:ea typeface="Calibri"/>
                <a:cs typeface="Calibri"/>
                <a:sym typeface="Calibri"/>
              </a:endParaRPr>
            </a:p>
          </p:txBody>
        </p:sp>
        <p:sp>
          <p:nvSpPr>
            <p:cNvPr id="79" name="Google Shape;79;p7"/>
            <p:cNvSpPr txBox="1"/>
            <p:nvPr/>
          </p:nvSpPr>
          <p:spPr>
            <a:xfrm>
              <a:off x="476250" y="3238500"/>
              <a:ext cx="3867300" cy="9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4A4A4A"/>
                  </a:solidFill>
                  <a:latin typeface="Calibri"/>
                  <a:ea typeface="Calibri"/>
                  <a:cs typeface="Calibri"/>
                  <a:sym typeface="Calibri"/>
                </a:rPr>
                <a:t>Reuses attention history in the local transformer. Processes only new tokens instead of recomputing growing context, speeding up MOSS-TTS-LOCAL.</a:t>
              </a:r>
              <a:endParaRPr b="0" sz="1300">
                <a:solidFill>
                  <a:srgbClr val="4A4A4A"/>
                </a:solidFill>
                <a:latin typeface="Calibri"/>
                <a:ea typeface="Calibri"/>
                <a:cs typeface="Calibri"/>
                <a:sym typeface="Calibri"/>
              </a:endParaRPr>
            </a:p>
          </p:txBody>
        </p:sp>
      </p:grpSp>
      <p:sp>
        <p:nvSpPr>
          <p:cNvPr id="80" name="Google Shape;80;p7"/>
          <p:cNvSpPr/>
          <p:nvPr/>
        </p:nvSpPr>
        <p:spPr>
          <a:xfrm>
            <a:off x="342900" y="4903470"/>
            <a:ext cx="41148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800"/>
              <a:buFont typeface="Calibri"/>
              <a:buNone/>
            </a:pPr>
            <a:r>
              <a:rPr b="0" i="1" lang="en" sz="800" u="none" cap="none" strike="noStrike">
                <a:solidFill>
                  <a:srgbClr val="6B6F76"/>
                </a:solidFill>
                <a:latin typeface="Calibri"/>
                <a:ea typeface="Calibri"/>
                <a:cs typeface="Calibri"/>
                <a:sym typeface="Calibri"/>
              </a:rPr>
              <a:t>HPML · Spring 2026</a:t>
            </a:r>
            <a:endParaRPr b="0" i="0" sz="800" u="none" cap="none" strike="noStrike">
              <a:solidFill>
                <a:schemeClr val="dk1"/>
              </a:solidFill>
              <a:latin typeface="Calibri"/>
              <a:ea typeface="Calibri"/>
              <a:cs typeface="Calibri"/>
              <a:sym typeface="Calibri"/>
            </a:endParaRPr>
          </a:p>
        </p:txBody>
      </p:sp>
      <p:sp>
        <p:nvSpPr>
          <p:cNvPr id="81" name="Google Shape;81;p7"/>
          <p:cNvSpPr/>
          <p:nvPr/>
        </p:nvSpPr>
        <p:spPr>
          <a:xfrm>
            <a:off x="4686300" y="4905375"/>
            <a:ext cx="4114800" cy="209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r">
              <a:spcBef>
                <a:spcPts val="0"/>
              </a:spcBef>
              <a:spcAft>
                <a:spcPts val="0"/>
              </a:spcAft>
              <a:buNone/>
            </a:pPr>
            <a:r>
              <a:rPr b="0" lang="en" sz="800">
                <a:solidFill>
                  <a:srgbClr val="6B6F76"/>
                </a:solidFill>
                <a:latin typeface="Calibri"/>
                <a:ea typeface="Calibri"/>
                <a:cs typeface="Calibri"/>
                <a:sym typeface="Calibri"/>
              </a:rPr>
              <a:t>4 / 1</a:t>
            </a:r>
            <a:r>
              <a:rPr lang="en" sz="800">
                <a:solidFill>
                  <a:srgbClr val="6B6F76"/>
                </a:solidFill>
                <a:latin typeface="Calibri"/>
                <a:ea typeface="Calibri"/>
                <a:cs typeface="Calibri"/>
                <a:sym typeface="Calibri"/>
              </a:rPr>
              <a:t>5</a:t>
            </a:r>
            <a:endParaRPr b="0" sz="800">
              <a:solidFill>
                <a:srgbClr val="6B6F76"/>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6" name="Shape 86"/>
        <p:cNvGrpSpPr/>
        <p:nvPr/>
      </p:nvGrpSpPr>
      <p:grpSpPr>
        <a:xfrm>
          <a:off x="0" y="0"/>
          <a:ext cx="0" cy="0"/>
          <a:chOff x="0" y="0"/>
          <a:chExt cx="0" cy="0"/>
        </a:xfrm>
      </p:grpSpPr>
      <p:sp>
        <p:nvSpPr>
          <p:cNvPr id="87" name="Google Shape;87;p8"/>
          <p:cNvSpPr/>
          <p:nvPr/>
        </p:nvSpPr>
        <p:spPr>
          <a:xfrm>
            <a:off x="342900" y="381000"/>
            <a:ext cx="84582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2800">
                <a:solidFill>
                  <a:srgbClr val="1A1A1A"/>
                </a:solidFill>
                <a:latin typeface="Calibri"/>
                <a:ea typeface="Calibri"/>
                <a:cs typeface="Calibri"/>
                <a:sym typeface="Calibri"/>
              </a:rPr>
              <a:t>Technical Approach: MOSS-TTS-Delay Optimizations</a:t>
            </a:r>
            <a:endParaRPr b="1" sz="2800">
              <a:solidFill>
                <a:srgbClr val="1A1A1A"/>
              </a:solidFill>
              <a:latin typeface="Calibri"/>
              <a:ea typeface="Calibri"/>
              <a:cs typeface="Calibri"/>
              <a:sym typeface="Calibri"/>
            </a:endParaRPr>
          </a:p>
        </p:txBody>
      </p:sp>
      <p:sp>
        <p:nvSpPr>
          <p:cNvPr id="88" name="Google Shape;88;p8"/>
          <p:cNvSpPr/>
          <p:nvPr/>
        </p:nvSpPr>
        <p:spPr>
          <a:xfrm>
            <a:off x="342900" y="857250"/>
            <a:ext cx="8229600" cy="209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1" lang="en" sz="900">
                <a:solidFill>
                  <a:srgbClr val="6B6F76"/>
                </a:solidFill>
                <a:latin typeface="Calibri"/>
                <a:ea typeface="Calibri"/>
                <a:cs typeface="Calibri"/>
                <a:sym typeface="Calibri"/>
              </a:rPr>
              <a:t>Core system optimizations focusing on latency reduction and computational efficiency.</a:t>
            </a:r>
            <a:endParaRPr b="0" i="1" sz="900">
              <a:solidFill>
                <a:srgbClr val="6B6F76"/>
              </a:solidFill>
              <a:latin typeface="Calibri"/>
              <a:ea typeface="Calibri"/>
              <a:cs typeface="Calibri"/>
              <a:sym typeface="Calibri"/>
            </a:endParaRPr>
          </a:p>
        </p:txBody>
      </p:sp>
      <p:grpSp>
        <p:nvGrpSpPr>
          <p:cNvPr id="89" name="Google Shape;89;p8"/>
          <p:cNvGrpSpPr/>
          <p:nvPr/>
        </p:nvGrpSpPr>
        <p:grpSpPr>
          <a:xfrm>
            <a:off x="342900" y="1238250"/>
            <a:ext cx="4134000" cy="1428900"/>
            <a:chOff x="342900" y="1238250"/>
            <a:chExt cx="4134000" cy="1428900"/>
          </a:xfrm>
        </p:grpSpPr>
        <p:sp>
          <p:nvSpPr>
            <p:cNvPr id="90" name="Google Shape;90;p8"/>
            <p:cNvSpPr/>
            <p:nvPr/>
          </p:nvSpPr>
          <p:spPr>
            <a:xfrm>
              <a:off x="342900" y="1238250"/>
              <a:ext cx="4134000" cy="1428900"/>
            </a:xfrm>
            <a:prstGeom prst="roundRect">
              <a:avLst>
                <a:gd fmla="val 5333" name="adj"/>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1" name="Google Shape;91;p8"/>
            <p:cNvSpPr/>
            <p:nvPr/>
          </p:nvSpPr>
          <p:spPr>
            <a:xfrm>
              <a:off x="342900" y="1238250"/>
              <a:ext cx="4134000" cy="381000"/>
            </a:xfrm>
            <a:prstGeom prst="roundRect">
              <a:avLst>
                <a:gd fmla="val 20000" name="adj"/>
              </a:avLst>
            </a:prstGeom>
            <a:solidFill>
              <a:srgbClr val="1A1A1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 name="Google Shape;92;p8"/>
            <p:cNvSpPr/>
            <p:nvPr/>
          </p:nvSpPr>
          <p:spPr>
            <a:xfrm>
              <a:off x="342900" y="1524000"/>
              <a:ext cx="4134000" cy="95400"/>
            </a:xfrm>
            <a:prstGeom prst="rect">
              <a:avLst/>
            </a:prstGeom>
            <a:solidFill>
              <a:srgbClr val="1A1A1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 name="Google Shape;93;p8"/>
            <p:cNvSpPr txBox="1"/>
            <p:nvPr/>
          </p:nvSpPr>
          <p:spPr>
            <a:xfrm>
              <a:off x="438150" y="1238250"/>
              <a:ext cx="39432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700">
                  <a:solidFill>
                    <a:srgbClr val="FFFFFF"/>
                  </a:solidFill>
                  <a:latin typeface="Calibri"/>
                  <a:ea typeface="Calibri"/>
                  <a:cs typeface="Calibri"/>
                  <a:sym typeface="Calibri"/>
                </a:rPr>
                <a:t>1. Incremental Async De-delay</a:t>
              </a:r>
              <a:endParaRPr b="1" sz="1700">
                <a:solidFill>
                  <a:srgbClr val="FFFFFF"/>
                </a:solidFill>
                <a:latin typeface="Calibri"/>
                <a:ea typeface="Calibri"/>
                <a:cs typeface="Calibri"/>
                <a:sym typeface="Calibri"/>
              </a:endParaRPr>
            </a:p>
          </p:txBody>
        </p:sp>
        <p:sp>
          <p:nvSpPr>
            <p:cNvPr id="94" name="Google Shape;94;p8"/>
            <p:cNvSpPr txBox="1"/>
            <p:nvPr/>
          </p:nvSpPr>
          <p:spPr>
            <a:xfrm>
              <a:off x="476250" y="1666875"/>
              <a:ext cx="3867300" cy="9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4A4A4A"/>
                  </a:solidFill>
                  <a:latin typeface="Calibri"/>
                  <a:ea typeface="Calibri"/>
                  <a:cs typeface="Calibri"/>
                  <a:sym typeface="Calibri"/>
                </a:rPr>
                <a:t>Scatters newly generated delay rows directly into restored codec-frame slots. Avoids rebuilding the matrix and re-applying de-delay every step.</a:t>
              </a:r>
              <a:endParaRPr b="0" sz="1500">
                <a:solidFill>
                  <a:srgbClr val="4A4A4A"/>
                </a:solidFill>
                <a:latin typeface="Calibri"/>
                <a:ea typeface="Calibri"/>
                <a:cs typeface="Calibri"/>
                <a:sym typeface="Calibri"/>
              </a:endParaRPr>
            </a:p>
          </p:txBody>
        </p:sp>
      </p:grpSp>
      <p:grpSp>
        <p:nvGrpSpPr>
          <p:cNvPr id="95" name="Google Shape;95;p8"/>
          <p:cNvGrpSpPr/>
          <p:nvPr/>
        </p:nvGrpSpPr>
        <p:grpSpPr>
          <a:xfrm>
            <a:off x="4667250" y="1238250"/>
            <a:ext cx="4134000" cy="1428900"/>
            <a:chOff x="4667250" y="1238250"/>
            <a:chExt cx="4134000" cy="1428900"/>
          </a:xfrm>
        </p:grpSpPr>
        <p:sp>
          <p:nvSpPr>
            <p:cNvPr id="96" name="Google Shape;96;p8"/>
            <p:cNvSpPr/>
            <p:nvPr/>
          </p:nvSpPr>
          <p:spPr>
            <a:xfrm>
              <a:off x="4667250" y="1238250"/>
              <a:ext cx="4134000" cy="1428900"/>
            </a:xfrm>
            <a:prstGeom prst="roundRect">
              <a:avLst>
                <a:gd fmla="val 5333" name="adj"/>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 name="Google Shape;97;p8"/>
            <p:cNvSpPr/>
            <p:nvPr/>
          </p:nvSpPr>
          <p:spPr>
            <a:xfrm>
              <a:off x="4667250" y="1238250"/>
              <a:ext cx="4134000" cy="381000"/>
            </a:xfrm>
            <a:prstGeom prst="roundRect">
              <a:avLst>
                <a:gd fmla="val 20000" name="adj"/>
              </a:avLst>
            </a:prstGeom>
            <a:solidFill>
              <a:srgbClr val="1A1A1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 name="Google Shape;98;p8"/>
            <p:cNvSpPr/>
            <p:nvPr/>
          </p:nvSpPr>
          <p:spPr>
            <a:xfrm>
              <a:off x="4667250" y="1524000"/>
              <a:ext cx="4134000" cy="95400"/>
            </a:xfrm>
            <a:prstGeom prst="rect">
              <a:avLst/>
            </a:prstGeom>
            <a:solidFill>
              <a:srgbClr val="1A1A1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 name="Google Shape;99;p8"/>
            <p:cNvSpPr txBox="1"/>
            <p:nvPr/>
          </p:nvSpPr>
          <p:spPr>
            <a:xfrm>
              <a:off x="4762500" y="1238250"/>
              <a:ext cx="39432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700">
                  <a:solidFill>
                    <a:srgbClr val="FFFFFF"/>
                  </a:solidFill>
                  <a:latin typeface="Calibri"/>
                  <a:ea typeface="Calibri"/>
                  <a:cs typeface="Calibri"/>
                  <a:sym typeface="Calibri"/>
                </a:rPr>
                <a:t>2. Packed Embeddings &amp; Heads</a:t>
              </a:r>
              <a:endParaRPr b="1" sz="1700">
                <a:solidFill>
                  <a:srgbClr val="FFFFFF"/>
                </a:solidFill>
                <a:latin typeface="Calibri"/>
                <a:ea typeface="Calibri"/>
                <a:cs typeface="Calibri"/>
                <a:sym typeface="Calibri"/>
              </a:endParaRPr>
            </a:p>
          </p:txBody>
        </p:sp>
        <p:sp>
          <p:nvSpPr>
            <p:cNvPr id="100" name="Google Shape;100;p8"/>
            <p:cNvSpPr txBox="1"/>
            <p:nvPr/>
          </p:nvSpPr>
          <p:spPr>
            <a:xfrm>
              <a:off x="4800600" y="1666875"/>
              <a:ext cx="3867300" cy="9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4A4A4A"/>
                  </a:solidFill>
                  <a:latin typeface="Calibri"/>
                  <a:ea typeface="Calibri"/>
                  <a:cs typeface="Calibri"/>
                  <a:sym typeface="Calibri"/>
                </a:rPr>
                <a:t>Uses packed tensors for 32 modules/heads. Packed embedding [n_vq, vocab, hidden] is processed via batched projection/einsum for efficiency.</a:t>
              </a:r>
              <a:endParaRPr b="0" sz="1500">
                <a:solidFill>
                  <a:srgbClr val="4A4A4A"/>
                </a:solidFill>
                <a:latin typeface="Calibri"/>
                <a:ea typeface="Calibri"/>
                <a:cs typeface="Calibri"/>
                <a:sym typeface="Calibri"/>
              </a:endParaRPr>
            </a:p>
          </p:txBody>
        </p:sp>
      </p:grpSp>
      <p:grpSp>
        <p:nvGrpSpPr>
          <p:cNvPr id="101" name="Google Shape;101;p8"/>
          <p:cNvGrpSpPr/>
          <p:nvPr/>
        </p:nvGrpSpPr>
        <p:grpSpPr>
          <a:xfrm>
            <a:off x="342900" y="2809875"/>
            <a:ext cx="4134000" cy="1428900"/>
            <a:chOff x="342900" y="2809875"/>
            <a:chExt cx="4134000" cy="1428900"/>
          </a:xfrm>
        </p:grpSpPr>
        <p:sp>
          <p:nvSpPr>
            <p:cNvPr id="102" name="Google Shape;102;p8"/>
            <p:cNvSpPr/>
            <p:nvPr/>
          </p:nvSpPr>
          <p:spPr>
            <a:xfrm>
              <a:off x="342900" y="2809875"/>
              <a:ext cx="4134000" cy="1428900"/>
            </a:xfrm>
            <a:prstGeom prst="roundRect">
              <a:avLst>
                <a:gd fmla="val 5333" name="adj"/>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 name="Google Shape;103;p8"/>
            <p:cNvSpPr/>
            <p:nvPr/>
          </p:nvSpPr>
          <p:spPr>
            <a:xfrm>
              <a:off x="342900" y="2809875"/>
              <a:ext cx="4134000" cy="381000"/>
            </a:xfrm>
            <a:prstGeom prst="roundRect">
              <a:avLst>
                <a:gd fmla="val 20000" name="adj"/>
              </a:avLst>
            </a:prstGeom>
            <a:solidFill>
              <a:srgbClr val="1A1A1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 name="Google Shape;104;p8"/>
            <p:cNvSpPr/>
            <p:nvPr/>
          </p:nvSpPr>
          <p:spPr>
            <a:xfrm>
              <a:off x="342900" y="3095625"/>
              <a:ext cx="4134000" cy="95400"/>
            </a:xfrm>
            <a:prstGeom prst="rect">
              <a:avLst/>
            </a:prstGeom>
            <a:solidFill>
              <a:srgbClr val="1A1A1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 name="Google Shape;105;p8"/>
            <p:cNvSpPr txBox="1"/>
            <p:nvPr/>
          </p:nvSpPr>
          <p:spPr>
            <a:xfrm>
              <a:off x="438150" y="2809875"/>
              <a:ext cx="39432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700">
                  <a:solidFill>
                    <a:srgbClr val="FFFFFF"/>
                  </a:solidFill>
                  <a:latin typeface="Calibri"/>
                  <a:ea typeface="Calibri"/>
                  <a:cs typeface="Calibri"/>
                  <a:sym typeface="Calibri"/>
                </a:rPr>
                <a:t>3. Vectorized Sampling</a:t>
              </a:r>
              <a:endParaRPr b="1" sz="1700">
                <a:solidFill>
                  <a:srgbClr val="FFFFFF"/>
                </a:solidFill>
                <a:latin typeface="Calibri"/>
                <a:ea typeface="Calibri"/>
                <a:cs typeface="Calibri"/>
                <a:sym typeface="Calibri"/>
              </a:endParaRPr>
            </a:p>
          </p:txBody>
        </p:sp>
        <p:sp>
          <p:nvSpPr>
            <p:cNvPr id="106" name="Google Shape;106;p8"/>
            <p:cNvSpPr txBox="1"/>
            <p:nvPr/>
          </p:nvSpPr>
          <p:spPr>
            <a:xfrm>
              <a:off x="476250" y="3238500"/>
              <a:ext cx="3867300" cy="9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4A4A4A"/>
                  </a:solidFill>
                  <a:latin typeface="Calibri"/>
                  <a:ea typeface="Calibri"/>
                  <a:cs typeface="Calibri"/>
                  <a:sym typeface="Calibri"/>
                </a:rPr>
                <a:t>Tensorized sampling over request/codebook pairs. Skips redundant CPU history copies when repetition penalty is disabled (penalty=1.0).</a:t>
              </a:r>
              <a:endParaRPr b="0" sz="1500">
                <a:solidFill>
                  <a:srgbClr val="4A4A4A"/>
                </a:solidFill>
                <a:latin typeface="Calibri"/>
                <a:ea typeface="Calibri"/>
                <a:cs typeface="Calibri"/>
                <a:sym typeface="Calibri"/>
              </a:endParaRPr>
            </a:p>
          </p:txBody>
        </p:sp>
      </p:grpSp>
      <p:grpSp>
        <p:nvGrpSpPr>
          <p:cNvPr id="107" name="Google Shape;107;p8"/>
          <p:cNvGrpSpPr/>
          <p:nvPr/>
        </p:nvGrpSpPr>
        <p:grpSpPr>
          <a:xfrm>
            <a:off x="4667250" y="2809875"/>
            <a:ext cx="4134000" cy="1428900"/>
            <a:chOff x="4667250" y="2809875"/>
            <a:chExt cx="4134000" cy="1428900"/>
          </a:xfrm>
        </p:grpSpPr>
        <p:sp>
          <p:nvSpPr>
            <p:cNvPr id="108" name="Google Shape;108;p8"/>
            <p:cNvSpPr/>
            <p:nvPr/>
          </p:nvSpPr>
          <p:spPr>
            <a:xfrm>
              <a:off x="4667250" y="2809875"/>
              <a:ext cx="4134000" cy="1428900"/>
            </a:xfrm>
            <a:prstGeom prst="roundRect">
              <a:avLst>
                <a:gd fmla="val 5333" name="adj"/>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 name="Google Shape;109;p8"/>
            <p:cNvSpPr/>
            <p:nvPr/>
          </p:nvSpPr>
          <p:spPr>
            <a:xfrm>
              <a:off x="4667250" y="2809875"/>
              <a:ext cx="4134000" cy="381000"/>
            </a:xfrm>
            <a:prstGeom prst="roundRect">
              <a:avLst>
                <a:gd fmla="val 20000" name="adj"/>
              </a:avLst>
            </a:prstGeom>
            <a:solidFill>
              <a:srgbClr val="1A1A1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 name="Google Shape;110;p8"/>
            <p:cNvSpPr/>
            <p:nvPr/>
          </p:nvSpPr>
          <p:spPr>
            <a:xfrm>
              <a:off x="4667250" y="3095625"/>
              <a:ext cx="4134000" cy="95400"/>
            </a:xfrm>
            <a:prstGeom prst="rect">
              <a:avLst/>
            </a:prstGeom>
            <a:solidFill>
              <a:srgbClr val="1A1A1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 name="Google Shape;111;p8"/>
            <p:cNvSpPr txBox="1"/>
            <p:nvPr/>
          </p:nvSpPr>
          <p:spPr>
            <a:xfrm>
              <a:off x="4762500" y="2809875"/>
              <a:ext cx="39432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700">
                  <a:solidFill>
                    <a:srgbClr val="FFFFFF"/>
                  </a:solidFill>
                  <a:latin typeface="Calibri"/>
                  <a:ea typeface="Calibri"/>
                  <a:cs typeface="Calibri"/>
                  <a:sym typeface="Calibri"/>
                </a:rPr>
                <a:t>4. Dynamic Async Chunking</a:t>
              </a:r>
              <a:endParaRPr b="1" sz="1700">
                <a:solidFill>
                  <a:srgbClr val="FFFFFF"/>
                </a:solidFill>
                <a:latin typeface="Calibri"/>
                <a:ea typeface="Calibri"/>
                <a:cs typeface="Calibri"/>
                <a:sym typeface="Calibri"/>
              </a:endParaRPr>
            </a:p>
          </p:txBody>
        </p:sp>
        <p:sp>
          <p:nvSpPr>
            <p:cNvPr id="112" name="Google Shape;112;p8"/>
            <p:cNvSpPr txBox="1"/>
            <p:nvPr/>
          </p:nvSpPr>
          <p:spPr>
            <a:xfrm>
              <a:off x="4800600" y="3238500"/>
              <a:ext cx="3867300" cy="9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4A4A4A"/>
                  </a:solidFill>
                  <a:latin typeface="Calibri"/>
                  <a:ea typeface="Calibri"/>
                  <a:cs typeface="Calibri"/>
                  <a:sym typeface="Calibri"/>
                </a:rPr>
                <a:t>Emits 3-frame initial chunk to minimize TTFA, then scales to 50-frame chunks to optimize decoder efficiency and scheduler overhead.</a:t>
              </a:r>
              <a:endParaRPr b="0" sz="1500">
                <a:solidFill>
                  <a:srgbClr val="4A4A4A"/>
                </a:solidFill>
                <a:latin typeface="Calibri"/>
                <a:ea typeface="Calibri"/>
                <a:cs typeface="Calibri"/>
                <a:sym typeface="Calibri"/>
              </a:endParaRPr>
            </a:p>
          </p:txBody>
        </p:sp>
      </p:grpSp>
      <p:sp>
        <p:nvSpPr>
          <p:cNvPr id="113" name="Google Shape;113;p8"/>
          <p:cNvSpPr/>
          <p:nvPr/>
        </p:nvSpPr>
        <p:spPr>
          <a:xfrm>
            <a:off x="342900" y="4905375"/>
            <a:ext cx="4114800" cy="209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1" lang="en" sz="800">
                <a:solidFill>
                  <a:srgbClr val="6B6F76"/>
                </a:solidFill>
                <a:latin typeface="Calibri"/>
                <a:ea typeface="Calibri"/>
                <a:cs typeface="Calibri"/>
                <a:sym typeface="Calibri"/>
              </a:rPr>
              <a:t>HPML · Spring 2026</a:t>
            </a:r>
            <a:endParaRPr b="0" i="1" sz="800">
              <a:solidFill>
                <a:srgbClr val="6B6F76"/>
              </a:solidFill>
              <a:latin typeface="Calibri"/>
              <a:ea typeface="Calibri"/>
              <a:cs typeface="Calibri"/>
              <a:sym typeface="Calibri"/>
            </a:endParaRPr>
          </a:p>
        </p:txBody>
      </p:sp>
      <p:sp>
        <p:nvSpPr>
          <p:cNvPr id="114" name="Google Shape;114;p8"/>
          <p:cNvSpPr/>
          <p:nvPr/>
        </p:nvSpPr>
        <p:spPr>
          <a:xfrm>
            <a:off x="4686300" y="4905375"/>
            <a:ext cx="4114800" cy="209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r">
              <a:spcBef>
                <a:spcPts val="0"/>
              </a:spcBef>
              <a:spcAft>
                <a:spcPts val="0"/>
              </a:spcAft>
              <a:buNone/>
            </a:pPr>
            <a:r>
              <a:rPr lang="en" sz="800">
                <a:solidFill>
                  <a:srgbClr val="6B6F76"/>
                </a:solidFill>
                <a:latin typeface="Calibri"/>
                <a:ea typeface="Calibri"/>
                <a:cs typeface="Calibri"/>
                <a:sym typeface="Calibri"/>
              </a:rPr>
              <a:t>5</a:t>
            </a:r>
            <a:r>
              <a:rPr b="0" lang="en" sz="800">
                <a:solidFill>
                  <a:srgbClr val="6B6F76"/>
                </a:solidFill>
                <a:latin typeface="Calibri"/>
                <a:ea typeface="Calibri"/>
                <a:cs typeface="Calibri"/>
                <a:sym typeface="Calibri"/>
              </a:rPr>
              <a:t> / 1</a:t>
            </a:r>
            <a:r>
              <a:rPr lang="en" sz="800">
                <a:solidFill>
                  <a:srgbClr val="6B6F76"/>
                </a:solidFill>
                <a:latin typeface="Calibri"/>
                <a:ea typeface="Calibri"/>
                <a:cs typeface="Calibri"/>
                <a:sym typeface="Calibri"/>
              </a:rPr>
              <a:t>5</a:t>
            </a:r>
            <a:endParaRPr b="0" sz="800">
              <a:solidFill>
                <a:srgbClr val="6B6F76"/>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9" name="Shape 119"/>
        <p:cNvGrpSpPr/>
        <p:nvPr/>
      </p:nvGrpSpPr>
      <p:grpSpPr>
        <a:xfrm>
          <a:off x="0" y="0"/>
          <a:ext cx="0" cy="0"/>
          <a:chOff x="0" y="0"/>
          <a:chExt cx="0" cy="0"/>
        </a:xfrm>
      </p:grpSpPr>
      <p:sp>
        <p:nvSpPr>
          <p:cNvPr id="120" name="Google Shape;120;p9"/>
          <p:cNvSpPr/>
          <p:nvPr/>
        </p:nvSpPr>
        <p:spPr>
          <a:xfrm>
            <a:off x="342900" y="377190"/>
            <a:ext cx="8455914"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400"/>
              <a:buFont typeface="Calibri"/>
              <a:buNone/>
            </a:pPr>
            <a:r>
              <a:rPr b="1" i="0" lang="en" sz="2400" u="none" cap="none" strike="noStrike">
                <a:solidFill>
                  <a:srgbClr val="1A1A1A"/>
                </a:solidFill>
                <a:latin typeface="Calibri"/>
                <a:ea typeface="Calibri"/>
                <a:cs typeface="Calibri"/>
                <a:sym typeface="Calibri"/>
              </a:rPr>
              <a:t>Profiling Methodology</a:t>
            </a:r>
            <a:endParaRPr b="0" i="0" sz="2400" u="none" cap="none" strike="noStrike">
              <a:solidFill>
                <a:schemeClr val="dk1"/>
              </a:solidFill>
              <a:latin typeface="Calibri"/>
              <a:ea typeface="Calibri"/>
              <a:cs typeface="Calibri"/>
              <a:sym typeface="Calibri"/>
            </a:endParaRPr>
          </a:p>
        </p:txBody>
      </p:sp>
      <p:cxnSp>
        <p:nvCxnSpPr>
          <p:cNvPr id="121" name="Google Shape;121;p9"/>
          <p:cNvCxnSpPr/>
          <p:nvPr/>
        </p:nvCxnSpPr>
        <p:spPr>
          <a:xfrm>
            <a:off x="342900" y="891540"/>
            <a:ext cx="8455914" cy="0"/>
          </a:xfrm>
          <a:prstGeom prst="straightConnector1">
            <a:avLst/>
          </a:prstGeom>
          <a:noFill/>
          <a:ln cap="flat" cmpd="sng" w="9525">
            <a:solidFill>
              <a:srgbClr val="D9D9D9"/>
            </a:solidFill>
            <a:prstDash val="solid"/>
            <a:round/>
            <a:headEnd len="sm" w="sm" type="none"/>
            <a:tailEnd len="sm" w="sm" type="none"/>
          </a:ln>
        </p:spPr>
      </p:cxnSp>
      <p:sp>
        <p:nvSpPr>
          <p:cNvPr id="122" name="Google Shape;122;p9"/>
          <p:cNvSpPr/>
          <p:nvPr/>
        </p:nvSpPr>
        <p:spPr>
          <a:xfrm>
            <a:off x="342900" y="994410"/>
            <a:ext cx="82296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800"/>
              <a:buFont typeface="Calibri"/>
              <a:buNone/>
            </a:pPr>
            <a:r>
              <a:rPr b="0" i="1" lang="en" sz="800" u="none" cap="none" strike="noStrike">
                <a:solidFill>
                  <a:srgbClr val="6B6F76"/>
                </a:solidFill>
                <a:latin typeface="Calibri"/>
                <a:ea typeface="Calibri"/>
                <a:cs typeface="Calibri"/>
                <a:sym typeface="Calibri"/>
              </a:rPr>
              <a:t>Tools used, what you measured, how you ensured measurements are stable.</a:t>
            </a:r>
            <a:endParaRPr b="0" i="0" sz="800" u="none" cap="none" strike="noStrike">
              <a:solidFill>
                <a:schemeClr val="dk1"/>
              </a:solidFill>
              <a:latin typeface="Calibri"/>
              <a:ea typeface="Calibri"/>
              <a:cs typeface="Calibri"/>
              <a:sym typeface="Calibri"/>
            </a:endParaRPr>
          </a:p>
        </p:txBody>
      </p:sp>
      <p:sp>
        <p:nvSpPr>
          <p:cNvPr id="123" name="Google Shape;123;p9"/>
          <p:cNvSpPr/>
          <p:nvPr/>
        </p:nvSpPr>
        <p:spPr>
          <a:xfrm>
            <a:off x="342900" y="1371600"/>
            <a:ext cx="4114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200"/>
              <a:buFont typeface="Calibri"/>
              <a:buNone/>
            </a:pPr>
            <a:r>
              <a:rPr b="1" i="0" lang="en" sz="1700" u="none" cap="none" strike="noStrike">
                <a:solidFill>
                  <a:srgbClr val="1A1A1A"/>
                </a:solidFill>
                <a:latin typeface="Calibri"/>
                <a:ea typeface="Calibri"/>
                <a:cs typeface="Calibri"/>
                <a:sym typeface="Calibri"/>
              </a:rPr>
              <a:t>Tools</a:t>
            </a:r>
            <a:endParaRPr b="0" i="0" sz="1700" u="none" cap="none" strike="noStrike">
              <a:solidFill>
                <a:schemeClr val="dk1"/>
              </a:solidFill>
              <a:latin typeface="Calibri"/>
              <a:ea typeface="Calibri"/>
              <a:cs typeface="Calibri"/>
              <a:sym typeface="Calibri"/>
            </a:endParaRPr>
          </a:p>
        </p:txBody>
      </p:sp>
      <p:sp>
        <p:nvSpPr>
          <p:cNvPr id="124" name="Google Shape;124;p9"/>
          <p:cNvSpPr/>
          <p:nvPr/>
        </p:nvSpPr>
        <p:spPr>
          <a:xfrm>
            <a:off x="342900" y="1714500"/>
            <a:ext cx="4114800" cy="2743200"/>
          </a:xfrm>
          <a:prstGeom prst="rect">
            <a:avLst/>
          </a:prstGeom>
          <a:noFill/>
          <a:ln>
            <a:noFill/>
          </a:ln>
        </p:spPr>
        <p:txBody>
          <a:bodyPr anchorCtr="0" anchor="t" bIns="34275" lIns="68575" spcFirstLastPara="1" rIns="68575" wrap="square" tIns="34275">
            <a:noAutofit/>
          </a:bodyPr>
          <a:lstStyle/>
          <a:p>
            <a:pPr indent="-279400" lvl="0" marL="254000" marR="0" rtl="0" algn="l">
              <a:spcBef>
                <a:spcPts val="0"/>
              </a:spcBef>
              <a:spcAft>
                <a:spcPts val="0"/>
              </a:spcAft>
              <a:buClr>
                <a:srgbClr val="1A1A1A"/>
              </a:buClr>
              <a:buSzPts val="1600"/>
              <a:buFont typeface="Calibri"/>
              <a:buChar char="•"/>
            </a:pPr>
            <a:r>
              <a:rPr b="0" i="0" lang="en" sz="1600" u="none" cap="none" strike="noStrike">
                <a:solidFill>
                  <a:srgbClr val="1A1A1A"/>
                </a:solidFill>
                <a:latin typeface="Calibri"/>
                <a:ea typeface="Calibri"/>
                <a:cs typeface="Calibri"/>
                <a:sym typeface="Calibri"/>
              </a:rPr>
              <a:t>PyTorch Profiler / torch.profiler(HF)</a:t>
            </a:r>
            <a:endParaRPr sz="1600">
              <a:solidFill>
                <a:schemeClr val="dk1"/>
              </a:solidFill>
              <a:latin typeface="Calibri"/>
              <a:ea typeface="Calibri"/>
              <a:cs typeface="Calibri"/>
              <a:sym typeface="Calibri"/>
            </a:endParaRPr>
          </a:p>
          <a:p>
            <a:pPr indent="-279400" lvl="0" marL="254000" marR="0" rtl="0" algn="l">
              <a:spcBef>
                <a:spcPts val="0"/>
              </a:spcBef>
              <a:spcAft>
                <a:spcPts val="0"/>
              </a:spcAft>
              <a:buClr>
                <a:schemeClr val="dk1"/>
              </a:buClr>
              <a:buSzPts val="1600"/>
              <a:buFont typeface="Calibri"/>
              <a:buChar char="•"/>
            </a:pPr>
            <a:r>
              <a:rPr lang="en" sz="1600">
                <a:solidFill>
                  <a:schemeClr val="dk1"/>
                </a:solidFill>
                <a:latin typeface="Calibri"/>
                <a:ea typeface="Calibri"/>
                <a:cs typeface="Calibri"/>
                <a:sym typeface="Calibri"/>
              </a:rPr>
              <a:t>vLLM Profiler(Integration of pytorch profiler)</a:t>
            </a:r>
            <a:endParaRPr sz="1600">
              <a:solidFill>
                <a:schemeClr val="dk1"/>
              </a:solidFill>
              <a:latin typeface="Calibri"/>
              <a:ea typeface="Calibri"/>
              <a:cs typeface="Calibri"/>
              <a:sym typeface="Calibri"/>
            </a:endParaRPr>
          </a:p>
          <a:p>
            <a:pPr indent="-279400" lvl="0" marL="254000" marR="0" rtl="0" algn="l">
              <a:spcBef>
                <a:spcPts val="600"/>
              </a:spcBef>
              <a:spcAft>
                <a:spcPts val="0"/>
              </a:spcAft>
              <a:buClr>
                <a:srgbClr val="1A1A1A"/>
              </a:buClr>
              <a:buSzPts val="1600"/>
              <a:buFont typeface="Calibri"/>
              <a:buChar char="•"/>
            </a:pPr>
            <a:r>
              <a:rPr lang="en" sz="1600">
                <a:solidFill>
                  <a:srgbClr val="1A1A1A"/>
                </a:solidFill>
                <a:latin typeface="Calibri"/>
                <a:ea typeface="Calibri"/>
                <a:cs typeface="Calibri"/>
                <a:sym typeface="Calibri"/>
              </a:rPr>
              <a:t>vLLM logging</a:t>
            </a:r>
            <a:endParaRPr b="0" i="0" sz="1600" u="none" cap="none" strike="noStrike">
              <a:solidFill>
                <a:schemeClr val="dk1"/>
              </a:solidFill>
              <a:latin typeface="Calibri"/>
              <a:ea typeface="Calibri"/>
              <a:cs typeface="Calibri"/>
              <a:sym typeface="Calibri"/>
            </a:endParaRPr>
          </a:p>
          <a:p>
            <a:pPr indent="-279400" lvl="0" marL="254000" marR="0" rtl="0" algn="l">
              <a:spcBef>
                <a:spcPts val="600"/>
              </a:spcBef>
              <a:spcAft>
                <a:spcPts val="0"/>
              </a:spcAft>
              <a:buClr>
                <a:srgbClr val="1A1A1A"/>
              </a:buClr>
              <a:buSzPts val="1600"/>
              <a:buFont typeface="Calibri"/>
              <a:buChar char="•"/>
            </a:pPr>
            <a:r>
              <a:rPr b="0" i="0" lang="en" sz="1600" u="none" cap="none" strike="noStrike">
                <a:solidFill>
                  <a:srgbClr val="1A1A1A"/>
                </a:solidFill>
                <a:latin typeface="Calibri"/>
                <a:ea typeface="Calibri"/>
                <a:cs typeface="Calibri"/>
                <a:sym typeface="Calibri"/>
              </a:rPr>
              <a:t>Weights &amp; Biases for run-level tracking</a:t>
            </a:r>
            <a:endParaRPr b="0" i="0" sz="1600" u="none" cap="none" strike="noStrike">
              <a:solidFill>
                <a:schemeClr val="dk1"/>
              </a:solidFill>
              <a:latin typeface="Calibri"/>
              <a:ea typeface="Calibri"/>
              <a:cs typeface="Calibri"/>
              <a:sym typeface="Calibri"/>
            </a:endParaRPr>
          </a:p>
        </p:txBody>
      </p:sp>
      <p:sp>
        <p:nvSpPr>
          <p:cNvPr id="125" name="Google Shape;125;p9"/>
          <p:cNvSpPr/>
          <p:nvPr/>
        </p:nvSpPr>
        <p:spPr>
          <a:xfrm>
            <a:off x="4697730" y="1371600"/>
            <a:ext cx="4114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200"/>
              <a:buFont typeface="Calibri"/>
              <a:buNone/>
            </a:pPr>
            <a:r>
              <a:rPr b="1" i="0" lang="en" sz="1700" u="none" cap="none" strike="noStrike">
                <a:solidFill>
                  <a:srgbClr val="1A1A1A"/>
                </a:solidFill>
                <a:latin typeface="Calibri"/>
                <a:ea typeface="Calibri"/>
                <a:cs typeface="Calibri"/>
                <a:sym typeface="Calibri"/>
              </a:rPr>
              <a:t>Metrics captured</a:t>
            </a:r>
            <a:endParaRPr b="0" i="0" sz="1700" u="none" cap="none" strike="noStrike">
              <a:solidFill>
                <a:schemeClr val="dk1"/>
              </a:solidFill>
              <a:latin typeface="Calibri"/>
              <a:ea typeface="Calibri"/>
              <a:cs typeface="Calibri"/>
              <a:sym typeface="Calibri"/>
            </a:endParaRPr>
          </a:p>
        </p:txBody>
      </p:sp>
      <p:sp>
        <p:nvSpPr>
          <p:cNvPr id="126" name="Google Shape;126;p9"/>
          <p:cNvSpPr/>
          <p:nvPr/>
        </p:nvSpPr>
        <p:spPr>
          <a:xfrm>
            <a:off x="4697730" y="1714500"/>
            <a:ext cx="4114800" cy="2743200"/>
          </a:xfrm>
          <a:prstGeom prst="rect">
            <a:avLst/>
          </a:prstGeom>
          <a:noFill/>
          <a:ln>
            <a:noFill/>
          </a:ln>
        </p:spPr>
        <p:txBody>
          <a:bodyPr anchorCtr="0" anchor="t" bIns="34275" lIns="68575" spcFirstLastPara="1" rIns="68575" wrap="square" tIns="34275">
            <a:noAutofit/>
          </a:bodyPr>
          <a:lstStyle/>
          <a:p>
            <a:pPr indent="-279400" lvl="0" marL="254000" marR="0" rtl="0" algn="l">
              <a:spcBef>
                <a:spcPts val="600"/>
              </a:spcBef>
              <a:spcAft>
                <a:spcPts val="0"/>
              </a:spcAft>
              <a:buClr>
                <a:srgbClr val="1A1A1A"/>
              </a:buClr>
              <a:buSzPts val="1600"/>
              <a:buFont typeface="Calibri"/>
              <a:buChar char="•"/>
            </a:pPr>
            <a:r>
              <a:rPr lang="en" sz="1600">
                <a:solidFill>
                  <a:srgbClr val="1A1A1A"/>
                </a:solidFill>
                <a:latin typeface="Calibri"/>
                <a:ea typeface="Calibri"/>
                <a:cs typeface="Calibri"/>
                <a:sym typeface="Calibri"/>
              </a:rPr>
              <a:t>RealTime Factor (Total Time/Audio)</a:t>
            </a:r>
            <a:endParaRPr sz="1600">
              <a:solidFill>
                <a:srgbClr val="1A1A1A"/>
              </a:solidFill>
              <a:latin typeface="Calibri"/>
              <a:ea typeface="Calibri"/>
              <a:cs typeface="Calibri"/>
              <a:sym typeface="Calibri"/>
            </a:endParaRPr>
          </a:p>
          <a:p>
            <a:pPr indent="-279400" lvl="0" marL="254000" marR="0" rtl="0" algn="l">
              <a:spcBef>
                <a:spcPts val="600"/>
              </a:spcBef>
              <a:spcAft>
                <a:spcPts val="0"/>
              </a:spcAft>
              <a:buClr>
                <a:srgbClr val="1A1A1A"/>
              </a:buClr>
              <a:buSzPts val="1600"/>
              <a:buFont typeface="Calibri"/>
              <a:buChar char="•"/>
            </a:pPr>
            <a:r>
              <a:rPr lang="en" sz="1600">
                <a:solidFill>
                  <a:srgbClr val="1A1A1A"/>
                </a:solidFill>
                <a:latin typeface="Calibri"/>
                <a:ea typeface="Calibri"/>
                <a:cs typeface="Calibri"/>
                <a:sym typeface="Calibri"/>
              </a:rPr>
              <a:t>First Chunk Latency</a:t>
            </a:r>
            <a:r>
              <a:rPr lang="en" sz="1600">
                <a:solidFill>
                  <a:srgbClr val="1A1A1A"/>
                </a:solidFill>
                <a:latin typeface="Calibri"/>
                <a:ea typeface="Calibri"/>
                <a:cs typeface="Calibri"/>
                <a:sym typeface="Calibri"/>
              </a:rPr>
              <a:t>(First chunk appears)</a:t>
            </a:r>
            <a:endParaRPr sz="1600">
              <a:solidFill>
                <a:srgbClr val="1A1A1A"/>
              </a:solidFill>
              <a:latin typeface="Calibri"/>
              <a:ea typeface="Calibri"/>
              <a:cs typeface="Calibri"/>
              <a:sym typeface="Calibri"/>
            </a:endParaRPr>
          </a:p>
          <a:p>
            <a:pPr indent="-279400" lvl="0" marL="254000" marR="0" rtl="0" algn="l">
              <a:spcBef>
                <a:spcPts val="600"/>
              </a:spcBef>
              <a:spcAft>
                <a:spcPts val="0"/>
              </a:spcAft>
              <a:buClr>
                <a:srgbClr val="1A1A1A"/>
              </a:buClr>
              <a:buSzPts val="1600"/>
              <a:buFont typeface="Calibri"/>
              <a:buChar char="•"/>
            </a:pPr>
            <a:r>
              <a:rPr lang="en" sz="1600">
                <a:solidFill>
                  <a:srgbClr val="1A1A1A"/>
                </a:solidFill>
                <a:latin typeface="Calibri"/>
                <a:ea typeface="Calibri"/>
                <a:cs typeface="Calibri"/>
                <a:sym typeface="Calibri"/>
              </a:rPr>
              <a:t>Throughput(Audio/Second)</a:t>
            </a:r>
            <a:endParaRPr sz="1600">
              <a:solidFill>
                <a:srgbClr val="1A1A1A"/>
              </a:solidFill>
              <a:latin typeface="Calibri"/>
              <a:ea typeface="Calibri"/>
              <a:cs typeface="Calibri"/>
              <a:sym typeface="Calibri"/>
            </a:endParaRPr>
          </a:p>
          <a:p>
            <a:pPr indent="-279400" lvl="0" marL="254000" marR="0" rtl="0" algn="l">
              <a:spcBef>
                <a:spcPts val="600"/>
              </a:spcBef>
              <a:spcAft>
                <a:spcPts val="0"/>
              </a:spcAft>
              <a:buClr>
                <a:srgbClr val="1A1A1A"/>
              </a:buClr>
              <a:buSzPts val="1600"/>
              <a:buFont typeface="Calibri"/>
              <a:buChar char="•"/>
            </a:pPr>
            <a:r>
              <a:rPr lang="en" sz="1600">
                <a:solidFill>
                  <a:srgbClr val="1A1A1A"/>
                </a:solidFill>
                <a:latin typeface="Calibri"/>
                <a:ea typeface="Calibri"/>
                <a:cs typeface="Calibri"/>
                <a:sym typeface="Calibri"/>
              </a:rPr>
              <a:t>Speedups (Relative to BS=1)</a:t>
            </a:r>
            <a:endParaRPr sz="1600">
              <a:solidFill>
                <a:srgbClr val="1A1A1A"/>
              </a:solidFill>
              <a:latin typeface="Calibri"/>
              <a:ea typeface="Calibri"/>
              <a:cs typeface="Calibri"/>
              <a:sym typeface="Calibri"/>
            </a:endParaRPr>
          </a:p>
          <a:p>
            <a:pPr indent="0" lvl="0" marL="0" marR="0" rtl="0" algn="l">
              <a:spcBef>
                <a:spcPts val="600"/>
              </a:spcBef>
              <a:spcAft>
                <a:spcPts val="0"/>
              </a:spcAft>
              <a:buNone/>
            </a:pPr>
            <a:r>
              <a:t/>
            </a:r>
            <a:endParaRPr sz="1600">
              <a:solidFill>
                <a:srgbClr val="1A1A1A"/>
              </a:solidFill>
              <a:latin typeface="Calibri"/>
              <a:ea typeface="Calibri"/>
              <a:cs typeface="Calibri"/>
              <a:sym typeface="Calibri"/>
            </a:endParaRPr>
          </a:p>
          <a:p>
            <a:pPr indent="0" lvl="0" marL="0" marR="0" rtl="0" algn="l">
              <a:spcBef>
                <a:spcPts val="600"/>
              </a:spcBef>
              <a:spcAft>
                <a:spcPts val="0"/>
              </a:spcAft>
              <a:buNone/>
            </a:pPr>
            <a:r>
              <a:rPr lang="en" sz="1600">
                <a:solidFill>
                  <a:srgbClr val="1A1A1A"/>
                </a:solidFill>
                <a:latin typeface="Calibri"/>
                <a:ea typeface="Calibri"/>
                <a:cs typeface="Calibri"/>
                <a:sym typeface="Calibri"/>
              </a:rPr>
              <a:t>Average across three runs or ran multiple examples </a:t>
            </a:r>
            <a:r>
              <a:rPr lang="en" sz="1600">
                <a:solidFill>
                  <a:srgbClr val="1A1A1A"/>
                </a:solidFill>
                <a:latin typeface="Calibri"/>
                <a:ea typeface="Calibri"/>
                <a:cs typeface="Calibri"/>
                <a:sym typeface="Calibri"/>
              </a:rPr>
              <a:t>to ensure stability </a:t>
            </a:r>
            <a:endParaRPr sz="1600">
              <a:solidFill>
                <a:srgbClr val="1A1A1A"/>
              </a:solidFill>
              <a:latin typeface="Calibri"/>
              <a:ea typeface="Calibri"/>
              <a:cs typeface="Calibri"/>
              <a:sym typeface="Calibri"/>
            </a:endParaRPr>
          </a:p>
        </p:txBody>
      </p:sp>
      <p:sp>
        <p:nvSpPr>
          <p:cNvPr id="127" name="Google Shape;127;p9"/>
          <p:cNvSpPr/>
          <p:nvPr/>
        </p:nvSpPr>
        <p:spPr>
          <a:xfrm>
            <a:off x="342900" y="4903470"/>
            <a:ext cx="41148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800"/>
              <a:buFont typeface="Calibri"/>
              <a:buNone/>
            </a:pPr>
            <a:r>
              <a:rPr b="0" i="1" lang="en" sz="800" u="none" cap="none" strike="noStrike">
                <a:solidFill>
                  <a:srgbClr val="6B6F76"/>
                </a:solidFill>
                <a:latin typeface="Calibri"/>
                <a:ea typeface="Calibri"/>
                <a:cs typeface="Calibri"/>
                <a:sym typeface="Calibri"/>
              </a:rPr>
              <a:t>HPML · Spring 2026</a:t>
            </a:r>
            <a:endParaRPr b="0" i="0" sz="800" u="none" cap="none" strike="noStrike">
              <a:solidFill>
                <a:schemeClr val="dk1"/>
              </a:solidFill>
              <a:latin typeface="Calibri"/>
              <a:ea typeface="Calibri"/>
              <a:cs typeface="Calibri"/>
              <a:sym typeface="Calibri"/>
            </a:endParaRPr>
          </a:p>
        </p:txBody>
      </p:sp>
      <p:sp>
        <p:nvSpPr>
          <p:cNvPr id="128" name="Google Shape;128;p9"/>
          <p:cNvSpPr/>
          <p:nvPr/>
        </p:nvSpPr>
        <p:spPr>
          <a:xfrm>
            <a:off x="4684014" y="4903470"/>
            <a:ext cx="4114800" cy="2057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800"/>
              <a:buFont typeface="Calibri"/>
              <a:buNone/>
            </a:pPr>
            <a:r>
              <a:rPr lang="en" sz="800">
                <a:solidFill>
                  <a:srgbClr val="6B6F76"/>
                </a:solidFill>
                <a:latin typeface="Calibri"/>
                <a:ea typeface="Calibri"/>
                <a:cs typeface="Calibri"/>
                <a:sym typeface="Calibri"/>
              </a:rPr>
              <a:t>6</a:t>
            </a:r>
            <a:r>
              <a:rPr b="0" i="0" lang="en" sz="800" u="none" cap="none" strike="noStrike">
                <a:solidFill>
                  <a:srgbClr val="6B6F76"/>
                </a:solidFill>
                <a:latin typeface="Calibri"/>
                <a:ea typeface="Calibri"/>
                <a:cs typeface="Calibri"/>
                <a:sym typeface="Calibri"/>
              </a:rPr>
              <a:t> / 1</a:t>
            </a:r>
            <a:r>
              <a:rPr lang="en" sz="800">
                <a:solidFill>
                  <a:srgbClr val="6B6F76"/>
                </a:solidFill>
                <a:latin typeface="Calibri"/>
                <a:ea typeface="Calibri"/>
                <a:cs typeface="Calibri"/>
                <a:sym typeface="Calibri"/>
              </a:rPr>
              <a:t>5</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3" name="Shape 133"/>
        <p:cNvGrpSpPr/>
        <p:nvPr/>
      </p:nvGrpSpPr>
      <p:grpSpPr>
        <a:xfrm>
          <a:off x="0" y="0"/>
          <a:ext cx="0" cy="0"/>
          <a:chOff x="0" y="0"/>
          <a:chExt cx="0" cy="0"/>
        </a:xfrm>
      </p:grpSpPr>
      <p:sp>
        <p:nvSpPr>
          <p:cNvPr id="134" name="Google Shape;134;p10"/>
          <p:cNvSpPr/>
          <p:nvPr/>
        </p:nvSpPr>
        <p:spPr>
          <a:xfrm>
            <a:off x="342900" y="377190"/>
            <a:ext cx="8455914"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400"/>
              <a:buFont typeface="Calibri"/>
              <a:buNone/>
            </a:pPr>
            <a:r>
              <a:rPr b="1" i="0" lang="en" sz="2400" u="none" cap="none" strike="noStrike">
                <a:solidFill>
                  <a:srgbClr val="1A1A1A"/>
                </a:solidFill>
                <a:latin typeface="Calibri"/>
                <a:ea typeface="Calibri"/>
                <a:cs typeface="Calibri"/>
                <a:sym typeface="Calibri"/>
              </a:rPr>
              <a:t>Results — Headline Numbers</a:t>
            </a:r>
            <a:endParaRPr b="0" i="0" sz="2400" u="none" cap="none" strike="noStrike">
              <a:solidFill>
                <a:schemeClr val="dk1"/>
              </a:solidFill>
              <a:latin typeface="Calibri"/>
              <a:ea typeface="Calibri"/>
              <a:cs typeface="Calibri"/>
              <a:sym typeface="Calibri"/>
            </a:endParaRPr>
          </a:p>
        </p:txBody>
      </p:sp>
      <p:cxnSp>
        <p:nvCxnSpPr>
          <p:cNvPr id="135" name="Google Shape;135;p10"/>
          <p:cNvCxnSpPr/>
          <p:nvPr/>
        </p:nvCxnSpPr>
        <p:spPr>
          <a:xfrm>
            <a:off x="342900" y="891540"/>
            <a:ext cx="8455914" cy="0"/>
          </a:xfrm>
          <a:prstGeom prst="straightConnector1">
            <a:avLst/>
          </a:prstGeom>
          <a:noFill/>
          <a:ln cap="flat" cmpd="sng" w="9525">
            <a:solidFill>
              <a:srgbClr val="D9D9D9"/>
            </a:solidFill>
            <a:prstDash val="solid"/>
            <a:round/>
            <a:headEnd len="sm" w="sm" type="none"/>
            <a:tailEnd len="sm" w="sm" type="none"/>
          </a:ln>
        </p:spPr>
      </p:cxnSp>
      <p:sp>
        <p:nvSpPr>
          <p:cNvPr id="136" name="Google Shape;136;p10"/>
          <p:cNvSpPr/>
          <p:nvPr/>
        </p:nvSpPr>
        <p:spPr>
          <a:xfrm>
            <a:off x="679513" y="2079938"/>
            <a:ext cx="1827000" cy="74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5B2A"/>
              </a:buClr>
              <a:buSzPts val="3262"/>
              <a:buFont typeface="Calibri"/>
              <a:buNone/>
            </a:pPr>
            <a:r>
              <a:rPr b="1" lang="en" sz="3262">
                <a:solidFill>
                  <a:srgbClr val="C75B2A"/>
                </a:solidFill>
                <a:latin typeface="Calibri"/>
                <a:ea typeface="Calibri"/>
                <a:cs typeface="Calibri"/>
                <a:sym typeface="Calibri"/>
              </a:rPr>
              <a:t>25→70a/s</a:t>
            </a:r>
            <a:endParaRPr b="0" i="0" sz="3262" u="none" cap="none" strike="noStrike">
              <a:solidFill>
                <a:schemeClr val="dk1"/>
              </a:solidFill>
              <a:latin typeface="Calibri"/>
              <a:ea typeface="Calibri"/>
              <a:cs typeface="Calibri"/>
              <a:sym typeface="Calibri"/>
            </a:endParaRPr>
          </a:p>
        </p:txBody>
      </p:sp>
      <p:sp>
        <p:nvSpPr>
          <p:cNvPr id="137" name="Google Shape;137;p10"/>
          <p:cNvSpPr/>
          <p:nvPr/>
        </p:nvSpPr>
        <p:spPr>
          <a:xfrm>
            <a:off x="679513" y="2872279"/>
            <a:ext cx="1827000" cy="186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16"/>
              <a:buFont typeface="Calibri"/>
              <a:buNone/>
            </a:pPr>
            <a:r>
              <a:rPr b="1" lang="en" sz="816">
                <a:solidFill>
                  <a:srgbClr val="1A1A1A"/>
                </a:solidFill>
                <a:latin typeface="Calibri"/>
                <a:ea typeface="Calibri"/>
                <a:cs typeface="Calibri"/>
                <a:sym typeface="Calibri"/>
              </a:rPr>
              <a:t>Higher Throughput</a:t>
            </a:r>
            <a:endParaRPr b="0" i="0" sz="816" u="none" cap="none" strike="noStrike">
              <a:solidFill>
                <a:schemeClr val="dk1"/>
              </a:solidFill>
              <a:latin typeface="Calibri"/>
              <a:ea typeface="Calibri"/>
              <a:cs typeface="Calibri"/>
              <a:sym typeface="Calibri"/>
            </a:endParaRPr>
          </a:p>
        </p:txBody>
      </p:sp>
      <p:sp>
        <p:nvSpPr>
          <p:cNvPr id="138" name="Google Shape;138;p10"/>
          <p:cNvSpPr/>
          <p:nvPr/>
        </p:nvSpPr>
        <p:spPr>
          <a:xfrm>
            <a:off x="3207950" y="2084925"/>
            <a:ext cx="2523000" cy="74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5B2A"/>
              </a:buClr>
              <a:buSzPts val="3262"/>
              <a:buFont typeface="Calibri"/>
              <a:buNone/>
            </a:pPr>
            <a:r>
              <a:rPr b="1" lang="en" sz="3262">
                <a:solidFill>
                  <a:srgbClr val="C75B2A"/>
                </a:solidFill>
                <a:latin typeface="Calibri"/>
                <a:ea typeface="Calibri"/>
                <a:cs typeface="Calibri"/>
                <a:sym typeface="Calibri"/>
              </a:rPr>
              <a:t>21.86s→0.56s</a:t>
            </a:r>
            <a:endParaRPr b="0" i="0" sz="3262" u="none" cap="none" strike="noStrike">
              <a:solidFill>
                <a:schemeClr val="dk1"/>
              </a:solidFill>
              <a:latin typeface="Calibri"/>
              <a:ea typeface="Calibri"/>
              <a:cs typeface="Calibri"/>
              <a:sym typeface="Calibri"/>
            </a:endParaRPr>
          </a:p>
        </p:txBody>
      </p:sp>
      <p:sp>
        <p:nvSpPr>
          <p:cNvPr id="139" name="Google Shape;139;p10"/>
          <p:cNvSpPr/>
          <p:nvPr/>
        </p:nvSpPr>
        <p:spPr>
          <a:xfrm>
            <a:off x="3587426" y="2872279"/>
            <a:ext cx="1827000" cy="186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816"/>
              <a:buFont typeface="Calibri"/>
              <a:buNone/>
            </a:pPr>
            <a:r>
              <a:rPr b="1" lang="en" sz="816">
                <a:solidFill>
                  <a:srgbClr val="1A1A1A"/>
                </a:solidFill>
                <a:latin typeface="Calibri"/>
                <a:ea typeface="Calibri"/>
                <a:cs typeface="Calibri"/>
                <a:sym typeface="Calibri"/>
              </a:rPr>
              <a:t>Lower FCL </a:t>
            </a:r>
            <a:r>
              <a:rPr b="1" lang="en" sz="816">
                <a:solidFill>
                  <a:srgbClr val="1A1A1A"/>
                </a:solidFill>
                <a:latin typeface="Calibri"/>
                <a:ea typeface="Calibri"/>
                <a:cs typeface="Calibri"/>
                <a:sym typeface="Calibri"/>
              </a:rPr>
              <a:t>in async-mode</a:t>
            </a:r>
            <a:endParaRPr sz="816">
              <a:solidFill>
                <a:schemeClr val="dk1"/>
              </a:solidFill>
              <a:latin typeface="Calibri"/>
              <a:ea typeface="Calibri"/>
              <a:cs typeface="Calibri"/>
              <a:sym typeface="Calibri"/>
            </a:endParaRPr>
          </a:p>
          <a:p>
            <a:pPr indent="0" lvl="0" marL="0" marR="0" rtl="0" algn="ctr">
              <a:spcBef>
                <a:spcPts val="0"/>
              </a:spcBef>
              <a:spcAft>
                <a:spcPts val="0"/>
              </a:spcAft>
              <a:buClr>
                <a:srgbClr val="1A1A1A"/>
              </a:buClr>
              <a:buSzPts val="816"/>
              <a:buFont typeface="Calibri"/>
              <a:buNone/>
            </a:pPr>
            <a:r>
              <a:t/>
            </a:r>
            <a:endParaRPr b="1" sz="816">
              <a:solidFill>
                <a:srgbClr val="1A1A1A"/>
              </a:solidFill>
              <a:latin typeface="Calibri"/>
              <a:ea typeface="Calibri"/>
              <a:cs typeface="Calibri"/>
              <a:sym typeface="Calibri"/>
            </a:endParaRPr>
          </a:p>
        </p:txBody>
      </p:sp>
      <p:sp>
        <p:nvSpPr>
          <p:cNvPr id="140" name="Google Shape;140;p10"/>
          <p:cNvSpPr/>
          <p:nvPr/>
        </p:nvSpPr>
        <p:spPr>
          <a:xfrm>
            <a:off x="6495314" y="2084913"/>
            <a:ext cx="1827000" cy="74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5B2A"/>
              </a:buClr>
              <a:buSzPts val="3262"/>
              <a:buFont typeface="Calibri"/>
              <a:buNone/>
            </a:pPr>
            <a:r>
              <a:rPr b="1" lang="en" sz="3262">
                <a:solidFill>
                  <a:srgbClr val="C75B2A"/>
                </a:solidFill>
                <a:latin typeface="Calibri"/>
                <a:ea typeface="Calibri"/>
                <a:cs typeface="Calibri"/>
                <a:sym typeface="Calibri"/>
              </a:rPr>
              <a:t>44</a:t>
            </a:r>
            <a:r>
              <a:rPr b="1" i="0" lang="en" sz="3262" u="none" cap="none" strike="noStrike">
                <a:solidFill>
                  <a:srgbClr val="C75B2A"/>
                </a:solidFill>
                <a:latin typeface="Calibri"/>
                <a:ea typeface="Calibri"/>
                <a:cs typeface="Calibri"/>
                <a:sym typeface="Calibri"/>
              </a:rPr>
              <a:t>%</a:t>
            </a:r>
            <a:endParaRPr b="0" i="0" sz="3262" u="none" cap="none" strike="noStrike">
              <a:solidFill>
                <a:schemeClr val="dk1"/>
              </a:solidFill>
              <a:latin typeface="Calibri"/>
              <a:ea typeface="Calibri"/>
              <a:cs typeface="Calibri"/>
              <a:sym typeface="Calibri"/>
            </a:endParaRPr>
          </a:p>
        </p:txBody>
      </p:sp>
      <p:sp>
        <p:nvSpPr>
          <p:cNvPr id="141" name="Google Shape;141;p10"/>
          <p:cNvSpPr/>
          <p:nvPr/>
        </p:nvSpPr>
        <p:spPr>
          <a:xfrm>
            <a:off x="6495314" y="2877254"/>
            <a:ext cx="1827000" cy="186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1A1A1A"/>
              </a:buClr>
              <a:buSzPts val="816"/>
              <a:buFont typeface="Calibri"/>
              <a:buNone/>
            </a:pPr>
            <a:r>
              <a:rPr b="1" lang="en" sz="816">
                <a:solidFill>
                  <a:srgbClr val="1A1A1A"/>
                </a:solidFill>
                <a:latin typeface="Calibri"/>
                <a:ea typeface="Calibri"/>
                <a:cs typeface="Calibri"/>
                <a:sym typeface="Calibri"/>
              </a:rPr>
              <a:t>less Kernel Launch time</a:t>
            </a:r>
            <a:endParaRPr b="0" i="0" sz="816" u="none" cap="none" strike="noStrike">
              <a:solidFill>
                <a:schemeClr val="dk1"/>
              </a:solidFill>
              <a:latin typeface="Calibri"/>
              <a:ea typeface="Calibri"/>
              <a:cs typeface="Calibri"/>
              <a:sym typeface="Calibri"/>
            </a:endParaRPr>
          </a:p>
        </p:txBody>
      </p:sp>
      <p:sp>
        <p:nvSpPr>
          <p:cNvPr id="142" name="Google Shape;142;p10"/>
          <p:cNvSpPr/>
          <p:nvPr/>
        </p:nvSpPr>
        <p:spPr>
          <a:xfrm>
            <a:off x="342900" y="4903470"/>
            <a:ext cx="41148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800"/>
              <a:buFont typeface="Calibri"/>
              <a:buNone/>
            </a:pPr>
            <a:r>
              <a:rPr b="0" i="1" lang="en" sz="800" u="none" cap="none" strike="noStrike">
                <a:solidFill>
                  <a:srgbClr val="6B6F76"/>
                </a:solidFill>
                <a:latin typeface="Calibri"/>
                <a:ea typeface="Calibri"/>
                <a:cs typeface="Calibri"/>
                <a:sym typeface="Calibri"/>
              </a:rPr>
              <a:t>HPML · Spring 2026</a:t>
            </a:r>
            <a:endParaRPr b="0" i="0" sz="800" u="none" cap="none" strike="noStrike">
              <a:solidFill>
                <a:schemeClr val="dk1"/>
              </a:solidFill>
              <a:latin typeface="Calibri"/>
              <a:ea typeface="Calibri"/>
              <a:cs typeface="Calibri"/>
              <a:sym typeface="Calibri"/>
            </a:endParaRPr>
          </a:p>
        </p:txBody>
      </p:sp>
      <p:sp>
        <p:nvSpPr>
          <p:cNvPr id="143" name="Google Shape;143;p10"/>
          <p:cNvSpPr/>
          <p:nvPr/>
        </p:nvSpPr>
        <p:spPr>
          <a:xfrm>
            <a:off x="4684014" y="4903470"/>
            <a:ext cx="4114800" cy="2057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800"/>
              <a:buFont typeface="Calibri"/>
              <a:buNone/>
            </a:pPr>
            <a:r>
              <a:rPr lang="en" sz="800">
                <a:solidFill>
                  <a:srgbClr val="6B6F76"/>
                </a:solidFill>
                <a:latin typeface="Calibri"/>
                <a:ea typeface="Calibri"/>
                <a:cs typeface="Calibri"/>
                <a:sym typeface="Calibri"/>
              </a:rPr>
              <a:t>7</a:t>
            </a:r>
            <a:r>
              <a:rPr b="0" i="0" lang="en" sz="800" u="none" cap="none" strike="noStrike">
                <a:solidFill>
                  <a:srgbClr val="6B6F76"/>
                </a:solidFill>
                <a:latin typeface="Calibri"/>
                <a:ea typeface="Calibri"/>
                <a:cs typeface="Calibri"/>
                <a:sym typeface="Calibri"/>
              </a:rPr>
              <a:t> / 1</a:t>
            </a:r>
            <a:r>
              <a:rPr lang="en" sz="800">
                <a:solidFill>
                  <a:srgbClr val="6B6F76"/>
                </a:solidFill>
                <a:latin typeface="Calibri"/>
                <a:ea typeface="Calibri"/>
                <a:cs typeface="Calibri"/>
                <a:sym typeface="Calibri"/>
              </a:rPr>
              <a:t>5</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8" name="Shape 148"/>
        <p:cNvGrpSpPr/>
        <p:nvPr/>
      </p:nvGrpSpPr>
      <p:grpSpPr>
        <a:xfrm>
          <a:off x="0" y="0"/>
          <a:ext cx="0" cy="0"/>
          <a:chOff x="0" y="0"/>
          <a:chExt cx="0" cy="0"/>
        </a:xfrm>
      </p:grpSpPr>
      <p:sp>
        <p:nvSpPr>
          <p:cNvPr id="149" name="Google Shape;149;p11"/>
          <p:cNvSpPr/>
          <p:nvPr/>
        </p:nvSpPr>
        <p:spPr>
          <a:xfrm>
            <a:off x="342900" y="377190"/>
            <a:ext cx="8455800" cy="48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400"/>
              <a:buFont typeface="Calibri"/>
              <a:buNone/>
            </a:pPr>
            <a:r>
              <a:rPr b="1" i="0" lang="en" sz="2400" u="none" cap="none" strike="noStrike">
                <a:solidFill>
                  <a:srgbClr val="1A1A1A"/>
                </a:solidFill>
                <a:latin typeface="Calibri"/>
                <a:ea typeface="Calibri"/>
                <a:cs typeface="Calibri"/>
                <a:sym typeface="Calibri"/>
              </a:rPr>
              <a:t>Results — Before vs. After - </a:t>
            </a:r>
            <a:r>
              <a:rPr b="1" lang="en" sz="2400">
                <a:solidFill>
                  <a:srgbClr val="1A1A1A"/>
                </a:solidFill>
                <a:latin typeface="Calibri"/>
                <a:ea typeface="Calibri"/>
                <a:cs typeface="Calibri"/>
                <a:sym typeface="Calibri"/>
              </a:rPr>
              <a:t>Throughput</a:t>
            </a:r>
            <a:endParaRPr b="0" i="0" sz="2400" u="none" cap="none" strike="noStrike">
              <a:solidFill>
                <a:schemeClr val="dk1"/>
              </a:solidFill>
              <a:latin typeface="Calibri"/>
              <a:ea typeface="Calibri"/>
              <a:cs typeface="Calibri"/>
              <a:sym typeface="Calibri"/>
            </a:endParaRPr>
          </a:p>
        </p:txBody>
      </p:sp>
      <p:cxnSp>
        <p:nvCxnSpPr>
          <p:cNvPr id="150" name="Google Shape;150;p11"/>
          <p:cNvCxnSpPr/>
          <p:nvPr/>
        </p:nvCxnSpPr>
        <p:spPr>
          <a:xfrm>
            <a:off x="342900" y="891540"/>
            <a:ext cx="8455800" cy="0"/>
          </a:xfrm>
          <a:prstGeom prst="straightConnector1">
            <a:avLst/>
          </a:prstGeom>
          <a:noFill/>
          <a:ln cap="flat" cmpd="sng" w="9525">
            <a:solidFill>
              <a:srgbClr val="D9D9D9"/>
            </a:solidFill>
            <a:prstDash val="solid"/>
            <a:round/>
            <a:headEnd len="sm" w="sm" type="none"/>
            <a:tailEnd len="sm" w="sm" type="none"/>
          </a:ln>
        </p:spPr>
      </p:cxnSp>
      <p:sp>
        <p:nvSpPr>
          <p:cNvPr id="151" name="Google Shape;151;p11"/>
          <p:cNvSpPr/>
          <p:nvPr/>
        </p:nvSpPr>
        <p:spPr>
          <a:xfrm>
            <a:off x="342900" y="994410"/>
            <a:ext cx="8229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800"/>
              <a:buFont typeface="Calibri"/>
              <a:buNone/>
            </a:pPr>
            <a:r>
              <a:t/>
            </a:r>
            <a:endParaRPr b="0" i="0" sz="800" u="none" cap="none" strike="noStrike">
              <a:solidFill>
                <a:schemeClr val="dk1"/>
              </a:solidFill>
              <a:latin typeface="Calibri"/>
              <a:ea typeface="Calibri"/>
              <a:cs typeface="Calibri"/>
              <a:sym typeface="Calibri"/>
            </a:endParaRPr>
          </a:p>
        </p:txBody>
      </p:sp>
      <p:sp>
        <p:nvSpPr>
          <p:cNvPr id="152" name="Google Shape;152;p11"/>
          <p:cNvSpPr/>
          <p:nvPr/>
        </p:nvSpPr>
        <p:spPr>
          <a:xfrm>
            <a:off x="5596343" y="1314200"/>
            <a:ext cx="899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200"/>
              <a:buFont typeface="Calibri"/>
              <a:buNone/>
            </a:pPr>
            <a:r>
              <a:rPr b="1" i="0" lang="en" sz="1200" u="none" cap="none" strike="noStrike">
                <a:solidFill>
                  <a:srgbClr val="1A1A1A"/>
                </a:solidFill>
                <a:latin typeface="Calibri"/>
                <a:ea typeface="Calibri"/>
                <a:cs typeface="Calibri"/>
                <a:sym typeface="Calibri"/>
              </a:rPr>
              <a:t>Takeaway</a:t>
            </a:r>
            <a:endParaRPr b="0" i="0" sz="1200" u="none" cap="none" strike="noStrike">
              <a:solidFill>
                <a:schemeClr val="dk1"/>
              </a:solidFill>
              <a:latin typeface="Calibri"/>
              <a:ea typeface="Calibri"/>
              <a:cs typeface="Calibri"/>
              <a:sym typeface="Calibri"/>
            </a:endParaRPr>
          </a:p>
        </p:txBody>
      </p:sp>
      <p:sp>
        <p:nvSpPr>
          <p:cNvPr id="153" name="Google Shape;153;p11"/>
          <p:cNvSpPr/>
          <p:nvPr/>
        </p:nvSpPr>
        <p:spPr>
          <a:xfrm>
            <a:off x="5596350" y="1628366"/>
            <a:ext cx="2955300" cy="2382300"/>
          </a:xfrm>
          <a:prstGeom prst="rect">
            <a:avLst/>
          </a:prstGeom>
          <a:noFill/>
          <a:ln>
            <a:noFill/>
          </a:ln>
        </p:spPr>
        <p:txBody>
          <a:bodyPr anchorCtr="0" anchor="t" bIns="34275" lIns="68575" spcFirstLastPara="1" rIns="68575" wrap="square" tIns="34275">
            <a:noAutofit/>
          </a:bodyPr>
          <a:lstStyle/>
          <a:p>
            <a:pPr indent="-254000" lvl="0" marL="254000" marR="0" rtl="0" algn="l">
              <a:spcBef>
                <a:spcPts val="0"/>
              </a:spcBef>
              <a:spcAft>
                <a:spcPts val="0"/>
              </a:spcAft>
              <a:buClr>
                <a:srgbClr val="1A1A1A"/>
              </a:buClr>
              <a:buSzPts val="1000"/>
              <a:buFont typeface="Calibri"/>
              <a:buChar char="•"/>
            </a:pPr>
            <a:r>
              <a:rPr lang="en" sz="1000">
                <a:solidFill>
                  <a:srgbClr val="1A1A1A"/>
                </a:solidFill>
                <a:latin typeface="Calibri"/>
                <a:ea typeface="Calibri"/>
                <a:cs typeface="Calibri"/>
                <a:sym typeface="Calibri"/>
              </a:rPr>
              <a:t>Compared with the Hugging Face baseline, both vLLM-Omni variants improve throughput, and vLLM SYNC delivers the strongest end-to-end gains overall, reaching 26 a/s vs. HF’s 15.4 a/s at BS=256.</a:t>
            </a:r>
            <a:endParaRPr b="0" i="0" sz="1000" u="none" cap="none" strike="noStrike">
              <a:solidFill>
                <a:schemeClr val="dk1"/>
              </a:solidFill>
              <a:latin typeface="Calibri"/>
              <a:ea typeface="Calibri"/>
              <a:cs typeface="Calibri"/>
              <a:sym typeface="Calibri"/>
            </a:endParaRPr>
          </a:p>
          <a:p>
            <a:pPr indent="-254000" lvl="0" marL="254000" marR="0" rtl="0" algn="l">
              <a:spcBef>
                <a:spcPts val="600"/>
              </a:spcBef>
              <a:spcAft>
                <a:spcPts val="0"/>
              </a:spcAft>
              <a:buClr>
                <a:srgbClr val="1A1A1A"/>
              </a:buClr>
              <a:buSzPts val="1000"/>
              <a:buFont typeface="Calibri"/>
              <a:buChar char="•"/>
            </a:pPr>
            <a:r>
              <a:rPr lang="en" sz="1000">
                <a:solidFill>
                  <a:srgbClr val="1A1A1A"/>
                </a:solidFill>
                <a:latin typeface="Calibri"/>
                <a:ea typeface="Calibri"/>
                <a:cs typeface="Calibri"/>
                <a:sym typeface="Calibri"/>
              </a:rPr>
              <a:t>The biggest gain comes from vLLM-Omni’s stage-aware batching and scheduling. By processing multiple requests together, GPU work is amortized across a larger batch instead of repeatedly paying per-request overhead.</a:t>
            </a:r>
            <a:endParaRPr sz="1000">
              <a:solidFill>
                <a:srgbClr val="1A1A1A"/>
              </a:solidFill>
              <a:latin typeface="Calibri"/>
              <a:ea typeface="Calibri"/>
              <a:cs typeface="Calibri"/>
              <a:sym typeface="Calibri"/>
            </a:endParaRPr>
          </a:p>
          <a:p>
            <a:pPr indent="-254000" lvl="0" marL="254000" marR="0" rtl="0" algn="l">
              <a:spcBef>
                <a:spcPts val="600"/>
              </a:spcBef>
              <a:spcAft>
                <a:spcPts val="0"/>
              </a:spcAft>
              <a:buClr>
                <a:srgbClr val="1A1A1A"/>
              </a:buClr>
              <a:buSzPts val="1000"/>
              <a:buFont typeface="Calibri"/>
              <a:buChar char="•"/>
            </a:pPr>
            <a:r>
              <a:rPr lang="en" sz="1000">
                <a:solidFill>
                  <a:srgbClr val="1A1A1A"/>
                </a:solidFill>
                <a:latin typeface="Calibri"/>
                <a:ea typeface="Calibri"/>
                <a:cs typeface="Calibri"/>
                <a:sym typeface="Calibri"/>
              </a:rPr>
              <a:t>For the async delay model, it is to be noted that for batch size 128 and 256, it reaches an OOM error, defaulting to single requests after memory is exceeded.</a:t>
            </a:r>
            <a:endParaRPr sz="1000">
              <a:solidFill>
                <a:srgbClr val="1A1A1A"/>
              </a:solidFill>
              <a:latin typeface="Calibri"/>
              <a:ea typeface="Calibri"/>
              <a:cs typeface="Calibri"/>
              <a:sym typeface="Calibri"/>
            </a:endParaRPr>
          </a:p>
        </p:txBody>
      </p:sp>
      <p:sp>
        <p:nvSpPr>
          <p:cNvPr id="154" name="Google Shape;154;p11"/>
          <p:cNvSpPr/>
          <p:nvPr/>
        </p:nvSpPr>
        <p:spPr>
          <a:xfrm>
            <a:off x="342900" y="4903470"/>
            <a:ext cx="41148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800"/>
              <a:buFont typeface="Calibri"/>
              <a:buNone/>
            </a:pPr>
            <a:r>
              <a:rPr b="0" i="1" lang="en" sz="800" u="none" cap="none" strike="noStrike">
                <a:solidFill>
                  <a:srgbClr val="6B6F76"/>
                </a:solidFill>
                <a:latin typeface="Calibri"/>
                <a:ea typeface="Calibri"/>
                <a:cs typeface="Calibri"/>
                <a:sym typeface="Calibri"/>
              </a:rPr>
              <a:t>HPML · Spring 2026</a:t>
            </a:r>
            <a:endParaRPr b="0" i="0" sz="800" u="none" cap="none" strike="noStrike">
              <a:solidFill>
                <a:schemeClr val="dk1"/>
              </a:solidFill>
              <a:latin typeface="Calibri"/>
              <a:ea typeface="Calibri"/>
              <a:cs typeface="Calibri"/>
              <a:sym typeface="Calibri"/>
            </a:endParaRPr>
          </a:p>
        </p:txBody>
      </p:sp>
      <p:sp>
        <p:nvSpPr>
          <p:cNvPr id="155" name="Google Shape;155;p11"/>
          <p:cNvSpPr/>
          <p:nvPr/>
        </p:nvSpPr>
        <p:spPr>
          <a:xfrm>
            <a:off x="4684014" y="4903470"/>
            <a:ext cx="41148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800"/>
              <a:buFont typeface="Calibri"/>
              <a:buNone/>
            </a:pPr>
            <a:r>
              <a:rPr lang="en" sz="800">
                <a:solidFill>
                  <a:srgbClr val="6B6F76"/>
                </a:solidFill>
                <a:latin typeface="Calibri"/>
                <a:ea typeface="Calibri"/>
                <a:cs typeface="Calibri"/>
                <a:sym typeface="Calibri"/>
              </a:rPr>
              <a:t>8 </a:t>
            </a:r>
            <a:r>
              <a:rPr b="0" i="0" lang="en" sz="800" u="none" cap="none" strike="noStrike">
                <a:solidFill>
                  <a:srgbClr val="6B6F76"/>
                </a:solidFill>
                <a:latin typeface="Calibri"/>
                <a:ea typeface="Calibri"/>
                <a:cs typeface="Calibri"/>
                <a:sym typeface="Calibri"/>
              </a:rPr>
              <a:t>/ 1</a:t>
            </a:r>
            <a:r>
              <a:rPr lang="en" sz="800">
                <a:solidFill>
                  <a:srgbClr val="6B6F76"/>
                </a:solidFill>
                <a:latin typeface="Calibri"/>
                <a:ea typeface="Calibri"/>
                <a:cs typeface="Calibri"/>
                <a:sym typeface="Calibri"/>
              </a:rPr>
              <a:t>5</a:t>
            </a:r>
            <a:endParaRPr b="0" i="0" sz="800" u="none" cap="none" strike="noStrike">
              <a:solidFill>
                <a:schemeClr val="dk1"/>
              </a:solidFill>
              <a:latin typeface="Calibri"/>
              <a:ea typeface="Calibri"/>
              <a:cs typeface="Calibri"/>
              <a:sym typeface="Calibri"/>
            </a:endParaRPr>
          </a:p>
        </p:txBody>
      </p:sp>
      <p:pic>
        <p:nvPicPr>
          <p:cNvPr id="156" name="Google Shape;156;p11"/>
          <p:cNvPicPr preferRelativeResize="0"/>
          <p:nvPr/>
        </p:nvPicPr>
        <p:blipFill>
          <a:blip r:embed="rId3">
            <a:alphaModFix/>
          </a:blip>
          <a:stretch>
            <a:fillRect/>
          </a:stretch>
        </p:blipFill>
        <p:spPr>
          <a:xfrm>
            <a:off x="404143" y="1337400"/>
            <a:ext cx="4618800" cy="280262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1" name="Shape 161"/>
        <p:cNvGrpSpPr/>
        <p:nvPr/>
      </p:nvGrpSpPr>
      <p:grpSpPr>
        <a:xfrm>
          <a:off x="0" y="0"/>
          <a:ext cx="0" cy="0"/>
          <a:chOff x="0" y="0"/>
          <a:chExt cx="0" cy="0"/>
        </a:xfrm>
      </p:grpSpPr>
      <p:sp>
        <p:nvSpPr>
          <p:cNvPr id="162" name="Google Shape;162;p12"/>
          <p:cNvSpPr/>
          <p:nvPr/>
        </p:nvSpPr>
        <p:spPr>
          <a:xfrm>
            <a:off x="342900" y="994410"/>
            <a:ext cx="8229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800"/>
              <a:buFont typeface="Calibri"/>
              <a:buNone/>
            </a:pPr>
            <a:r>
              <a:t/>
            </a:r>
            <a:endParaRPr b="0" i="0" sz="800" u="none" cap="none" strike="noStrike">
              <a:solidFill>
                <a:schemeClr val="dk1"/>
              </a:solidFill>
              <a:latin typeface="Calibri"/>
              <a:ea typeface="Calibri"/>
              <a:cs typeface="Calibri"/>
              <a:sym typeface="Calibri"/>
            </a:endParaRPr>
          </a:p>
        </p:txBody>
      </p:sp>
      <p:sp>
        <p:nvSpPr>
          <p:cNvPr id="163" name="Google Shape;163;p12"/>
          <p:cNvSpPr/>
          <p:nvPr/>
        </p:nvSpPr>
        <p:spPr>
          <a:xfrm>
            <a:off x="530392" y="3571439"/>
            <a:ext cx="7861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200"/>
              <a:buFont typeface="Calibri"/>
              <a:buNone/>
            </a:pPr>
            <a:r>
              <a:rPr b="1" i="0" lang="en" sz="1200" u="none" cap="none" strike="noStrike">
                <a:solidFill>
                  <a:srgbClr val="1A1A1A"/>
                </a:solidFill>
                <a:latin typeface="Calibri"/>
                <a:ea typeface="Calibri"/>
                <a:cs typeface="Calibri"/>
                <a:sym typeface="Calibri"/>
              </a:rPr>
              <a:t>Takeaway</a:t>
            </a:r>
            <a:endParaRPr b="0" i="0" sz="1200" u="none" cap="none" strike="noStrike">
              <a:solidFill>
                <a:schemeClr val="dk1"/>
              </a:solidFill>
              <a:latin typeface="Calibri"/>
              <a:ea typeface="Calibri"/>
              <a:cs typeface="Calibri"/>
              <a:sym typeface="Calibri"/>
            </a:endParaRPr>
          </a:p>
        </p:txBody>
      </p:sp>
      <p:sp>
        <p:nvSpPr>
          <p:cNvPr id="164" name="Google Shape;164;p12"/>
          <p:cNvSpPr/>
          <p:nvPr/>
        </p:nvSpPr>
        <p:spPr>
          <a:xfrm>
            <a:off x="527100" y="3880089"/>
            <a:ext cx="7861200" cy="944400"/>
          </a:xfrm>
          <a:prstGeom prst="rect">
            <a:avLst/>
          </a:prstGeom>
          <a:noFill/>
          <a:ln>
            <a:noFill/>
          </a:ln>
        </p:spPr>
        <p:txBody>
          <a:bodyPr anchorCtr="0" anchor="t" bIns="34275" lIns="68575" spcFirstLastPara="1" rIns="68575" wrap="square" tIns="34275">
            <a:noAutofit/>
          </a:bodyPr>
          <a:lstStyle/>
          <a:p>
            <a:pPr indent="-254000" lvl="0" marL="254000" marR="0" rtl="0" algn="l">
              <a:spcBef>
                <a:spcPts val="600"/>
              </a:spcBef>
              <a:spcAft>
                <a:spcPts val="0"/>
              </a:spcAft>
              <a:buClr>
                <a:srgbClr val="1A1A1A"/>
              </a:buClr>
              <a:buSzPts val="1000"/>
              <a:buFont typeface="Calibri"/>
              <a:buChar char="•"/>
            </a:pPr>
            <a:r>
              <a:rPr lang="en" sz="1000">
                <a:solidFill>
                  <a:schemeClr val="dk1"/>
                </a:solidFill>
                <a:latin typeface="Calibri"/>
                <a:ea typeface="Calibri"/>
                <a:cs typeface="Calibri"/>
                <a:sym typeface="Calibri"/>
              </a:rPr>
              <a:t>First Chunk Latency(TTFA) is significantly reduced for Async methods, which are optimized for outputting while generating</a:t>
            </a:r>
            <a:endParaRPr sz="1000">
              <a:solidFill>
                <a:schemeClr val="dk1"/>
              </a:solidFill>
              <a:latin typeface="Calibri"/>
              <a:ea typeface="Calibri"/>
              <a:cs typeface="Calibri"/>
              <a:sym typeface="Calibri"/>
            </a:endParaRPr>
          </a:p>
          <a:p>
            <a:pPr indent="-254000" lvl="0" marL="254000" marR="0" rtl="0" algn="l">
              <a:spcBef>
                <a:spcPts val="60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RTF for all variants of the VLLM-Omni models are significantly lower than the HF counterparts</a:t>
            </a:r>
            <a:endParaRPr sz="1000">
              <a:solidFill>
                <a:schemeClr val="dk1"/>
              </a:solidFill>
              <a:latin typeface="Calibri"/>
              <a:ea typeface="Calibri"/>
              <a:cs typeface="Calibri"/>
              <a:sym typeface="Calibri"/>
            </a:endParaRPr>
          </a:p>
        </p:txBody>
      </p:sp>
      <p:sp>
        <p:nvSpPr>
          <p:cNvPr id="165" name="Google Shape;165;p12"/>
          <p:cNvSpPr/>
          <p:nvPr/>
        </p:nvSpPr>
        <p:spPr>
          <a:xfrm>
            <a:off x="342900" y="4903470"/>
            <a:ext cx="41148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800"/>
              <a:buFont typeface="Calibri"/>
              <a:buNone/>
            </a:pPr>
            <a:r>
              <a:rPr b="0" i="1" lang="en" sz="800" u="none" cap="none" strike="noStrike">
                <a:solidFill>
                  <a:srgbClr val="6B6F76"/>
                </a:solidFill>
                <a:latin typeface="Calibri"/>
                <a:ea typeface="Calibri"/>
                <a:cs typeface="Calibri"/>
                <a:sym typeface="Calibri"/>
              </a:rPr>
              <a:t>HPML · Spring 2026</a:t>
            </a:r>
            <a:endParaRPr b="0" i="0" sz="800" u="none" cap="none" strike="noStrike">
              <a:solidFill>
                <a:schemeClr val="dk1"/>
              </a:solidFill>
              <a:latin typeface="Calibri"/>
              <a:ea typeface="Calibri"/>
              <a:cs typeface="Calibri"/>
              <a:sym typeface="Calibri"/>
            </a:endParaRPr>
          </a:p>
        </p:txBody>
      </p:sp>
      <p:sp>
        <p:nvSpPr>
          <p:cNvPr id="166" name="Google Shape;166;p12"/>
          <p:cNvSpPr/>
          <p:nvPr/>
        </p:nvSpPr>
        <p:spPr>
          <a:xfrm>
            <a:off x="4684014" y="4903470"/>
            <a:ext cx="41148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800"/>
              <a:buFont typeface="Calibri"/>
              <a:buNone/>
            </a:pPr>
            <a:r>
              <a:rPr lang="en" sz="800">
                <a:solidFill>
                  <a:srgbClr val="6B6F76"/>
                </a:solidFill>
                <a:latin typeface="Calibri"/>
                <a:ea typeface="Calibri"/>
                <a:cs typeface="Calibri"/>
                <a:sym typeface="Calibri"/>
              </a:rPr>
              <a:t>9</a:t>
            </a:r>
            <a:r>
              <a:rPr b="0" i="0" lang="en" sz="800" u="none" cap="none" strike="noStrike">
                <a:solidFill>
                  <a:srgbClr val="6B6F76"/>
                </a:solidFill>
                <a:latin typeface="Calibri"/>
                <a:ea typeface="Calibri"/>
                <a:cs typeface="Calibri"/>
                <a:sym typeface="Calibri"/>
              </a:rPr>
              <a:t> / 1</a:t>
            </a:r>
            <a:r>
              <a:rPr lang="en" sz="800">
                <a:solidFill>
                  <a:srgbClr val="6B6F76"/>
                </a:solidFill>
                <a:latin typeface="Calibri"/>
                <a:ea typeface="Calibri"/>
                <a:cs typeface="Calibri"/>
                <a:sym typeface="Calibri"/>
              </a:rPr>
              <a:t>5</a:t>
            </a:r>
            <a:endParaRPr b="0" i="0" sz="800" u="none" cap="none" strike="noStrike">
              <a:solidFill>
                <a:schemeClr val="dk1"/>
              </a:solidFill>
              <a:latin typeface="Calibri"/>
              <a:ea typeface="Calibri"/>
              <a:cs typeface="Calibri"/>
              <a:sym typeface="Calibri"/>
            </a:endParaRPr>
          </a:p>
        </p:txBody>
      </p:sp>
      <p:sp>
        <p:nvSpPr>
          <p:cNvPr id="167" name="Google Shape;167;p12"/>
          <p:cNvSpPr/>
          <p:nvPr/>
        </p:nvSpPr>
        <p:spPr>
          <a:xfrm>
            <a:off x="342900" y="377190"/>
            <a:ext cx="8455800" cy="48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400"/>
              <a:buFont typeface="Calibri"/>
              <a:buNone/>
            </a:pPr>
            <a:r>
              <a:rPr b="1" i="0" lang="en" sz="2400" u="none" cap="none" strike="noStrike">
                <a:solidFill>
                  <a:srgbClr val="1A1A1A"/>
                </a:solidFill>
                <a:latin typeface="Calibri"/>
                <a:ea typeface="Calibri"/>
                <a:cs typeface="Calibri"/>
                <a:sym typeface="Calibri"/>
              </a:rPr>
              <a:t>Results — Before vs. After - </a:t>
            </a:r>
            <a:r>
              <a:rPr b="1" lang="en" sz="2400">
                <a:solidFill>
                  <a:srgbClr val="1A1A1A"/>
                </a:solidFill>
                <a:latin typeface="Calibri"/>
                <a:ea typeface="Calibri"/>
                <a:cs typeface="Calibri"/>
                <a:sym typeface="Calibri"/>
              </a:rPr>
              <a:t>FCL</a:t>
            </a:r>
            <a:endParaRPr b="0" i="0" sz="2400" u="none" cap="none" strike="noStrike">
              <a:solidFill>
                <a:schemeClr val="dk1"/>
              </a:solidFill>
              <a:latin typeface="Calibri"/>
              <a:ea typeface="Calibri"/>
              <a:cs typeface="Calibri"/>
              <a:sym typeface="Calibri"/>
            </a:endParaRPr>
          </a:p>
        </p:txBody>
      </p:sp>
      <p:cxnSp>
        <p:nvCxnSpPr>
          <p:cNvPr id="168" name="Google Shape;168;p12"/>
          <p:cNvCxnSpPr/>
          <p:nvPr/>
        </p:nvCxnSpPr>
        <p:spPr>
          <a:xfrm>
            <a:off x="342900" y="891540"/>
            <a:ext cx="8455800" cy="0"/>
          </a:xfrm>
          <a:prstGeom prst="straightConnector1">
            <a:avLst/>
          </a:prstGeom>
          <a:noFill/>
          <a:ln cap="flat" cmpd="sng" w="9525">
            <a:solidFill>
              <a:srgbClr val="D9D9D9"/>
            </a:solidFill>
            <a:prstDash val="solid"/>
            <a:round/>
            <a:headEnd len="sm" w="sm" type="none"/>
            <a:tailEnd len="sm" w="sm" type="none"/>
          </a:ln>
        </p:spPr>
      </p:cxnSp>
      <p:pic>
        <p:nvPicPr>
          <p:cNvPr id="169" name="Google Shape;169;p12"/>
          <p:cNvPicPr preferRelativeResize="0"/>
          <p:nvPr/>
        </p:nvPicPr>
        <p:blipFill>
          <a:blip r:embed="rId3">
            <a:alphaModFix/>
          </a:blip>
          <a:stretch>
            <a:fillRect/>
          </a:stretch>
        </p:blipFill>
        <p:spPr>
          <a:xfrm>
            <a:off x="1029550" y="1256235"/>
            <a:ext cx="7084899" cy="206642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4" name="Shape 174"/>
        <p:cNvGrpSpPr/>
        <p:nvPr/>
      </p:nvGrpSpPr>
      <p:grpSpPr>
        <a:xfrm>
          <a:off x="0" y="0"/>
          <a:ext cx="0" cy="0"/>
          <a:chOff x="0" y="0"/>
          <a:chExt cx="0" cy="0"/>
        </a:xfrm>
      </p:grpSpPr>
      <p:sp>
        <p:nvSpPr>
          <p:cNvPr id="175" name="Google Shape;175;p13"/>
          <p:cNvSpPr/>
          <p:nvPr/>
        </p:nvSpPr>
        <p:spPr>
          <a:xfrm>
            <a:off x="342900" y="377190"/>
            <a:ext cx="8455914"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400"/>
              <a:buFont typeface="Calibri"/>
              <a:buNone/>
            </a:pPr>
            <a:r>
              <a:rPr b="1" i="0" lang="en" sz="2400" u="none" cap="none" strike="noStrike">
                <a:solidFill>
                  <a:srgbClr val="1A1A1A"/>
                </a:solidFill>
                <a:latin typeface="Calibri"/>
                <a:ea typeface="Calibri"/>
                <a:cs typeface="Calibri"/>
                <a:sym typeface="Calibri"/>
              </a:rPr>
              <a:t>Profiler Evidence - Stage 0 Local Transfo</a:t>
            </a:r>
            <a:r>
              <a:rPr b="1" lang="en" sz="2400">
                <a:solidFill>
                  <a:srgbClr val="1A1A1A"/>
                </a:solidFill>
                <a:latin typeface="Calibri"/>
                <a:ea typeface="Calibri"/>
                <a:cs typeface="Calibri"/>
                <a:sym typeface="Calibri"/>
              </a:rPr>
              <a:t>rmer</a:t>
            </a:r>
            <a:endParaRPr b="0" i="0" sz="2400" u="none" cap="none" strike="noStrike">
              <a:solidFill>
                <a:schemeClr val="dk1"/>
              </a:solidFill>
              <a:latin typeface="Calibri"/>
              <a:ea typeface="Calibri"/>
              <a:cs typeface="Calibri"/>
              <a:sym typeface="Calibri"/>
            </a:endParaRPr>
          </a:p>
        </p:txBody>
      </p:sp>
      <p:cxnSp>
        <p:nvCxnSpPr>
          <p:cNvPr id="176" name="Google Shape;176;p13"/>
          <p:cNvCxnSpPr/>
          <p:nvPr/>
        </p:nvCxnSpPr>
        <p:spPr>
          <a:xfrm>
            <a:off x="342900" y="891540"/>
            <a:ext cx="8455914" cy="0"/>
          </a:xfrm>
          <a:prstGeom prst="straightConnector1">
            <a:avLst/>
          </a:prstGeom>
          <a:noFill/>
          <a:ln cap="flat" cmpd="sng" w="9525">
            <a:solidFill>
              <a:srgbClr val="D9D9D9"/>
            </a:solidFill>
            <a:prstDash val="solid"/>
            <a:round/>
            <a:headEnd len="sm" w="sm" type="none"/>
            <a:tailEnd len="sm" w="sm" type="none"/>
          </a:ln>
        </p:spPr>
      </p:cxnSp>
      <p:sp>
        <p:nvSpPr>
          <p:cNvPr id="177" name="Google Shape;177;p13"/>
          <p:cNvSpPr/>
          <p:nvPr/>
        </p:nvSpPr>
        <p:spPr>
          <a:xfrm>
            <a:off x="342900" y="994410"/>
            <a:ext cx="82296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800"/>
              <a:buFont typeface="Calibri"/>
              <a:buNone/>
            </a:pPr>
            <a:r>
              <a:t/>
            </a:r>
            <a:endParaRPr b="0" i="0" sz="800" u="none" cap="none" strike="noStrike">
              <a:solidFill>
                <a:schemeClr val="dk1"/>
              </a:solidFill>
              <a:latin typeface="Calibri"/>
              <a:ea typeface="Calibri"/>
              <a:cs typeface="Calibri"/>
              <a:sym typeface="Calibri"/>
            </a:endParaRPr>
          </a:p>
        </p:txBody>
      </p:sp>
      <p:sp>
        <p:nvSpPr>
          <p:cNvPr id="178" name="Google Shape;178;p13"/>
          <p:cNvSpPr/>
          <p:nvPr/>
        </p:nvSpPr>
        <p:spPr>
          <a:xfrm>
            <a:off x="342900" y="4903470"/>
            <a:ext cx="41148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800"/>
              <a:buFont typeface="Calibri"/>
              <a:buNone/>
            </a:pPr>
            <a:r>
              <a:rPr b="0" i="1" lang="en" sz="800" u="none" cap="none" strike="noStrike">
                <a:solidFill>
                  <a:srgbClr val="6B6F76"/>
                </a:solidFill>
                <a:latin typeface="Calibri"/>
                <a:ea typeface="Calibri"/>
                <a:cs typeface="Calibri"/>
                <a:sym typeface="Calibri"/>
              </a:rPr>
              <a:t>HPML · Spring 2026</a:t>
            </a:r>
            <a:endParaRPr b="0" i="0" sz="800" u="none" cap="none" strike="noStrike">
              <a:solidFill>
                <a:schemeClr val="dk1"/>
              </a:solidFill>
              <a:latin typeface="Calibri"/>
              <a:ea typeface="Calibri"/>
              <a:cs typeface="Calibri"/>
              <a:sym typeface="Calibri"/>
            </a:endParaRPr>
          </a:p>
        </p:txBody>
      </p:sp>
      <p:sp>
        <p:nvSpPr>
          <p:cNvPr id="179" name="Google Shape;179;p13"/>
          <p:cNvSpPr/>
          <p:nvPr/>
        </p:nvSpPr>
        <p:spPr>
          <a:xfrm>
            <a:off x="4684014" y="4903470"/>
            <a:ext cx="4114800" cy="2057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800"/>
              <a:buFont typeface="Calibri"/>
              <a:buNone/>
            </a:pPr>
            <a:r>
              <a:rPr lang="en" sz="800">
                <a:solidFill>
                  <a:srgbClr val="6B6F76"/>
                </a:solidFill>
                <a:latin typeface="Calibri"/>
                <a:ea typeface="Calibri"/>
                <a:cs typeface="Calibri"/>
                <a:sym typeface="Calibri"/>
              </a:rPr>
              <a:t>10</a:t>
            </a:r>
            <a:r>
              <a:rPr b="0" i="0" lang="en" sz="800" u="none" cap="none" strike="noStrike">
                <a:solidFill>
                  <a:srgbClr val="6B6F76"/>
                </a:solidFill>
                <a:latin typeface="Calibri"/>
                <a:ea typeface="Calibri"/>
                <a:cs typeface="Calibri"/>
                <a:sym typeface="Calibri"/>
              </a:rPr>
              <a:t>/ </a:t>
            </a:r>
            <a:r>
              <a:rPr lang="en" sz="800">
                <a:solidFill>
                  <a:srgbClr val="6B6F76"/>
                </a:solidFill>
                <a:latin typeface="Calibri"/>
                <a:ea typeface="Calibri"/>
                <a:cs typeface="Calibri"/>
                <a:sym typeface="Calibri"/>
              </a:rPr>
              <a:t>15</a:t>
            </a:r>
            <a:endParaRPr b="0" i="0" sz="800" u="none" cap="none" strike="noStrike">
              <a:solidFill>
                <a:schemeClr val="dk1"/>
              </a:solidFill>
              <a:latin typeface="Calibri"/>
              <a:ea typeface="Calibri"/>
              <a:cs typeface="Calibri"/>
              <a:sym typeface="Calibri"/>
            </a:endParaRPr>
          </a:p>
        </p:txBody>
      </p:sp>
      <p:grpSp>
        <p:nvGrpSpPr>
          <p:cNvPr id="180" name="Google Shape;180;p13"/>
          <p:cNvGrpSpPr/>
          <p:nvPr/>
        </p:nvGrpSpPr>
        <p:grpSpPr>
          <a:xfrm>
            <a:off x="342900" y="1406062"/>
            <a:ext cx="8393876" cy="762324"/>
            <a:chOff x="342900" y="1328522"/>
            <a:chExt cx="8393876" cy="762324"/>
          </a:xfrm>
        </p:grpSpPr>
        <p:pic>
          <p:nvPicPr>
            <p:cNvPr id="181" name="Google Shape;181;p13" title="Screenshot 2026-05-06 at 8.13.59 PM.png"/>
            <p:cNvPicPr preferRelativeResize="0"/>
            <p:nvPr/>
          </p:nvPicPr>
          <p:blipFill>
            <a:blip r:embed="rId3">
              <a:alphaModFix/>
            </a:blip>
            <a:stretch>
              <a:fillRect/>
            </a:stretch>
          </p:blipFill>
          <p:spPr>
            <a:xfrm>
              <a:off x="342900" y="1328522"/>
              <a:ext cx="8393876" cy="762324"/>
            </a:xfrm>
            <a:prstGeom prst="rect">
              <a:avLst/>
            </a:prstGeom>
            <a:noFill/>
            <a:ln>
              <a:noFill/>
            </a:ln>
          </p:spPr>
        </p:pic>
        <p:sp>
          <p:nvSpPr>
            <p:cNvPr id="182" name="Google Shape;182;p13"/>
            <p:cNvSpPr/>
            <p:nvPr/>
          </p:nvSpPr>
          <p:spPr>
            <a:xfrm>
              <a:off x="1801000" y="1649182"/>
              <a:ext cx="6874800" cy="1038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183" name="Google Shape;183;p13"/>
          <p:cNvGrpSpPr/>
          <p:nvPr/>
        </p:nvGrpSpPr>
        <p:grpSpPr>
          <a:xfrm>
            <a:off x="3503833" y="2821638"/>
            <a:ext cx="2804484" cy="1353744"/>
            <a:chOff x="380100" y="1152024"/>
            <a:chExt cx="3907600" cy="1886225"/>
          </a:xfrm>
        </p:grpSpPr>
        <p:pic>
          <p:nvPicPr>
            <p:cNvPr id="184" name="Google Shape;184;p13" title="Screenshot 2026-05-05 at 6.41.33 PM.png"/>
            <p:cNvPicPr preferRelativeResize="0"/>
            <p:nvPr/>
          </p:nvPicPr>
          <p:blipFill>
            <a:blip r:embed="rId4">
              <a:alphaModFix/>
            </a:blip>
            <a:stretch>
              <a:fillRect/>
            </a:stretch>
          </p:blipFill>
          <p:spPr>
            <a:xfrm>
              <a:off x="380100" y="1152024"/>
              <a:ext cx="3907600" cy="1886225"/>
            </a:xfrm>
            <a:prstGeom prst="rect">
              <a:avLst/>
            </a:prstGeom>
            <a:noFill/>
            <a:ln>
              <a:noFill/>
            </a:ln>
          </p:spPr>
        </p:pic>
        <p:sp>
          <p:nvSpPr>
            <p:cNvPr id="185" name="Google Shape;185;p13"/>
            <p:cNvSpPr/>
            <p:nvPr/>
          </p:nvSpPr>
          <p:spPr>
            <a:xfrm>
              <a:off x="510350" y="1786273"/>
              <a:ext cx="3777300" cy="103800"/>
            </a:xfrm>
            <a:prstGeom prst="rect">
              <a:avLst/>
            </a:prstGeom>
            <a:noFill/>
            <a:ln cap="flat" cmpd="sng" w="6825">
              <a:solidFill>
                <a:srgbClr val="FF0000"/>
              </a:solidFill>
              <a:prstDash val="solid"/>
              <a:round/>
              <a:headEnd len="sm" w="sm" type="none"/>
              <a:tailEnd len="sm" w="sm" type="none"/>
            </a:ln>
          </p:spPr>
          <p:txBody>
            <a:bodyPr anchorCtr="0" anchor="ctr" bIns="65600" lIns="65600" spcFirstLastPara="1" rIns="65600" wrap="square" tIns="65600">
              <a:noAutofit/>
            </a:bodyPr>
            <a:lstStyle/>
            <a:p>
              <a:pPr indent="0" lvl="0" marL="0" rtl="0" algn="ctr">
                <a:spcBef>
                  <a:spcPts val="0"/>
                </a:spcBef>
                <a:spcAft>
                  <a:spcPts val="0"/>
                </a:spcAft>
                <a:buNone/>
              </a:pPr>
              <a:r>
                <a:t/>
              </a:r>
              <a:endParaRPr sz="1005"/>
            </a:p>
          </p:txBody>
        </p:sp>
      </p:grpSp>
      <p:grpSp>
        <p:nvGrpSpPr>
          <p:cNvPr id="186" name="Google Shape;186;p13"/>
          <p:cNvGrpSpPr/>
          <p:nvPr/>
        </p:nvGrpSpPr>
        <p:grpSpPr>
          <a:xfrm>
            <a:off x="343076" y="2821638"/>
            <a:ext cx="2854192" cy="1353743"/>
            <a:chOff x="4742215" y="1144051"/>
            <a:chExt cx="3976860" cy="1886225"/>
          </a:xfrm>
        </p:grpSpPr>
        <p:pic>
          <p:nvPicPr>
            <p:cNvPr id="187" name="Google Shape;187;p13" title="Screenshot 2026-05-05 at 6.41.25 PM.png"/>
            <p:cNvPicPr preferRelativeResize="0"/>
            <p:nvPr/>
          </p:nvPicPr>
          <p:blipFill>
            <a:blip r:embed="rId5">
              <a:alphaModFix/>
            </a:blip>
            <a:stretch>
              <a:fillRect/>
            </a:stretch>
          </p:blipFill>
          <p:spPr>
            <a:xfrm>
              <a:off x="4742215" y="1144051"/>
              <a:ext cx="3976860" cy="1886225"/>
            </a:xfrm>
            <a:prstGeom prst="rect">
              <a:avLst/>
            </a:prstGeom>
            <a:noFill/>
            <a:ln>
              <a:noFill/>
            </a:ln>
          </p:spPr>
        </p:pic>
        <p:sp>
          <p:nvSpPr>
            <p:cNvPr id="188" name="Google Shape;188;p13"/>
            <p:cNvSpPr/>
            <p:nvPr/>
          </p:nvSpPr>
          <p:spPr>
            <a:xfrm>
              <a:off x="4801475" y="1786273"/>
              <a:ext cx="3777300" cy="103800"/>
            </a:xfrm>
            <a:prstGeom prst="rect">
              <a:avLst/>
            </a:prstGeom>
            <a:noFill/>
            <a:ln cap="flat" cmpd="sng" w="6825">
              <a:solidFill>
                <a:srgbClr val="FF0000"/>
              </a:solidFill>
              <a:prstDash val="solid"/>
              <a:round/>
              <a:headEnd len="sm" w="sm" type="none"/>
              <a:tailEnd len="sm" w="sm" type="none"/>
            </a:ln>
          </p:spPr>
          <p:txBody>
            <a:bodyPr anchorCtr="0" anchor="ctr" bIns="65600" lIns="65600" spcFirstLastPara="1" rIns="65600" wrap="square" tIns="65600">
              <a:noAutofit/>
            </a:bodyPr>
            <a:lstStyle/>
            <a:p>
              <a:pPr indent="0" lvl="0" marL="0" rtl="0" algn="ctr">
                <a:spcBef>
                  <a:spcPts val="0"/>
                </a:spcBef>
                <a:spcAft>
                  <a:spcPts val="0"/>
                </a:spcAft>
                <a:buNone/>
              </a:pPr>
              <a:r>
                <a:t/>
              </a:r>
              <a:endParaRPr sz="1005"/>
            </a:p>
          </p:txBody>
        </p:sp>
      </p:grpSp>
      <p:sp>
        <p:nvSpPr>
          <p:cNvPr id="189" name="Google Shape;189;p13"/>
          <p:cNvSpPr txBox="1"/>
          <p:nvPr/>
        </p:nvSpPr>
        <p:spPr>
          <a:xfrm>
            <a:off x="342898" y="2460375"/>
            <a:ext cx="2746200" cy="298200"/>
          </a:xfrm>
          <a:prstGeom prst="rect">
            <a:avLst/>
          </a:prstGeom>
          <a:noFill/>
          <a:ln>
            <a:noFill/>
          </a:ln>
        </p:spPr>
        <p:txBody>
          <a:bodyPr anchorCtr="0" anchor="t" bIns="65600" lIns="65600" spcFirstLastPara="1" rIns="65600" wrap="square" tIns="65600">
            <a:spAutoFit/>
          </a:bodyPr>
          <a:lstStyle/>
          <a:p>
            <a:pPr indent="0" lvl="0" marL="0" rtl="0" algn="l">
              <a:spcBef>
                <a:spcPts val="0"/>
              </a:spcBef>
              <a:spcAft>
                <a:spcPts val="0"/>
              </a:spcAft>
              <a:buNone/>
            </a:pPr>
            <a:r>
              <a:rPr b="1" lang="en" sz="1076">
                <a:solidFill>
                  <a:srgbClr val="1A1A1A"/>
                </a:solidFill>
                <a:latin typeface="Calibri"/>
                <a:ea typeface="Calibri"/>
                <a:cs typeface="Calibri"/>
                <a:sym typeface="Calibri"/>
              </a:rPr>
              <a:t>Before KV-Cache</a:t>
            </a:r>
            <a:endParaRPr sz="1076"/>
          </a:p>
        </p:txBody>
      </p:sp>
      <p:sp>
        <p:nvSpPr>
          <p:cNvPr id="190" name="Google Shape;190;p13"/>
          <p:cNvSpPr txBox="1"/>
          <p:nvPr/>
        </p:nvSpPr>
        <p:spPr>
          <a:xfrm>
            <a:off x="3503818" y="2460375"/>
            <a:ext cx="2746200" cy="298200"/>
          </a:xfrm>
          <a:prstGeom prst="rect">
            <a:avLst/>
          </a:prstGeom>
          <a:noFill/>
          <a:ln>
            <a:noFill/>
          </a:ln>
        </p:spPr>
        <p:txBody>
          <a:bodyPr anchorCtr="0" anchor="t" bIns="65600" lIns="65600" spcFirstLastPara="1" rIns="65600" wrap="square" tIns="65600">
            <a:spAutoFit/>
          </a:bodyPr>
          <a:lstStyle/>
          <a:p>
            <a:pPr indent="0" lvl="0" marL="0" rtl="0" algn="l">
              <a:spcBef>
                <a:spcPts val="0"/>
              </a:spcBef>
              <a:spcAft>
                <a:spcPts val="0"/>
              </a:spcAft>
              <a:buNone/>
            </a:pPr>
            <a:r>
              <a:rPr b="1" lang="en" sz="1076">
                <a:solidFill>
                  <a:srgbClr val="1A1A1A"/>
                </a:solidFill>
                <a:latin typeface="Calibri"/>
                <a:ea typeface="Calibri"/>
                <a:cs typeface="Calibri"/>
                <a:sym typeface="Calibri"/>
              </a:rPr>
              <a:t>After KV-Cache</a:t>
            </a:r>
            <a:endParaRPr sz="1076"/>
          </a:p>
        </p:txBody>
      </p:sp>
      <p:sp>
        <p:nvSpPr>
          <p:cNvPr id="191" name="Google Shape;191;p13"/>
          <p:cNvSpPr/>
          <p:nvPr/>
        </p:nvSpPr>
        <p:spPr>
          <a:xfrm>
            <a:off x="6754625" y="3022612"/>
            <a:ext cx="1569000" cy="76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5B2A"/>
              </a:buClr>
              <a:buSzPts val="2341"/>
              <a:buFont typeface="Calibri"/>
              <a:buNone/>
            </a:pPr>
            <a:r>
              <a:rPr b="1" lang="en" sz="3041">
                <a:solidFill>
                  <a:srgbClr val="C75B2A"/>
                </a:solidFill>
                <a:latin typeface="Calibri"/>
                <a:ea typeface="Calibri"/>
                <a:cs typeface="Calibri"/>
                <a:sym typeface="Calibri"/>
              </a:rPr>
              <a:t>~8%</a:t>
            </a:r>
            <a:endParaRPr b="0" i="0" sz="3041" u="none" cap="none" strike="noStrike">
              <a:solidFill>
                <a:schemeClr val="dk1"/>
              </a:solidFill>
              <a:latin typeface="Calibri"/>
              <a:ea typeface="Calibri"/>
              <a:cs typeface="Calibri"/>
              <a:sym typeface="Calibri"/>
            </a:endParaRPr>
          </a:p>
        </p:txBody>
      </p:sp>
      <p:sp>
        <p:nvSpPr>
          <p:cNvPr id="192" name="Google Shape;192;p13"/>
          <p:cNvSpPr/>
          <p:nvPr/>
        </p:nvSpPr>
        <p:spPr>
          <a:xfrm>
            <a:off x="6922438" y="3784916"/>
            <a:ext cx="1311300" cy="133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585"/>
              <a:buFont typeface="Calibri"/>
              <a:buNone/>
            </a:pPr>
            <a:r>
              <a:rPr b="1" lang="en" sz="1000">
                <a:solidFill>
                  <a:srgbClr val="1A1A1A"/>
                </a:solidFill>
                <a:latin typeface="Calibri"/>
                <a:ea typeface="Calibri"/>
                <a:cs typeface="Calibri"/>
                <a:sym typeface="Calibri"/>
              </a:rPr>
              <a:t>CUDA Time Reduction</a:t>
            </a:r>
            <a:endParaRPr b="0" i="0" sz="1000" u="none" cap="none" strike="noStrike">
              <a:solidFill>
                <a:schemeClr val="dk1"/>
              </a:solidFill>
              <a:latin typeface="Calibri"/>
              <a:ea typeface="Calibri"/>
              <a:cs typeface="Calibri"/>
              <a:sym typeface="Calibri"/>
            </a:endParaRPr>
          </a:p>
        </p:txBody>
      </p:sp>
      <p:sp>
        <p:nvSpPr>
          <p:cNvPr id="193" name="Google Shape;193;p13"/>
          <p:cNvSpPr txBox="1"/>
          <p:nvPr/>
        </p:nvSpPr>
        <p:spPr>
          <a:xfrm>
            <a:off x="397073" y="1086025"/>
            <a:ext cx="2746200" cy="298200"/>
          </a:xfrm>
          <a:prstGeom prst="rect">
            <a:avLst/>
          </a:prstGeom>
          <a:noFill/>
          <a:ln>
            <a:noFill/>
          </a:ln>
        </p:spPr>
        <p:txBody>
          <a:bodyPr anchorCtr="0" anchor="t" bIns="65600" lIns="65600" spcFirstLastPara="1" rIns="65600" wrap="square" tIns="65600">
            <a:spAutoFit/>
          </a:bodyPr>
          <a:lstStyle/>
          <a:p>
            <a:pPr indent="0" lvl="0" marL="0" rtl="0" algn="l">
              <a:spcBef>
                <a:spcPts val="0"/>
              </a:spcBef>
              <a:spcAft>
                <a:spcPts val="0"/>
              </a:spcAft>
              <a:buNone/>
            </a:pPr>
            <a:r>
              <a:rPr b="1" lang="en" sz="1076">
                <a:solidFill>
                  <a:srgbClr val="1A1A1A"/>
                </a:solidFill>
                <a:latin typeface="Calibri"/>
                <a:ea typeface="Calibri"/>
                <a:cs typeface="Calibri"/>
                <a:sym typeface="Calibri"/>
              </a:rPr>
              <a:t>MOSS-TTS-LOCAL </a:t>
            </a:r>
            <a:endParaRPr sz="1076"/>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8" name="Shape 198"/>
        <p:cNvGrpSpPr/>
        <p:nvPr/>
      </p:nvGrpSpPr>
      <p:grpSpPr>
        <a:xfrm>
          <a:off x="0" y="0"/>
          <a:ext cx="0" cy="0"/>
          <a:chOff x="0" y="0"/>
          <a:chExt cx="0" cy="0"/>
        </a:xfrm>
      </p:grpSpPr>
      <p:sp>
        <p:nvSpPr>
          <p:cNvPr id="199" name="Google Shape;199;p14"/>
          <p:cNvSpPr/>
          <p:nvPr/>
        </p:nvSpPr>
        <p:spPr>
          <a:xfrm>
            <a:off x="342900" y="377190"/>
            <a:ext cx="8455914"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400"/>
              <a:buFont typeface="Calibri"/>
              <a:buNone/>
            </a:pPr>
            <a:r>
              <a:rPr b="1" i="0" lang="en" sz="2400" u="none" cap="none" strike="noStrike">
                <a:solidFill>
                  <a:srgbClr val="1A1A1A"/>
                </a:solidFill>
                <a:latin typeface="Calibri"/>
                <a:ea typeface="Calibri"/>
                <a:cs typeface="Calibri"/>
                <a:sym typeface="Calibri"/>
              </a:rPr>
              <a:t>Demo / Visualization</a:t>
            </a:r>
            <a:endParaRPr b="0" i="0" sz="2400" u="none" cap="none" strike="noStrike">
              <a:solidFill>
                <a:schemeClr val="dk1"/>
              </a:solidFill>
              <a:latin typeface="Calibri"/>
              <a:ea typeface="Calibri"/>
              <a:cs typeface="Calibri"/>
              <a:sym typeface="Calibri"/>
            </a:endParaRPr>
          </a:p>
        </p:txBody>
      </p:sp>
      <p:cxnSp>
        <p:nvCxnSpPr>
          <p:cNvPr id="200" name="Google Shape;200;p14"/>
          <p:cNvCxnSpPr/>
          <p:nvPr/>
        </p:nvCxnSpPr>
        <p:spPr>
          <a:xfrm>
            <a:off x="342900" y="891540"/>
            <a:ext cx="8455914" cy="0"/>
          </a:xfrm>
          <a:prstGeom prst="straightConnector1">
            <a:avLst/>
          </a:prstGeom>
          <a:noFill/>
          <a:ln cap="flat" cmpd="sng" w="9525">
            <a:solidFill>
              <a:srgbClr val="D9D9D9"/>
            </a:solidFill>
            <a:prstDash val="solid"/>
            <a:round/>
            <a:headEnd len="sm" w="sm" type="none"/>
            <a:tailEnd len="sm" w="sm" type="none"/>
          </a:ln>
        </p:spPr>
      </p:cxnSp>
      <p:sp>
        <p:nvSpPr>
          <p:cNvPr id="201" name="Google Shape;201;p14"/>
          <p:cNvSpPr/>
          <p:nvPr/>
        </p:nvSpPr>
        <p:spPr>
          <a:xfrm>
            <a:off x="342900" y="4903470"/>
            <a:ext cx="41148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800"/>
              <a:buFont typeface="Calibri"/>
              <a:buNone/>
            </a:pPr>
            <a:r>
              <a:rPr b="0" i="1" lang="en" sz="800" u="none" cap="none" strike="noStrike">
                <a:solidFill>
                  <a:srgbClr val="6B6F76"/>
                </a:solidFill>
                <a:latin typeface="Calibri"/>
                <a:ea typeface="Calibri"/>
                <a:cs typeface="Calibri"/>
                <a:sym typeface="Calibri"/>
              </a:rPr>
              <a:t>HPML · Spring 2026</a:t>
            </a:r>
            <a:endParaRPr b="0" i="0" sz="800" u="none" cap="none" strike="noStrike">
              <a:solidFill>
                <a:schemeClr val="dk1"/>
              </a:solidFill>
              <a:latin typeface="Calibri"/>
              <a:ea typeface="Calibri"/>
              <a:cs typeface="Calibri"/>
              <a:sym typeface="Calibri"/>
            </a:endParaRPr>
          </a:p>
        </p:txBody>
      </p:sp>
      <p:sp>
        <p:nvSpPr>
          <p:cNvPr id="202" name="Google Shape;202;p14"/>
          <p:cNvSpPr/>
          <p:nvPr/>
        </p:nvSpPr>
        <p:spPr>
          <a:xfrm>
            <a:off x="4684014" y="4903470"/>
            <a:ext cx="4114800" cy="2057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800"/>
              <a:buFont typeface="Calibri"/>
              <a:buNone/>
            </a:pPr>
            <a:r>
              <a:rPr lang="en" sz="800">
                <a:solidFill>
                  <a:srgbClr val="6B6F76"/>
                </a:solidFill>
                <a:latin typeface="Calibri"/>
                <a:ea typeface="Calibri"/>
                <a:cs typeface="Calibri"/>
                <a:sym typeface="Calibri"/>
              </a:rPr>
              <a:t>11</a:t>
            </a:r>
            <a:r>
              <a:rPr b="0" i="0" lang="en" sz="800" u="none" cap="none" strike="noStrike">
                <a:solidFill>
                  <a:srgbClr val="6B6F76"/>
                </a:solidFill>
                <a:latin typeface="Calibri"/>
                <a:ea typeface="Calibri"/>
                <a:cs typeface="Calibri"/>
                <a:sym typeface="Calibri"/>
              </a:rPr>
              <a:t> / </a:t>
            </a:r>
            <a:r>
              <a:rPr lang="en" sz="800">
                <a:solidFill>
                  <a:srgbClr val="6B6F76"/>
                </a:solidFill>
                <a:latin typeface="Calibri"/>
                <a:ea typeface="Calibri"/>
                <a:cs typeface="Calibri"/>
                <a:sym typeface="Calibri"/>
              </a:rPr>
              <a:t>15</a:t>
            </a:r>
            <a:endParaRPr b="0" i="0" sz="800" u="none" cap="none" strike="noStrike">
              <a:solidFill>
                <a:schemeClr val="dk1"/>
              </a:solidFill>
              <a:latin typeface="Calibri"/>
              <a:ea typeface="Calibri"/>
              <a:cs typeface="Calibri"/>
              <a:sym typeface="Calibri"/>
            </a:endParaRPr>
          </a:p>
        </p:txBody>
      </p:sp>
      <p:pic>
        <p:nvPicPr>
          <p:cNvPr id="203" name="Google Shape;203;p14" title="HPML Demo - Moss-TTS-Delay Inference with vLLM-Omni">
            <a:hlinkClick r:id="rId3"/>
          </p:cNvPr>
          <p:cNvPicPr preferRelativeResize="0"/>
          <p:nvPr/>
        </p:nvPicPr>
        <p:blipFill>
          <a:blip r:embed="rId4">
            <a:alphaModFix/>
          </a:blip>
          <a:stretch>
            <a:fillRect/>
          </a:stretch>
        </p:blipFill>
        <p:spPr>
          <a:xfrm>
            <a:off x="1004713" y="874400"/>
            <a:ext cx="7132311" cy="40119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gtEl>
                                        <p:attrNameLst>
                                          <p:attrName>style.visibility</p:attrName>
                                        </p:attrNameLst>
                                      </p:cBhvr>
                                      <p:to>
                                        <p:strVal val="visible"/>
                                      </p:to>
                                    </p:set>
                                    <p:animEffect filter="fade" transition="in">
                                      <p:cBhvr>
                                        <p:cTn dur="1000"/>
                                        <p:tgtEl>
                                          <p:spTgt spid="2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8" name="Shape 208"/>
        <p:cNvGrpSpPr/>
        <p:nvPr/>
      </p:nvGrpSpPr>
      <p:grpSpPr>
        <a:xfrm>
          <a:off x="0" y="0"/>
          <a:ext cx="0" cy="0"/>
          <a:chOff x="0" y="0"/>
          <a:chExt cx="0" cy="0"/>
        </a:xfrm>
      </p:grpSpPr>
      <p:sp>
        <p:nvSpPr>
          <p:cNvPr id="209" name="Google Shape;209;p15"/>
          <p:cNvSpPr/>
          <p:nvPr/>
        </p:nvSpPr>
        <p:spPr>
          <a:xfrm>
            <a:off x="342900" y="377190"/>
            <a:ext cx="8455914"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400"/>
              <a:buFont typeface="Calibri"/>
              <a:buNone/>
            </a:pPr>
            <a:r>
              <a:rPr b="1" i="0" lang="en" sz="2400" u="none" cap="none" strike="noStrike">
                <a:solidFill>
                  <a:srgbClr val="1A1A1A"/>
                </a:solidFill>
                <a:latin typeface="Calibri"/>
                <a:ea typeface="Calibri"/>
                <a:cs typeface="Calibri"/>
                <a:sym typeface="Calibri"/>
              </a:rPr>
              <a:t>Lessons Learned</a:t>
            </a:r>
            <a:endParaRPr b="0" i="0" sz="2400" u="none" cap="none" strike="noStrike">
              <a:solidFill>
                <a:schemeClr val="dk1"/>
              </a:solidFill>
              <a:latin typeface="Calibri"/>
              <a:ea typeface="Calibri"/>
              <a:cs typeface="Calibri"/>
              <a:sym typeface="Calibri"/>
            </a:endParaRPr>
          </a:p>
        </p:txBody>
      </p:sp>
      <p:cxnSp>
        <p:nvCxnSpPr>
          <p:cNvPr id="210" name="Google Shape;210;p15"/>
          <p:cNvCxnSpPr/>
          <p:nvPr/>
        </p:nvCxnSpPr>
        <p:spPr>
          <a:xfrm>
            <a:off x="342900" y="891540"/>
            <a:ext cx="8455914" cy="0"/>
          </a:xfrm>
          <a:prstGeom prst="straightConnector1">
            <a:avLst/>
          </a:prstGeom>
          <a:noFill/>
          <a:ln cap="flat" cmpd="sng" w="9525">
            <a:solidFill>
              <a:srgbClr val="D9D9D9"/>
            </a:solidFill>
            <a:prstDash val="solid"/>
            <a:round/>
            <a:headEnd len="sm" w="sm" type="none"/>
            <a:tailEnd len="sm" w="sm" type="none"/>
          </a:ln>
        </p:spPr>
      </p:cxnSp>
      <p:sp>
        <p:nvSpPr>
          <p:cNvPr id="211" name="Google Shape;211;p15"/>
          <p:cNvSpPr/>
          <p:nvPr/>
        </p:nvSpPr>
        <p:spPr>
          <a:xfrm>
            <a:off x="342900" y="994410"/>
            <a:ext cx="82296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800"/>
              <a:buFont typeface="Calibri"/>
              <a:buNone/>
            </a:pPr>
            <a:r>
              <a:rPr b="0" i="1" lang="en" sz="800" u="none" cap="none" strike="noStrike">
                <a:solidFill>
                  <a:srgbClr val="6B6F76"/>
                </a:solidFill>
                <a:latin typeface="Calibri"/>
                <a:ea typeface="Calibri"/>
                <a:cs typeface="Calibri"/>
                <a:sym typeface="Calibri"/>
              </a:rPr>
              <a:t>Time budget: 1 minute. What surprised you? What didn't work? Be honest.</a:t>
            </a:r>
            <a:endParaRPr b="0" i="0" sz="800" u="none" cap="none" strike="noStrike">
              <a:solidFill>
                <a:schemeClr val="dk1"/>
              </a:solidFill>
              <a:latin typeface="Calibri"/>
              <a:ea typeface="Calibri"/>
              <a:cs typeface="Calibri"/>
              <a:sym typeface="Calibri"/>
            </a:endParaRPr>
          </a:p>
        </p:txBody>
      </p:sp>
      <p:sp>
        <p:nvSpPr>
          <p:cNvPr id="212" name="Google Shape;212;p15"/>
          <p:cNvSpPr/>
          <p:nvPr/>
        </p:nvSpPr>
        <p:spPr>
          <a:xfrm>
            <a:off x="342900" y="1371600"/>
            <a:ext cx="4114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200"/>
              <a:buFont typeface="Calibri"/>
              <a:buNone/>
            </a:pPr>
            <a:r>
              <a:rPr b="1" i="0" lang="en" sz="1200" u="none" cap="none" strike="noStrike">
                <a:solidFill>
                  <a:srgbClr val="1A1A1A"/>
                </a:solidFill>
                <a:latin typeface="Calibri"/>
                <a:ea typeface="Calibri"/>
                <a:cs typeface="Calibri"/>
                <a:sym typeface="Calibri"/>
              </a:rPr>
              <a:t>What worked</a:t>
            </a:r>
            <a:endParaRPr b="0" i="0" sz="1200" u="none" cap="none" strike="noStrike">
              <a:solidFill>
                <a:schemeClr val="dk1"/>
              </a:solidFill>
              <a:latin typeface="Calibri"/>
              <a:ea typeface="Calibri"/>
              <a:cs typeface="Calibri"/>
              <a:sym typeface="Calibri"/>
            </a:endParaRPr>
          </a:p>
        </p:txBody>
      </p:sp>
      <p:sp>
        <p:nvSpPr>
          <p:cNvPr id="213" name="Google Shape;213;p15"/>
          <p:cNvSpPr/>
          <p:nvPr/>
        </p:nvSpPr>
        <p:spPr>
          <a:xfrm>
            <a:off x="342900" y="1714500"/>
            <a:ext cx="4114800" cy="2743200"/>
          </a:xfrm>
          <a:prstGeom prst="rect">
            <a:avLst/>
          </a:prstGeom>
          <a:noFill/>
          <a:ln>
            <a:noFill/>
          </a:ln>
        </p:spPr>
        <p:txBody>
          <a:bodyPr anchorCtr="0" anchor="t" bIns="34275" lIns="68575" spcFirstLastPara="1" rIns="68575" wrap="square" tIns="34275">
            <a:noAutofit/>
          </a:bodyPr>
          <a:lstStyle/>
          <a:p>
            <a:pPr indent="-247650" lvl="0" marL="254000" marR="0" rtl="0" algn="l">
              <a:spcBef>
                <a:spcPts val="0"/>
              </a:spcBef>
              <a:spcAft>
                <a:spcPts val="0"/>
              </a:spcAft>
              <a:buClr>
                <a:srgbClr val="1A1A1A"/>
              </a:buClr>
              <a:buSzPts val="1100"/>
              <a:buFont typeface="Calibri"/>
              <a:buChar char="•"/>
            </a:pPr>
            <a:r>
              <a:rPr lang="en" sz="1100">
                <a:solidFill>
                  <a:srgbClr val="1A1A1A"/>
                </a:solidFill>
                <a:latin typeface="Calibri"/>
                <a:ea typeface="Calibri"/>
                <a:cs typeface="Calibri"/>
                <a:sym typeface="Calibri"/>
              </a:rPr>
              <a:t>Successful end-to-end Integration with vLLM-omni </a:t>
            </a:r>
            <a:r>
              <a:rPr lang="en" sz="1100">
                <a:solidFill>
                  <a:srgbClr val="1A1A1A"/>
                </a:solidFill>
                <a:latin typeface="Calibri"/>
                <a:ea typeface="Calibri"/>
                <a:cs typeface="Calibri"/>
                <a:sym typeface="Calibri"/>
              </a:rPr>
              <a:t>for both MOSS-TTS-Local and MOSS-TTS-Delay</a:t>
            </a:r>
            <a:endParaRPr b="0" i="0" sz="1100" u="none" cap="none" strike="noStrike">
              <a:solidFill>
                <a:schemeClr val="dk1"/>
              </a:solidFill>
              <a:latin typeface="Calibri"/>
              <a:ea typeface="Calibri"/>
              <a:cs typeface="Calibri"/>
              <a:sym typeface="Calibri"/>
            </a:endParaRPr>
          </a:p>
          <a:p>
            <a:pPr indent="-247650" lvl="0" marL="254000" marR="0" rtl="0" algn="l">
              <a:spcBef>
                <a:spcPts val="600"/>
              </a:spcBef>
              <a:spcAft>
                <a:spcPts val="0"/>
              </a:spcAft>
              <a:buClr>
                <a:srgbClr val="1A1A1A"/>
              </a:buClr>
              <a:buSzPts val="1100"/>
              <a:buFont typeface="Calibri"/>
              <a:buChar char="•"/>
            </a:pPr>
            <a:r>
              <a:rPr lang="en" sz="1100">
                <a:solidFill>
                  <a:srgbClr val="1A1A1A"/>
                </a:solidFill>
                <a:latin typeface="Calibri"/>
                <a:ea typeface="Calibri"/>
                <a:cs typeface="Calibri"/>
                <a:sym typeface="Calibri"/>
              </a:rPr>
              <a:t>PagedAttention &amp; Fused Kernel supported natively by vLLM’s version of Qwen3 were the main contributors to the improved performance in throughput.</a:t>
            </a:r>
            <a:endParaRPr b="0" i="0" sz="1100" u="none" cap="none" strike="noStrike">
              <a:solidFill>
                <a:schemeClr val="dk1"/>
              </a:solidFill>
              <a:latin typeface="Calibri"/>
              <a:ea typeface="Calibri"/>
              <a:cs typeface="Calibri"/>
              <a:sym typeface="Calibri"/>
            </a:endParaRPr>
          </a:p>
          <a:p>
            <a:pPr indent="-247650" lvl="0" marL="254000" marR="0" rtl="0" algn="l">
              <a:spcBef>
                <a:spcPts val="600"/>
              </a:spcBef>
              <a:spcAft>
                <a:spcPts val="0"/>
              </a:spcAft>
              <a:buClr>
                <a:srgbClr val="1A1A1A"/>
              </a:buClr>
              <a:buSzPts val="1100"/>
              <a:buFont typeface="Calibri"/>
              <a:buChar char="•"/>
            </a:pPr>
            <a:r>
              <a:rPr lang="en" sz="1100">
                <a:solidFill>
                  <a:srgbClr val="1A1A1A"/>
                </a:solidFill>
                <a:latin typeface="Calibri"/>
                <a:ea typeface="Calibri"/>
                <a:cs typeface="Calibri"/>
                <a:sym typeface="Calibri"/>
              </a:rPr>
              <a:t>Async_chunk mode supports stage-level pipeline concurrency, decreasing TTFA significantly.</a:t>
            </a:r>
            <a:endParaRPr sz="1100">
              <a:solidFill>
                <a:srgbClr val="1A1A1A"/>
              </a:solidFill>
              <a:latin typeface="Calibri"/>
              <a:ea typeface="Calibri"/>
              <a:cs typeface="Calibri"/>
              <a:sym typeface="Calibri"/>
            </a:endParaRPr>
          </a:p>
          <a:p>
            <a:pPr indent="-247650" lvl="0" marL="254000" marR="0" rtl="0" algn="l">
              <a:spcBef>
                <a:spcPts val="600"/>
              </a:spcBef>
              <a:spcAft>
                <a:spcPts val="0"/>
              </a:spcAft>
              <a:buClr>
                <a:srgbClr val="1A1A1A"/>
              </a:buClr>
              <a:buSzPts val="1100"/>
              <a:buFont typeface="Calibri"/>
              <a:buChar char="•"/>
            </a:pPr>
            <a:r>
              <a:rPr lang="en" sz="1100">
                <a:solidFill>
                  <a:srgbClr val="1A1A1A"/>
                </a:solidFill>
                <a:latin typeface="Calibri"/>
                <a:ea typeface="Calibri"/>
                <a:cs typeface="Calibri"/>
                <a:sym typeface="Calibri"/>
              </a:rPr>
              <a:t>Increasing the decoder/audio stage batch size improves throughput, especially under concurrent requests.</a:t>
            </a:r>
            <a:endParaRPr sz="1100">
              <a:solidFill>
                <a:srgbClr val="1A1A1A"/>
              </a:solidFill>
              <a:latin typeface="Calibri"/>
              <a:ea typeface="Calibri"/>
              <a:cs typeface="Calibri"/>
              <a:sym typeface="Calibri"/>
            </a:endParaRPr>
          </a:p>
        </p:txBody>
      </p:sp>
      <p:sp>
        <p:nvSpPr>
          <p:cNvPr id="214" name="Google Shape;214;p15"/>
          <p:cNvSpPr/>
          <p:nvPr/>
        </p:nvSpPr>
        <p:spPr>
          <a:xfrm>
            <a:off x="4697730" y="1371600"/>
            <a:ext cx="4114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200"/>
              <a:buFont typeface="Calibri"/>
              <a:buNone/>
            </a:pPr>
            <a:r>
              <a:rPr b="1" i="0" lang="en" sz="1200" u="none" cap="none" strike="noStrike">
                <a:solidFill>
                  <a:srgbClr val="1A1A1A"/>
                </a:solidFill>
                <a:latin typeface="Calibri"/>
                <a:ea typeface="Calibri"/>
                <a:cs typeface="Calibri"/>
                <a:sym typeface="Calibri"/>
              </a:rPr>
              <a:t>What didn't work</a:t>
            </a:r>
            <a:endParaRPr b="0" i="0" sz="1200" u="none" cap="none" strike="noStrike">
              <a:solidFill>
                <a:schemeClr val="dk1"/>
              </a:solidFill>
              <a:latin typeface="Calibri"/>
              <a:ea typeface="Calibri"/>
              <a:cs typeface="Calibri"/>
              <a:sym typeface="Calibri"/>
            </a:endParaRPr>
          </a:p>
        </p:txBody>
      </p:sp>
      <p:sp>
        <p:nvSpPr>
          <p:cNvPr id="215" name="Google Shape;215;p15"/>
          <p:cNvSpPr/>
          <p:nvPr/>
        </p:nvSpPr>
        <p:spPr>
          <a:xfrm>
            <a:off x="4697730" y="1714500"/>
            <a:ext cx="4114800" cy="2743200"/>
          </a:xfrm>
          <a:prstGeom prst="rect">
            <a:avLst/>
          </a:prstGeom>
          <a:noFill/>
          <a:ln>
            <a:noFill/>
          </a:ln>
        </p:spPr>
        <p:txBody>
          <a:bodyPr anchorCtr="0" anchor="t" bIns="34275" lIns="68575" spcFirstLastPara="1" rIns="68575" wrap="square" tIns="34275">
            <a:noAutofit/>
          </a:bodyPr>
          <a:lstStyle/>
          <a:p>
            <a:pPr indent="-247650" lvl="0" marL="254000" marR="0" rtl="0" algn="l">
              <a:spcBef>
                <a:spcPts val="600"/>
              </a:spcBef>
              <a:spcAft>
                <a:spcPts val="0"/>
              </a:spcAft>
              <a:buClr>
                <a:srgbClr val="1A1A1A"/>
              </a:buClr>
              <a:buSzPts val="1100"/>
              <a:buFont typeface="Calibri"/>
              <a:buChar char="•"/>
            </a:pPr>
            <a:r>
              <a:rPr lang="en" sz="1100">
                <a:solidFill>
                  <a:srgbClr val="1A1A1A"/>
                </a:solidFill>
                <a:latin typeface="Calibri"/>
                <a:ea typeface="Calibri"/>
                <a:cs typeface="Calibri"/>
                <a:sym typeface="Calibri"/>
              </a:rPr>
              <a:t>Stage 0 Local Transformer for MOSS-TTS-Local </a:t>
            </a:r>
            <a:r>
              <a:rPr lang="en" sz="1100">
                <a:solidFill>
                  <a:srgbClr val="1A1A1A"/>
                </a:solidFill>
                <a:latin typeface="Calibri"/>
                <a:ea typeface="Calibri"/>
                <a:cs typeface="Calibri"/>
                <a:sym typeface="Calibri"/>
              </a:rPr>
              <a:t>should have been fully integrated into a vLLM-compatible implementation in order to leverage optimizations such as PagedAttention and fused kernels, rather than relying on the original Hugging Face variant</a:t>
            </a:r>
            <a:endParaRPr b="0" i="0" sz="1100" u="none" cap="none" strike="noStrike">
              <a:solidFill>
                <a:srgbClr val="1A1A1A"/>
              </a:solidFill>
              <a:latin typeface="Calibri"/>
              <a:ea typeface="Calibri"/>
              <a:cs typeface="Calibri"/>
              <a:sym typeface="Calibri"/>
            </a:endParaRPr>
          </a:p>
          <a:p>
            <a:pPr indent="-247650" lvl="0" marL="254000" marR="0" rtl="0" algn="l">
              <a:spcBef>
                <a:spcPts val="600"/>
              </a:spcBef>
              <a:spcAft>
                <a:spcPts val="0"/>
              </a:spcAft>
              <a:buClr>
                <a:srgbClr val="1A1A1A"/>
              </a:buClr>
              <a:buSzPts val="1100"/>
              <a:buFont typeface="Calibri"/>
              <a:buChar char="•"/>
            </a:pPr>
            <a:r>
              <a:rPr lang="en" sz="1100">
                <a:solidFill>
                  <a:srgbClr val="1A1A1A"/>
                </a:solidFill>
                <a:latin typeface="Calibri"/>
                <a:ea typeface="Calibri"/>
                <a:cs typeface="Calibri"/>
                <a:sym typeface="Calibri"/>
              </a:rPr>
              <a:t>CUDA Graph for multiple batch_sizes (</a:t>
            </a:r>
            <a:r>
              <a:rPr lang="en" sz="1100">
                <a:solidFill>
                  <a:srgbClr val="1A1A1A"/>
                </a:solidFill>
                <a:latin typeface="Calibri"/>
                <a:ea typeface="Calibri"/>
                <a:cs typeface="Calibri"/>
                <a:sym typeface="Calibri"/>
              </a:rPr>
              <a:t>incompatibility</a:t>
            </a:r>
            <a:r>
              <a:rPr lang="en" sz="1100">
                <a:solidFill>
                  <a:srgbClr val="1A1A1A"/>
                </a:solidFill>
                <a:latin typeface="Calibri"/>
                <a:ea typeface="Calibri"/>
                <a:cs typeface="Calibri"/>
                <a:sym typeface="Calibri"/>
              </a:rPr>
              <a:t> between torch.compile and OmniOutput).</a:t>
            </a:r>
            <a:endParaRPr sz="1100">
              <a:solidFill>
                <a:srgbClr val="1A1A1A"/>
              </a:solidFill>
              <a:latin typeface="Calibri"/>
              <a:ea typeface="Calibri"/>
              <a:cs typeface="Calibri"/>
              <a:sym typeface="Calibri"/>
            </a:endParaRPr>
          </a:p>
          <a:p>
            <a:pPr indent="-247650" lvl="0" marL="254000" marR="0" rtl="0" algn="l">
              <a:spcBef>
                <a:spcPts val="600"/>
              </a:spcBef>
              <a:spcAft>
                <a:spcPts val="0"/>
              </a:spcAft>
              <a:buClr>
                <a:srgbClr val="1A1A1A"/>
              </a:buClr>
              <a:buSzPts val="1100"/>
              <a:buFont typeface="Calibri"/>
              <a:buChar char="•"/>
            </a:pPr>
            <a:r>
              <a:rPr lang="en" sz="1100">
                <a:solidFill>
                  <a:srgbClr val="1A1A1A"/>
                </a:solidFill>
                <a:latin typeface="Calibri"/>
                <a:ea typeface="Calibri"/>
                <a:cs typeface="Calibri"/>
                <a:sym typeface="Calibri"/>
              </a:rPr>
              <a:t>Due to architectural differences between the original Hugging Face implementations and our integrated models, as well as the differing profiling scopes provided by vLLM, PyTorch profiling yielded only limited insights into the actual optimization performance.</a:t>
            </a:r>
            <a:endParaRPr sz="1100">
              <a:solidFill>
                <a:srgbClr val="1A1A1A"/>
              </a:solidFill>
              <a:latin typeface="Calibri"/>
              <a:ea typeface="Calibri"/>
              <a:cs typeface="Calibri"/>
              <a:sym typeface="Calibri"/>
            </a:endParaRPr>
          </a:p>
        </p:txBody>
      </p:sp>
      <p:sp>
        <p:nvSpPr>
          <p:cNvPr id="216" name="Google Shape;216;p15"/>
          <p:cNvSpPr/>
          <p:nvPr/>
        </p:nvSpPr>
        <p:spPr>
          <a:xfrm>
            <a:off x="342900" y="4903470"/>
            <a:ext cx="41148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800"/>
              <a:buFont typeface="Calibri"/>
              <a:buNone/>
            </a:pPr>
            <a:r>
              <a:rPr b="0" i="1" lang="en" sz="800" u="none" cap="none" strike="noStrike">
                <a:solidFill>
                  <a:srgbClr val="6B6F76"/>
                </a:solidFill>
                <a:latin typeface="Calibri"/>
                <a:ea typeface="Calibri"/>
                <a:cs typeface="Calibri"/>
                <a:sym typeface="Calibri"/>
              </a:rPr>
              <a:t>HPML · Spring 2026</a:t>
            </a:r>
            <a:endParaRPr b="0" i="0" sz="800" u="none" cap="none" strike="noStrike">
              <a:solidFill>
                <a:schemeClr val="dk1"/>
              </a:solidFill>
              <a:latin typeface="Calibri"/>
              <a:ea typeface="Calibri"/>
              <a:cs typeface="Calibri"/>
              <a:sym typeface="Calibri"/>
            </a:endParaRPr>
          </a:p>
        </p:txBody>
      </p:sp>
      <p:sp>
        <p:nvSpPr>
          <p:cNvPr id="217" name="Google Shape;217;p15"/>
          <p:cNvSpPr/>
          <p:nvPr/>
        </p:nvSpPr>
        <p:spPr>
          <a:xfrm>
            <a:off x="4684014" y="4903470"/>
            <a:ext cx="4114800" cy="2057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800"/>
              <a:buFont typeface="Calibri"/>
              <a:buNone/>
            </a:pPr>
            <a:r>
              <a:rPr b="0" i="0" lang="en" sz="800" u="none" cap="none" strike="noStrike">
                <a:solidFill>
                  <a:srgbClr val="6B6F76"/>
                </a:solidFill>
                <a:latin typeface="Calibri"/>
                <a:ea typeface="Calibri"/>
                <a:cs typeface="Calibri"/>
                <a:sym typeface="Calibri"/>
              </a:rPr>
              <a:t>1</a:t>
            </a:r>
            <a:r>
              <a:rPr lang="en" sz="800">
                <a:solidFill>
                  <a:srgbClr val="6B6F76"/>
                </a:solidFill>
                <a:latin typeface="Calibri"/>
                <a:ea typeface="Calibri"/>
                <a:cs typeface="Calibri"/>
                <a:sym typeface="Calibri"/>
              </a:rPr>
              <a:t>2</a:t>
            </a:r>
            <a:r>
              <a:rPr b="0" i="0" lang="en" sz="800" u="none" cap="none" strike="noStrike">
                <a:solidFill>
                  <a:srgbClr val="6B6F76"/>
                </a:solidFill>
                <a:latin typeface="Calibri"/>
                <a:ea typeface="Calibri"/>
                <a:cs typeface="Calibri"/>
                <a:sym typeface="Calibri"/>
              </a:rPr>
              <a:t> / </a:t>
            </a:r>
            <a:r>
              <a:rPr lang="en" sz="800">
                <a:solidFill>
                  <a:srgbClr val="6B6F76"/>
                </a:solidFill>
                <a:latin typeface="Calibri"/>
                <a:ea typeface="Calibri"/>
                <a:cs typeface="Calibri"/>
                <a:sym typeface="Calibri"/>
              </a:rPr>
              <a:t>15</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2" name="Shape 222"/>
        <p:cNvGrpSpPr/>
        <p:nvPr/>
      </p:nvGrpSpPr>
      <p:grpSpPr>
        <a:xfrm>
          <a:off x="0" y="0"/>
          <a:ext cx="0" cy="0"/>
          <a:chOff x="0" y="0"/>
          <a:chExt cx="0" cy="0"/>
        </a:xfrm>
      </p:grpSpPr>
      <p:sp>
        <p:nvSpPr>
          <p:cNvPr id="223" name="Google Shape;223;p16"/>
          <p:cNvSpPr/>
          <p:nvPr/>
        </p:nvSpPr>
        <p:spPr>
          <a:xfrm>
            <a:off x="342900" y="377190"/>
            <a:ext cx="8455914"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400"/>
              <a:buFont typeface="Calibri"/>
              <a:buNone/>
            </a:pPr>
            <a:r>
              <a:rPr b="1" i="0" lang="en" sz="2400" u="none" cap="none" strike="noStrike">
                <a:solidFill>
                  <a:srgbClr val="1A1A1A"/>
                </a:solidFill>
                <a:latin typeface="Calibri"/>
                <a:ea typeface="Calibri"/>
                <a:cs typeface="Calibri"/>
                <a:sym typeface="Calibri"/>
              </a:rPr>
              <a:t>Next Steps</a:t>
            </a:r>
            <a:endParaRPr b="0" i="0" sz="2400" u="none" cap="none" strike="noStrike">
              <a:solidFill>
                <a:schemeClr val="dk1"/>
              </a:solidFill>
              <a:latin typeface="Calibri"/>
              <a:ea typeface="Calibri"/>
              <a:cs typeface="Calibri"/>
              <a:sym typeface="Calibri"/>
            </a:endParaRPr>
          </a:p>
        </p:txBody>
      </p:sp>
      <p:cxnSp>
        <p:nvCxnSpPr>
          <p:cNvPr id="224" name="Google Shape;224;p16"/>
          <p:cNvCxnSpPr/>
          <p:nvPr/>
        </p:nvCxnSpPr>
        <p:spPr>
          <a:xfrm>
            <a:off x="342900" y="891540"/>
            <a:ext cx="8455914" cy="0"/>
          </a:xfrm>
          <a:prstGeom prst="straightConnector1">
            <a:avLst/>
          </a:prstGeom>
          <a:noFill/>
          <a:ln cap="flat" cmpd="sng" w="9525">
            <a:solidFill>
              <a:srgbClr val="D9D9D9"/>
            </a:solidFill>
            <a:prstDash val="solid"/>
            <a:round/>
            <a:headEnd len="sm" w="sm" type="none"/>
            <a:tailEnd len="sm" w="sm" type="none"/>
          </a:ln>
        </p:spPr>
      </p:cxnSp>
      <p:sp>
        <p:nvSpPr>
          <p:cNvPr id="225" name="Google Shape;225;p16"/>
          <p:cNvSpPr/>
          <p:nvPr/>
        </p:nvSpPr>
        <p:spPr>
          <a:xfrm>
            <a:off x="342900" y="1405885"/>
            <a:ext cx="8455800" cy="2743200"/>
          </a:xfrm>
          <a:prstGeom prst="rect">
            <a:avLst/>
          </a:prstGeom>
          <a:noFill/>
          <a:ln>
            <a:noFill/>
          </a:ln>
        </p:spPr>
        <p:txBody>
          <a:bodyPr anchorCtr="0" anchor="t" bIns="34275" lIns="68575" spcFirstLastPara="1" rIns="68575" wrap="square" tIns="34275">
            <a:noAutofit/>
          </a:bodyPr>
          <a:lstStyle/>
          <a:p>
            <a:pPr indent="-254000" lvl="0" marL="254000" marR="0" rtl="0" algn="l">
              <a:spcBef>
                <a:spcPts val="1100"/>
              </a:spcBef>
              <a:spcAft>
                <a:spcPts val="0"/>
              </a:spcAft>
              <a:buClr>
                <a:srgbClr val="1A1A1A"/>
              </a:buClr>
              <a:buSzPts val="1400"/>
              <a:buFont typeface="Calibri"/>
              <a:buChar char="•"/>
            </a:pPr>
            <a:r>
              <a:rPr b="1" lang="en">
                <a:solidFill>
                  <a:srgbClr val="1A1A1A"/>
                </a:solidFill>
                <a:latin typeface="Calibri"/>
                <a:ea typeface="Calibri"/>
                <a:cs typeface="Calibri"/>
                <a:sym typeface="Calibri"/>
              </a:rPr>
              <a:t>Test more prompting styles</a:t>
            </a:r>
            <a:r>
              <a:rPr lang="en">
                <a:solidFill>
                  <a:srgbClr val="1A1A1A"/>
                </a:solidFill>
                <a:latin typeface="Calibri"/>
                <a:ea typeface="Calibri"/>
                <a:cs typeface="Calibri"/>
                <a:sym typeface="Calibri"/>
              </a:rPr>
              <a:t>: Moss-TTS can accept </a:t>
            </a:r>
            <a:r>
              <a:rPr lang="en">
                <a:solidFill>
                  <a:srgbClr val="1A1A1A"/>
                </a:solidFill>
                <a:latin typeface="Calibri"/>
                <a:ea typeface="Calibri"/>
                <a:cs typeface="Calibri"/>
                <a:sym typeface="Calibri"/>
              </a:rPr>
              <a:t>things</a:t>
            </a:r>
            <a:r>
              <a:rPr lang="en">
                <a:solidFill>
                  <a:srgbClr val="1A1A1A"/>
                </a:solidFill>
                <a:latin typeface="Calibri"/>
                <a:ea typeface="Calibri"/>
                <a:cs typeface="Calibri"/>
                <a:sym typeface="Calibri"/>
              </a:rPr>
              <a:t> like reference audio, ambience noise, and may also be </a:t>
            </a:r>
            <a:r>
              <a:rPr lang="en">
                <a:solidFill>
                  <a:srgbClr val="1A1A1A"/>
                </a:solidFill>
                <a:latin typeface="Calibri"/>
                <a:ea typeface="Calibri"/>
                <a:cs typeface="Calibri"/>
                <a:sym typeface="Calibri"/>
              </a:rPr>
              <a:t>interesting</a:t>
            </a:r>
            <a:r>
              <a:rPr lang="en">
                <a:solidFill>
                  <a:srgbClr val="1A1A1A"/>
                </a:solidFill>
                <a:latin typeface="Calibri"/>
                <a:ea typeface="Calibri"/>
                <a:cs typeface="Calibri"/>
                <a:sym typeface="Calibri"/>
              </a:rPr>
              <a:t> to give it specific instructions rather than just straight Text to Speech Tasks with no variance</a:t>
            </a:r>
            <a:endParaRPr>
              <a:solidFill>
                <a:srgbClr val="1A1A1A"/>
              </a:solidFill>
              <a:latin typeface="Calibri"/>
              <a:ea typeface="Calibri"/>
              <a:cs typeface="Calibri"/>
              <a:sym typeface="Calibri"/>
            </a:endParaRPr>
          </a:p>
          <a:p>
            <a:pPr indent="-234950" lvl="0" marL="254000" marR="0" rtl="0" algn="l">
              <a:spcBef>
                <a:spcPts val="1100"/>
              </a:spcBef>
              <a:spcAft>
                <a:spcPts val="0"/>
              </a:spcAft>
              <a:buClr>
                <a:srgbClr val="1A1A1A"/>
              </a:buClr>
              <a:buSzPts val="1100"/>
              <a:buFont typeface="Calibri"/>
              <a:buChar char="•"/>
            </a:pPr>
            <a:r>
              <a:rPr b="1" lang="en">
                <a:solidFill>
                  <a:srgbClr val="1A1A1A"/>
                </a:solidFill>
                <a:latin typeface="Calibri"/>
                <a:ea typeface="Calibri"/>
                <a:cs typeface="Calibri"/>
                <a:sym typeface="Calibri"/>
              </a:rPr>
              <a:t>Test on Multi-GPU setups</a:t>
            </a:r>
            <a:r>
              <a:rPr lang="en">
                <a:solidFill>
                  <a:srgbClr val="1A1A1A"/>
                </a:solidFill>
                <a:latin typeface="Calibri"/>
                <a:ea typeface="Calibri"/>
                <a:cs typeface="Calibri"/>
                <a:sym typeface="Calibri"/>
              </a:rPr>
              <a:t>: Currently test on just 1 GPU for both stages of the architecture due to cost. More memory would allow for potentially faster inference and larger throughput.</a:t>
            </a:r>
            <a:endParaRPr>
              <a:solidFill>
                <a:srgbClr val="1A1A1A"/>
              </a:solidFill>
              <a:latin typeface="Calibri"/>
              <a:ea typeface="Calibri"/>
              <a:cs typeface="Calibri"/>
              <a:sym typeface="Calibri"/>
            </a:endParaRPr>
          </a:p>
          <a:p>
            <a:pPr indent="-234950" lvl="0" marL="254000" marR="0" rtl="0" algn="l">
              <a:spcBef>
                <a:spcPts val="1100"/>
              </a:spcBef>
              <a:spcAft>
                <a:spcPts val="0"/>
              </a:spcAft>
              <a:buClr>
                <a:srgbClr val="1A1A1A"/>
              </a:buClr>
              <a:buSzPts val="1100"/>
              <a:buFont typeface="Calibri"/>
              <a:buChar char="•"/>
            </a:pPr>
            <a:r>
              <a:rPr b="1" lang="en">
                <a:solidFill>
                  <a:srgbClr val="1A1A1A"/>
                </a:solidFill>
                <a:latin typeface="Calibri"/>
                <a:ea typeface="Calibri"/>
                <a:cs typeface="Calibri"/>
                <a:sym typeface="Calibri"/>
              </a:rPr>
              <a:t>More on Optimization</a:t>
            </a:r>
            <a:r>
              <a:rPr lang="en">
                <a:solidFill>
                  <a:srgbClr val="1A1A1A"/>
                </a:solidFill>
                <a:latin typeface="Calibri"/>
                <a:ea typeface="Calibri"/>
                <a:cs typeface="Calibri"/>
                <a:sym typeface="Calibri"/>
              </a:rPr>
              <a:t>: Currently, we got some </a:t>
            </a:r>
            <a:r>
              <a:rPr lang="en">
                <a:solidFill>
                  <a:srgbClr val="1A1A1A"/>
                </a:solidFill>
                <a:latin typeface="Calibri"/>
                <a:ea typeface="Calibri"/>
                <a:cs typeface="Calibri"/>
                <a:sym typeface="Calibri"/>
              </a:rPr>
              <a:t>preliminary</a:t>
            </a:r>
            <a:r>
              <a:rPr lang="en">
                <a:solidFill>
                  <a:srgbClr val="1A1A1A"/>
                </a:solidFill>
                <a:latin typeface="Calibri"/>
                <a:ea typeface="Calibri"/>
                <a:cs typeface="Calibri"/>
                <a:sym typeface="Calibri"/>
              </a:rPr>
              <a:t> results for </a:t>
            </a:r>
            <a:r>
              <a:rPr b="1" lang="en">
                <a:solidFill>
                  <a:srgbClr val="1A1A1A"/>
                </a:solidFill>
                <a:latin typeface="Calibri"/>
                <a:ea typeface="Calibri"/>
                <a:cs typeface="Calibri"/>
                <a:sym typeface="Calibri"/>
              </a:rPr>
              <a:t>CUDA Graph</a:t>
            </a:r>
            <a:r>
              <a:rPr lang="en">
                <a:solidFill>
                  <a:srgbClr val="1A1A1A"/>
                </a:solidFill>
                <a:latin typeface="Calibri"/>
                <a:ea typeface="Calibri"/>
                <a:cs typeface="Calibri"/>
                <a:sym typeface="Calibri"/>
              </a:rPr>
              <a:t> mode on delay model. It’s mainly applied to the AR backbone, which requires repeated kernel launches when predicting audio codes. With CUDA Graph open, Self CPU time is decreased by 44%.</a:t>
            </a:r>
            <a:endParaRPr>
              <a:solidFill>
                <a:srgbClr val="1A1A1A"/>
              </a:solidFill>
              <a:latin typeface="Calibri"/>
              <a:ea typeface="Calibri"/>
              <a:cs typeface="Calibri"/>
              <a:sym typeface="Calibri"/>
            </a:endParaRPr>
          </a:p>
          <a:p>
            <a:pPr indent="-234950" lvl="0" marL="254000" marR="0" rtl="0" algn="l">
              <a:spcBef>
                <a:spcPts val="1100"/>
              </a:spcBef>
              <a:spcAft>
                <a:spcPts val="0"/>
              </a:spcAft>
              <a:buClr>
                <a:srgbClr val="1A1A1A"/>
              </a:buClr>
              <a:buSzPts val="1100"/>
              <a:buFont typeface="Calibri"/>
              <a:buChar char="•"/>
            </a:pPr>
            <a:r>
              <a:rPr b="1" lang="en">
                <a:solidFill>
                  <a:srgbClr val="1A1A1A"/>
                </a:solidFill>
                <a:latin typeface="Calibri"/>
                <a:ea typeface="Calibri"/>
                <a:cs typeface="Calibri"/>
                <a:sym typeface="Calibri"/>
              </a:rPr>
              <a:t>More real time benchmarking:</a:t>
            </a:r>
            <a:r>
              <a:rPr lang="en">
                <a:solidFill>
                  <a:srgbClr val="1A1A1A"/>
                </a:solidFill>
                <a:latin typeface="Calibri"/>
                <a:ea typeface="Calibri"/>
                <a:cs typeface="Calibri"/>
                <a:sym typeface="Calibri"/>
              </a:rPr>
              <a:t> Everything that was benched in this dataset was relatively controlled; it may be more interesting to test out harder/more complex text examples and mimic a real time serving environment with random requests and on the fly processing of requests.</a:t>
            </a:r>
            <a:endParaRPr>
              <a:solidFill>
                <a:srgbClr val="1A1A1A"/>
              </a:solidFill>
              <a:latin typeface="Calibri"/>
              <a:ea typeface="Calibri"/>
              <a:cs typeface="Calibri"/>
              <a:sym typeface="Calibri"/>
            </a:endParaRPr>
          </a:p>
        </p:txBody>
      </p:sp>
      <p:sp>
        <p:nvSpPr>
          <p:cNvPr id="226" name="Google Shape;226;p16"/>
          <p:cNvSpPr/>
          <p:nvPr/>
        </p:nvSpPr>
        <p:spPr>
          <a:xfrm>
            <a:off x="342900" y="4903470"/>
            <a:ext cx="41148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800"/>
              <a:buFont typeface="Calibri"/>
              <a:buNone/>
            </a:pPr>
            <a:r>
              <a:rPr b="0" i="1" lang="en" sz="800" u="none" cap="none" strike="noStrike">
                <a:solidFill>
                  <a:srgbClr val="6B6F76"/>
                </a:solidFill>
                <a:latin typeface="Calibri"/>
                <a:ea typeface="Calibri"/>
                <a:cs typeface="Calibri"/>
                <a:sym typeface="Calibri"/>
              </a:rPr>
              <a:t>HPML · Spring 2026</a:t>
            </a:r>
            <a:endParaRPr b="0" i="0" sz="800" u="none" cap="none" strike="noStrike">
              <a:solidFill>
                <a:schemeClr val="dk1"/>
              </a:solidFill>
              <a:latin typeface="Calibri"/>
              <a:ea typeface="Calibri"/>
              <a:cs typeface="Calibri"/>
              <a:sym typeface="Calibri"/>
            </a:endParaRPr>
          </a:p>
        </p:txBody>
      </p:sp>
      <p:sp>
        <p:nvSpPr>
          <p:cNvPr id="227" name="Google Shape;227;p16"/>
          <p:cNvSpPr/>
          <p:nvPr/>
        </p:nvSpPr>
        <p:spPr>
          <a:xfrm>
            <a:off x="4684014" y="4903470"/>
            <a:ext cx="4114800" cy="2057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800"/>
              <a:buFont typeface="Calibri"/>
              <a:buNone/>
            </a:pPr>
            <a:r>
              <a:rPr b="0" i="0" lang="en" sz="800" u="none" cap="none" strike="noStrike">
                <a:solidFill>
                  <a:srgbClr val="6B6F76"/>
                </a:solidFill>
                <a:latin typeface="Calibri"/>
                <a:ea typeface="Calibri"/>
                <a:cs typeface="Calibri"/>
                <a:sym typeface="Calibri"/>
              </a:rPr>
              <a:t>1</a:t>
            </a:r>
            <a:r>
              <a:rPr lang="en" sz="800">
                <a:solidFill>
                  <a:srgbClr val="6B6F76"/>
                </a:solidFill>
                <a:latin typeface="Calibri"/>
                <a:ea typeface="Calibri"/>
                <a:cs typeface="Calibri"/>
                <a:sym typeface="Calibri"/>
              </a:rPr>
              <a:t>3</a:t>
            </a:r>
            <a:r>
              <a:rPr b="0" i="0" lang="en" sz="800" u="none" cap="none" strike="noStrike">
                <a:solidFill>
                  <a:srgbClr val="6B6F76"/>
                </a:solidFill>
                <a:latin typeface="Calibri"/>
                <a:ea typeface="Calibri"/>
                <a:cs typeface="Calibri"/>
                <a:sym typeface="Calibri"/>
              </a:rPr>
              <a:t> / 1</a:t>
            </a:r>
            <a:r>
              <a:rPr lang="en" sz="800">
                <a:solidFill>
                  <a:srgbClr val="6B6F76"/>
                </a:solidFill>
                <a:latin typeface="Calibri"/>
                <a:ea typeface="Calibri"/>
                <a:cs typeface="Calibri"/>
                <a:sym typeface="Calibri"/>
              </a:rPr>
              <a:t>5</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2" name="Shape 232"/>
        <p:cNvGrpSpPr/>
        <p:nvPr/>
      </p:nvGrpSpPr>
      <p:grpSpPr>
        <a:xfrm>
          <a:off x="0" y="0"/>
          <a:ext cx="0" cy="0"/>
          <a:chOff x="0" y="0"/>
          <a:chExt cx="0" cy="0"/>
        </a:xfrm>
      </p:grpSpPr>
      <p:sp>
        <p:nvSpPr>
          <p:cNvPr id="233" name="Google Shape;233;p17"/>
          <p:cNvSpPr/>
          <p:nvPr/>
        </p:nvSpPr>
        <p:spPr>
          <a:xfrm>
            <a:off x="342900" y="377190"/>
            <a:ext cx="8455914"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400"/>
              <a:buFont typeface="Calibri"/>
              <a:buNone/>
            </a:pPr>
            <a:r>
              <a:rPr b="1" i="0" lang="en" sz="2400" u="none" cap="none" strike="noStrike">
                <a:solidFill>
                  <a:srgbClr val="1A1A1A"/>
                </a:solidFill>
                <a:latin typeface="Calibri"/>
                <a:ea typeface="Calibri"/>
                <a:cs typeface="Calibri"/>
                <a:sym typeface="Calibri"/>
              </a:rPr>
              <a:t>Teamwork &amp; Contributions</a:t>
            </a:r>
            <a:endParaRPr b="0" i="0" sz="2400" u="none" cap="none" strike="noStrike">
              <a:solidFill>
                <a:schemeClr val="dk1"/>
              </a:solidFill>
              <a:latin typeface="Calibri"/>
              <a:ea typeface="Calibri"/>
              <a:cs typeface="Calibri"/>
              <a:sym typeface="Calibri"/>
            </a:endParaRPr>
          </a:p>
        </p:txBody>
      </p:sp>
      <p:cxnSp>
        <p:nvCxnSpPr>
          <p:cNvPr id="234" name="Google Shape;234;p17"/>
          <p:cNvCxnSpPr/>
          <p:nvPr/>
        </p:nvCxnSpPr>
        <p:spPr>
          <a:xfrm>
            <a:off x="342900" y="891540"/>
            <a:ext cx="8455914" cy="0"/>
          </a:xfrm>
          <a:prstGeom prst="straightConnector1">
            <a:avLst/>
          </a:prstGeom>
          <a:noFill/>
          <a:ln cap="flat" cmpd="sng" w="9525">
            <a:solidFill>
              <a:srgbClr val="D9D9D9"/>
            </a:solidFill>
            <a:prstDash val="solid"/>
            <a:round/>
            <a:headEnd len="sm" w="sm" type="none"/>
            <a:tailEnd len="sm" w="sm" type="none"/>
          </a:ln>
        </p:spPr>
      </p:cxnSp>
      <p:sp>
        <p:nvSpPr>
          <p:cNvPr id="235" name="Google Shape;235;p17"/>
          <p:cNvSpPr/>
          <p:nvPr/>
        </p:nvSpPr>
        <p:spPr>
          <a:xfrm>
            <a:off x="342900" y="994410"/>
            <a:ext cx="82296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800"/>
              <a:buFont typeface="Calibri"/>
              <a:buNone/>
            </a:pPr>
            <a:r>
              <a:rPr b="0" i="1" lang="en" sz="800" u="none" cap="none" strike="noStrike">
                <a:solidFill>
                  <a:srgbClr val="6B6F76"/>
                </a:solidFill>
                <a:latin typeface="Calibri"/>
                <a:ea typeface="Calibri"/>
                <a:cs typeface="Calibri"/>
                <a:sym typeface="Calibri"/>
              </a:rPr>
              <a:t>Time budget: 30 seconds. Who did what. Required slide — graded individually.</a:t>
            </a:r>
            <a:endParaRPr b="0" i="0" sz="800" u="none" cap="none" strike="noStrike">
              <a:solidFill>
                <a:schemeClr val="dk1"/>
              </a:solidFill>
              <a:latin typeface="Calibri"/>
              <a:ea typeface="Calibri"/>
              <a:cs typeface="Calibri"/>
              <a:sym typeface="Calibri"/>
            </a:endParaRPr>
          </a:p>
        </p:txBody>
      </p:sp>
      <p:graphicFrame>
        <p:nvGraphicFramePr>
          <p:cNvPr id="236" name="Google Shape;236;p17"/>
          <p:cNvGraphicFramePr/>
          <p:nvPr/>
        </p:nvGraphicFramePr>
        <p:xfrm>
          <a:off x="342900" y="1371600"/>
          <a:ext cx="3000000" cy="3000000"/>
        </p:xfrm>
        <a:graphic>
          <a:graphicData uri="http://schemas.openxmlformats.org/drawingml/2006/table">
            <a:tbl>
              <a:tblPr>
                <a:noFill/>
                <a:tableStyleId>{9CBC510D-0102-4B47-B6DC-0431241D4BD7}</a:tableStyleId>
              </a:tblPr>
              <a:tblGrid>
                <a:gridCol w="1508750"/>
                <a:gridCol w="3771900"/>
                <a:gridCol w="3175250"/>
              </a:tblGrid>
              <a:tr h="480050">
                <a:tc>
                  <a:txBody>
                    <a:bodyPr/>
                    <a:lstStyle/>
                    <a:p>
                      <a:pPr indent="0" lvl="0" marL="0" marR="0" rtl="0" algn="l">
                        <a:spcBef>
                          <a:spcPts val="0"/>
                        </a:spcBef>
                        <a:spcAft>
                          <a:spcPts val="0"/>
                        </a:spcAft>
                        <a:buClr>
                          <a:srgbClr val="1A1A1A"/>
                        </a:buClr>
                        <a:buSzPts val="1000"/>
                        <a:buFont typeface="Calibri"/>
                        <a:buNone/>
                      </a:pPr>
                      <a:r>
                        <a:rPr b="1" lang="en" sz="1000" u="none" cap="none" strike="noStrike">
                          <a:solidFill>
                            <a:srgbClr val="1A1A1A"/>
                          </a:solidFill>
                          <a:latin typeface="Calibri"/>
                          <a:ea typeface="Calibri"/>
                          <a:cs typeface="Calibri"/>
                          <a:sym typeface="Calibri"/>
                        </a:rPr>
                        <a:t>Member</a:t>
                      </a:r>
                      <a:endParaRPr sz="1000"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Clr>
                          <a:srgbClr val="1A1A1A"/>
                        </a:buClr>
                        <a:buSzPts val="1000"/>
                        <a:buFont typeface="Calibri"/>
                        <a:buNone/>
                      </a:pPr>
                      <a:r>
                        <a:rPr b="1" lang="en" sz="1000" u="none" cap="none" strike="noStrike">
                          <a:solidFill>
                            <a:srgbClr val="1A1A1A"/>
                          </a:solidFill>
                          <a:latin typeface="Calibri"/>
                          <a:ea typeface="Calibri"/>
                          <a:cs typeface="Calibri"/>
                          <a:sym typeface="Calibri"/>
                        </a:rPr>
                        <a:t>Primary contributions</a:t>
                      </a:r>
                      <a:endParaRPr sz="1000"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Clr>
                          <a:srgbClr val="1A1A1A"/>
                        </a:buClr>
                        <a:buSzPts val="1000"/>
                        <a:buFont typeface="Calibri"/>
                        <a:buNone/>
                      </a:pPr>
                      <a:r>
                        <a:rPr b="1" lang="en" sz="1000" u="none" cap="none" strike="noStrike">
                          <a:solidFill>
                            <a:srgbClr val="1A1A1A"/>
                          </a:solidFill>
                          <a:latin typeface="Calibri"/>
                          <a:ea typeface="Calibri"/>
                          <a:cs typeface="Calibri"/>
                          <a:sym typeface="Calibri"/>
                        </a:rPr>
                        <a:t>Tools / artifacts</a:t>
                      </a:r>
                      <a:endParaRPr sz="1000"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2F2F2"/>
                    </a:solidFill>
                  </a:tcPr>
                </a:tc>
              </a:tr>
              <a:tr h="480050">
                <a:tc>
                  <a:txBody>
                    <a:bodyPr/>
                    <a:lstStyle/>
                    <a:p>
                      <a:pPr indent="0" lvl="0" marL="0" marR="0" rtl="0" algn="l">
                        <a:spcBef>
                          <a:spcPts val="0"/>
                        </a:spcBef>
                        <a:spcAft>
                          <a:spcPts val="0"/>
                        </a:spcAft>
                        <a:buClr>
                          <a:srgbClr val="1A1A1A"/>
                        </a:buClr>
                        <a:buSzPts val="900"/>
                        <a:buFont typeface="Calibri"/>
                        <a:buNone/>
                      </a:pPr>
                      <a:r>
                        <a:rPr lang="en" sz="900">
                          <a:solidFill>
                            <a:srgbClr val="1A1A1A"/>
                          </a:solidFill>
                          <a:latin typeface="Calibri"/>
                          <a:ea typeface="Calibri"/>
                          <a:cs typeface="Calibri"/>
                          <a:sym typeface="Calibri"/>
                        </a:rPr>
                        <a:t>Andrew Chung</a:t>
                      </a:r>
                      <a:endParaRPr sz="900"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900"/>
                        <a:buFont typeface="Calibri"/>
                        <a:buNone/>
                      </a:pPr>
                      <a:r>
                        <a:rPr lang="en" sz="900">
                          <a:solidFill>
                            <a:srgbClr val="1A1A1A"/>
                          </a:solidFill>
                          <a:latin typeface="Calibri"/>
                          <a:ea typeface="Calibri"/>
                          <a:cs typeface="Calibri"/>
                          <a:sym typeface="Calibri"/>
                        </a:rPr>
                        <a:t>Developed metric scripts, wandB integration</a:t>
                      </a:r>
                      <a:endParaRPr sz="900"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900"/>
                        <a:buFont typeface="Calibri"/>
                        <a:buNone/>
                      </a:pPr>
                      <a:r>
                        <a:rPr lang="en" sz="900">
                          <a:solidFill>
                            <a:srgbClr val="1A1A1A"/>
                          </a:solidFill>
                          <a:latin typeface="Calibri"/>
                          <a:ea typeface="Calibri"/>
                          <a:cs typeface="Calibri"/>
                          <a:sym typeface="Calibri"/>
                        </a:rPr>
                        <a:t>metric-branch</a:t>
                      </a:r>
                      <a:endParaRPr sz="900"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480050">
                <a:tc>
                  <a:txBody>
                    <a:bodyPr/>
                    <a:lstStyle/>
                    <a:p>
                      <a:pPr indent="0" lvl="0" marL="0" marR="0" rtl="0" algn="l">
                        <a:spcBef>
                          <a:spcPts val="0"/>
                        </a:spcBef>
                        <a:spcAft>
                          <a:spcPts val="0"/>
                        </a:spcAft>
                        <a:buClr>
                          <a:srgbClr val="1A1A1A"/>
                        </a:buClr>
                        <a:buSzPts val="900"/>
                        <a:buFont typeface="Calibri"/>
                        <a:buNone/>
                      </a:pPr>
                      <a:r>
                        <a:rPr lang="en" sz="900">
                          <a:solidFill>
                            <a:srgbClr val="1A1A1A"/>
                          </a:solidFill>
                          <a:latin typeface="Calibri"/>
                          <a:ea typeface="Calibri"/>
                          <a:cs typeface="Calibri"/>
                          <a:sym typeface="Calibri"/>
                        </a:rPr>
                        <a:t>Yuting Liu</a:t>
                      </a:r>
                      <a:endParaRPr sz="900"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900"/>
                        <a:buFont typeface="Calibri"/>
                        <a:buNone/>
                      </a:pPr>
                      <a:r>
                        <a:rPr lang="en" sz="900">
                          <a:solidFill>
                            <a:srgbClr val="1A1A1A"/>
                          </a:solidFill>
                          <a:latin typeface="Calibri"/>
                          <a:ea typeface="Calibri"/>
                          <a:cs typeface="Calibri"/>
                          <a:sym typeface="Calibri"/>
                        </a:rPr>
                        <a:t>Integration of the MOSS-TTS-Local Model</a:t>
                      </a:r>
                      <a:br>
                        <a:rPr lang="en" sz="900">
                          <a:solidFill>
                            <a:srgbClr val="1A1A1A"/>
                          </a:solidFill>
                          <a:latin typeface="Calibri"/>
                          <a:ea typeface="Calibri"/>
                          <a:cs typeface="Calibri"/>
                          <a:sym typeface="Calibri"/>
                        </a:rPr>
                      </a:br>
                      <a:r>
                        <a:rPr lang="en" sz="900">
                          <a:solidFill>
                            <a:srgbClr val="1A1A1A"/>
                          </a:solidFill>
                          <a:latin typeface="Calibri"/>
                          <a:ea typeface="Calibri"/>
                          <a:cs typeface="Calibri"/>
                          <a:sym typeface="Calibri"/>
                        </a:rPr>
                        <a:t>Optimization: KV-Cache for Local Transformer in Stage 0 &amp; Batch Decoding for Stage 1</a:t>
                      </a:r>
                      <a:endParaRPr sz="900"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900"/>
                        <a:buFont typeface="Calibri"/>
                        <a:buNone/>
                      </a:pPr>
                      <a:r>
                        <a:rPr lang="en" sz="900">
                          <a:solidFill>
                            <a:srgbClr val="1A1A1A"/>
                          </a:solidFill>
                          <a:latin typeface="Calibri"/>
                          <a:ea typeface="Calibri"/>
                          <a:cs typeface="Calibri"/>
                          <a:sym typeface="Calibri"/>
                        </a:rPr>
                        <a:t>moss-tts-local branch</a:t>
                      </a:r>
                      <a:endParaRPr sz="900">
                        <a:solidFill>
                          <a:srgbClr val="1A1A1A"/>
                        </a:solidFill>
                        <a:latin typeface="Calibri"/>
                        <a:ea typeface="Calibri"/>
                        <a:cs typeface="Calibri"/>
                        <a:sym typeface="Calibri"/>
                      </a:endParaRPr>
                    </a:p>
                    <a:p>
                      <a:pPr indent="0" lvl="0" marL="0" marR="0" rtl="0" algn="l">
                        <a:spcBef>
                          <a:spcPts val="0"/>
                        </a:spcBef>
                        <a:spcAft>
                          <a:spcPts val="0"/>
                        </a:spcAft>
                        <a:buClr>
                          <a:srgbClr val="1A1A1A"/>
                        </a:buClr>
                        <a:buSzPts val="900"/>
                        <a:buFont typeface="Calibri"/>
                        <a:buNone/>
                      </a:pPr>
                      <a:r>
                        <a:rPr lang="en" sz="900">
                          <a:solidFill>
                            <a:srgbClr val="1A1A1A"/>
                          </a:solidFill>
                          <a:latin typeface="Calibri"/>
                          <a:ea typeface="Calibri"/>
                          <a:cs typeface="Calibri"/>
                          <a:sym typeface="Calibri"/>
                        </a:rPr>
                        <a:t>moss-tts-local-optimization branch</a:t>
                      </a:r>
                      <a:endParaRPr sz="900">
                        <a:solidFill>
                          <a:srgbClr val="1A1A1A"/>
                        </a:solidFill>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480050">
                <a:tc>
                  <a:txBody>
                    <a:bodyPr/>
                    <a:lstStyle/>
                    <a:p>
                      <a:pPr indent="0" lvl="0" marL="0" marR="0" rtl="0" algn="l">
                        <a:spcBef>
                          <a:spcPts val="0"/>
                        </a:spcBef>
                        <a:spcAft>
                          <a:spcPts val="0"/>
                        </a:spcAft>
                        <a:buClr>
                          <a:srgbClr val="1A1A1A"/>
                        </a:buClr>
                        <a:buSzPts val="900"/>
                        <a:buFont typeface="Calibri"/>
                        <a:buNone/>
                      </a:pPr>
                      <a:r>
                        <a:rPr lang="en" sz="900">
                          <a:solidFill>
                            <a:srgbClr val="1A1A1A"/>
                          </a:solidFill>
                          <a:latin typeface="Calibri"/>
                          <a:ea typeface="Calibri"/>
                          <a:cs typeface="Calibri"/>
                          <a:sym typeface="Calibri"/>
                        </a:rPr>
                        <a:t>Xingru Lu</a:t>
                      </a:r>
                      <a:endParaRPr sz="900"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900"/>
                        <a:buFont typeface="Calibri"/>
                        <a:buNone/>
                      </a:pPr>
                      <a:r>
                        <a:rPr lang="en" sz="900">
                          <a:solidFill>
                            <a:srgbClr val="1A1A1A"/>
                          </a:solidFill>
                          <a:latin typeface="Calibri"/>
                          <a:ea typeface="Calibri"/>
                          <a:cs typeface="Calibri"/>
                          <a:sym typeface="Calibri"/>
                        </a:rPr>
                        <a:t>Integration of the MOSS-TTS-Delay Model (async_chunk mode), part of profiling work</a:t>
                      </a:r>
                      <a:endParaRPr sz="900">
                        <a:solidFill>
                          <a:srgbClr val="1A1A1A"/>
                        </a:solidFill>
                        <a:latin typeface="Calibri"/>
                        <a:ea typeface="Calibri"/>
                        <a:cs typeface="Calibri"/>
                        <a:sym typeface="Calibri"/>
                      </a:endParaRPr>
                    </a:p>
                    <a:p>
                      <a:pPr indent="0" lvl="0" marL="0" marR="0" rtl="0" algn="l">
                        <a:spcBef>
                          <a:spcPts val="0"/>
                        </a:spcBef>
                        <a:spcAft>
                          <a:spcPts val="0"/>
                        </a:spcAft>
                        <a:buClr>
                          <a:srgbClr val="1A1A1A"/>
                        </a:buClr>
                        <a:buSzPts val="900"/>
                        <a:buFont typeface="Calibri"/>
                        <a:buNone/>
                      </a:pPr>
                      <a:r>
                        <a:rPr lang="en" sz="900">
                          <a:solidFill>
                            <a:srgbClr val="1A1A1A"/>
                          </a:solidFill>
                          <a:latin typeface="Calibri"/>
                          <a:ea typeface="Calibri"/>
                          <a:cs typeface="Calibri"/>
                          <a:sym typeface="Calibri"/>
                        </a:rPr>
                        <a:t>Optimization: CUDA Graph</a:t>
                      </a:r>
                      <a:endParaRPr sz="900">
                        <a:solidFill>
                          <a:srgbClr val="1A1A1A"/>
                        </a:solidFill>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900"/>
                        <a:buFont typeface="Calibri"/>
                        <a:buNone/>
                      </a:pPr>
                      <a:r>
                        <a:rPr lang="en" sz="900">
                          <a:solidFill>
                            <a:srgbClr val="1A1A1A"/>
                          </a:solidFill>
                          <a:latin typeface="Calibri"/>
                          <a:ea typeface="Calibri"/>
                          <a:cs typeface="Calibri"/>
                          <a:sym typeface="Calibri"/>
                        </a:rPr>
                        <a:t>moss-tts-delay branch</a:t>
                      </a:r>
                      <a:endParaRPr sz="900">
                        <a:solidFill>
                          <a:srgbClr val="1A1A1A"/>
                        </a:solidFill>
                        <a:latin typeface="Calibri"/>
                        <a:ea typeface="Calibri"/>
                        <a:cs typeface="Calibri"/>
                        <a:sym typeface="Calibri"/>
                      </a:endParaRPr>
                    </a:p>
                    <a:p>
                      <a:pPr indent="0" lvl="0" marL="0" marR="0" rtl="0" algn="l">
                        <a:spcBef>
                          <a:spcPts val="0"/>
                        </a:spcBef>
                        <a:spcAft>
                          <a:spcPts val="0"/>
                        </a:spcAft>
                        <a:buClr>
                          <a:srgbClr val="1A1A1A"/>
                        </a:buClr>
                        <a:buSzPts val="900"/>
                        <a:buFont typeface="Calibri"/>
                        <a:buNone/>
                      </a:pPr>
                      <a:r>
                        <a:rPr lang="en" sz="900">
                          <a:solidFill>
                            <a:srgbClr val="1A1A1A"/>
                          </a:solidFill>
                          <a:latin typeface="Calibri"/>
                          <a:ea typeface="Calibri"/>
                          <a:cs typeface="Calibri"/>
                          <a:sym typeface="Calibri"/>
                        </a:rPr>
                        <a:t>m</a:t>
                      </a:r>
                      <a:r>
                        <a:rPr lang="en" sz="900">
                          <a:solidFill>
                            <a:srgbClr val="1A1A1A"/>
                          </a:solidFill>
                          <a:latin typeface="Calibri"/>
                          <a:ea typeface="Calibri"/>
                          <a:cs typeface="Calibri"/>
                          <a:sym typeface="Calibri"/>
                        </a:rPr>
                        <a:t>etric-branch</a:t>
                      </a:r>
                      <a:endParaRPr sz="900">
                        <a:solidFill>
                          <a:srgbClr val="1A1A1A"/>
                        </a:solidFill>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480050">
                <a:tc>
                  <a:txBody>
                    <a:bodyPr/>
                    <a:lstStyle/>
                    <a:p>
                      <a:pPr indent="0" lvl="0" marL="0" marR="0" rtl="0" algn="l">
                        <a:spcBef>
                          <a:spcPts val="0"/>
                        </a:spcBef>
                        <a:spcAft>
                          <a:spcPts val="0"/>
                        </a:spcAft>
                        <a:buClr>
                          <a:srgbClr val="1A1A1A"/>
                        </a:buClr>
                        <a:buSzPts val="900"/>
                        <a:buFont typeface="Calibri"/>
                        <a:buNone/>
                      </a:pPr>
                      <a:r>
                        <a:rPr lang="en" sz="900">
                          <a:solidFill>
                            <a:srgbClr val="1A1A1A"/>
                          </a:solidFill>
                          <a:latin typeface="Calibri"/>
                          <a:ea typeface="Calibri"/>
                          <a:cs typeface="Calibri"/>
                          <a:sym typeface="Calibri"/>
                        </a:rPr>
                        <a:t>Yutao Mao</a:t>
                      </a:r>
                      <a:endParaRPr sz="900"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900"/>
                        <a:buFont typeface="Calibri"/>
                        <a:buNone/>
                      </a:pPr>
                      <a:r>
                        <a:rPr lang="en" sz="900">
                          <a:solidFill>
                            <a:srgbClr val="1A1A1A"/>
                          </a:solidFill>
                          <a:latin typeface="Calibri"/>
                          <a:ea typeface="Calibri"/>
                          <a:cs typeface="Calibri"/>
                          <a:sym typeface="Calibri"/>
                        </a:rPr>
                        <a:t>Implementation of the MOSS-TTS-Delay Model integration and Stage 1 decoder optimization</a:t>
                      </a:r>
                      <a:endParaRPr sz="900"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900"/>
                        <a:buFont typeface="Calibri"/>
                        <a:buNone/>
                      </a:pPr>
                      <a:r>
                        <a:rPr lang="en" sz="900">
                          <a:solidFill>
                            <a:srgbClr val="1A1A1A"/>
                          </a:solidFill>
                          <a:latin typeface="Calibri"/>
                          <a:ea typeface="Calibri"/>
                          <a:cs typeface="Calibri"/>
                          <a:sym typeface="Calibri"/>
                        </a:rPr>
                        <a:t>moss-tts-delay branch</a:t>
                      </a:r>
                      <a:endParaRPr sz="900" u="none" cap="none" strike="noStrike">
                        <a:latin typeface="Calibri"/>
                        <a:ea typeface="Calibri"/>
                        <a:cs typeface="Calibri"/>
                        <a:sym typeface="Calibri"/>
                      </a:endParaRPr>
                    </a:p>
                  </a:txBody>
                  <a:tcPr marT="34300" marB="34300" marR="68600" marL="6860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bl>
          </a:graphicData>
        </a:graphic>
      </p:graphicFrame>
      <p:sp>
        <p:nvSpPr>
          <p:cNvPr id="237" name="Google Shape;237;p17"/>
          <p:cNvSpPr/>
          <p:nvPr/>
        </p:nvSpPr>
        <p:spPr>
          <a:xfrm>
            <a:off x="342900" y="4423410"/>
            <a:ext cx="845591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800"/>
              <a:buFont typeface="Calibri"/>
              <a:buNone/>
            </a:pPr>
            <a:r>
              <a:rPr i="1" lang="en" sz="800">
                <a:solidFill>
                  <a:srgbClr val="6B6F76"/>
                </a:solidFill>
                <a:latin typeface="Calibri"/>
                <a:ea typeface="Calibri"/>
                <a:cs typeface="Calibri"/>
                <a:sym typeface="Calibri"/>
              </a:rPr>
              <a:t>Tend to work individually, convene for biweekly meetings with our mentor, Roger(VLLM Maintainer), and communicate over messaging</a:t>
            </a:r>
            <a:endParaRPr b="0" i="0" sz="800" u="none" cap="none" strike="noStrike">
              <a:solidFill>
                <a:schemeClr val="dk1"/>
              </a:solidFill>
              <a:latin typeface="Calibri"/>
              <a:ea typeface="Calibri"/>
              <a:cs typeface="Calibri"/>
              <a:sym typeface="Calibri"/>
            </a:endParaRPr>
          </a:p>
        </p:txBody>
      </p:sp>
      <p:sp>
        <p:nvSpPr>
          <p:cNvPr id="238" name="Google Shape;238;p17"/>
          <p:cNvSpPr/>
          <p:nvPr/>
        </p:nvSpPr>
        <p:spPr>
          <a:xfrm>
            <a:off x="342900" y="4903470"/>
            <a:ext cx="41148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800"/>
              <a:buFont typeface="Calibri"/>
              <a:buNone/>
            </a:pPr>
            <a:r>
              <a:rPr b="0" i="1" lang="en" sz="800" u="none" cap="none" strike="noStrike">
                <a:solidFill>
                  <a:srgbClr val="6B6F76"/>
                </a:solidFill>
                <a:latin typeface="Calibri"/>
                <a:ea typeface="Calibri"/>
                <a:cs typeface="Calibri"/>
                <a:sym typeface="Calibri"/>
              </a:rPr>
              <a:t>HPML · Spring 2026</a:t>
            </a:r>
            <a:endParaRPr b="0" i="0" sz="800" u="none" cap="none" strike="noStrike">
              <a:solidFill>
                <a:schemeClr val="dk1"/>
              </a:solidFill>
              <a:latin typeface="Calibri"/>
              <a:ea typeface="Calibri"/>
              <a:cs typeface="Calibri"/>
              <a:sym typeface="Calibri"/>
            </a:endParaRPr>
          </a:p>
        </p:txBody>
      </p:sp>
      <p:sp>
        <p:nvSpPr>
          <p:cNvPr id="239" name="Google Shape;239;p17"/>
          <p:cNvSpPr/>
          <p:nvPr/>
        </p:nvSpPr>
        <p:spPr>
          <a:xfrm>
            <a:off x="4684014" y="4903470"/>
            <a:ext cx="4114800" cy="2057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800"/>
              <a:buFont typeface="Calibri"/>
              <a:buNone/>
            </a:pPr>
            <a:r>
              <a:rPr lang="en" sz="800">
                <a:solidFill>
                  <a:srgbClr val="6B6F76"/>
                </a:solidFill>
                <a:latin typeface="Calibri"/>
                <a:ea typeface="Calibri"/>
                <a:cs typeface="Calibri"/>
                <a:sym typeface="Calibri"/>
              </a:rPr>
              <a:t>14</a:t>
            </a:r>
            <a:r>
              <a:rPr b="0" i="0" lang="en" sz="800" u="none" cap="none" strike="noStrike">
                <a:solidFill>
                  <a:srgbClr val="6B6F76"/>
                </a:solidFill>
                <a:latin typeface="Calibri"/>
                <a:ea typeface="Calibri"/>
                <a:cs typeface="Calibri"/>
                <a:sym typeface="Calibri"/>
              </a:rPr>
              <a:t> / 1</a:t>
            </a:r>
            <a:r>
              <a:rPr lang="en" sz="800">
                <a:solidFill>
                  <a:srgbClr val="6B6F76"/>
                </a:solidFill>
                <a:latin typeface="Calibri"/>
                <a:ea typeface="Calibri"/>
                <a:cs typeface="Calibri"/>
                <a:sym typeface="Calibri"/>
              </a:rPr>
              <a:t>5</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1F26"/>
        </a:solidFill>
      </p:bgPr>
    </p:bg>
    <p:spTree>
      <p:nvGrpSpPr>
        <p:cNvPr id="244" name="Shape 244"/>
        <p:cNvGrpSpPr/>
        <p:nvPr/>
      </p:nvGrpSpPr>
      <p:grpSpPr>
        <a:xfrm>
          <a:off x="0" y="0"/>
          <a:ext cx="0" cy="0"/>
          <a:chOff x="0" y="0"/>
          <a:chExt cx="0" cy="0"/>
        </a:xfrm>
      </p:grpSpPr>
      <p:sp>
        <p:nvSpPr>
          <p:cNvPr id="245" name="Google Shape;245;p18"/>
          <p:cNvSpPr/>
          <p:nvPr/>
        </p:nvSpPr>
        <p:spPr>
          <a:xfrm>
            <a:off x="411480" y="1645920"/>
            <a:ext cx="82296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800"/>
              <a:buFont typeface="Calibri"/>
              <a:buNone/>
            </a:pPr>
            <a:r>
              <a:rPr b="1" i="0" lang="en" sz="4800" u="none" cap="none" strike="noStrike">
                <a:solidFill>
                  <a:srgbClr val="FFFFFF"/>
                </a:solidFill>
                <a:latin typeface="Calibri"/>
                <a:ea typeface="Calibri"/>
                <a:cs typeface="Calibri"/>
                <a:sym typeface="Calibri"/>
              </a:rPr>
              <a:t>Thank you</a:t>
            </a:r>
            <a:endParaRPr b="0" i="0" sz="4800" u="none" cap="none" strike="noStrike">
              <a:solidFill>
                <a:schemeClr val="dk1"/>
              </a:solidFill>
              <a:latin typeface="Calibri"/>
              <a:ea typeface="Calibri"/>
              <a:cs typeface="Calibri"/>
              <a:sym typeface="Calibri"/>
            </a:endParaRPr>
          </a:p>
        </p:txBody>
      </p:sp>
      <p:sp>
        <p:nvSpPr>
          <p:cNvPr id="246" name="Google Shape;246;p18"/>
          <p:cNvSpPr/>
          <p:nvPr/>
        </p:nvSpPr>
        <p:spPr>
          <a:xfrm>
            <a:off x="411480" y="2400300"/>
            <a:ext cx="8229600"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CC4"/>
              </a:buClr>
              <a:buSzPts val="2100"/>
              <a:buFont typeface="Calibri"/>
              <a:buNone/>
            </a:pPr>
            <a:r>
              <a:rPr b="0" i="1" lang="en" sz="2100" u="none" cap="none" strike="noStrike">
                <a:solidFill>
                  <a:srgbClr val="B8BCC4"/>
                </a:solidFill>
                <a:latin typeface="Calibri"/>
                <a:ea typeface="Calibri"/>
                <a:cs typeface="Calibri"/>
                <a:sym typeface="Calibri"/>
              </a:rPr>
              <a:t>Questions?</a:t>
            </a:r>
            <a:endParaRPr b="0" i="0" sz="2100" u="none" cap="none" strike="noStrike">
              <a:solidFill>
                <a:schemeClr val="dk1"/>
              </a:solidFill>
              <a:latin typeface="Calibri"/>
              <a:ea typeface="Calibri"/>
              <a:cs typeface="Calibri"/>
              <a:sym typeface="Calibri"/>
            </a:endParaRPr>
          </a:p>
        </p:txBody>
      </p:sp>
      <p:sp>
        <p:nvSpPr>
          <p:cNvPr id="247" name="Google Shape;247;p18"/>
          <p:cNvSpPr/>
          <p:nvPr/>
        </p:nvSpPr>
        <p:spPr>
          <a:xfrm>
            <a:off x="411480" y="3429000"/>
            <a:ext cx="82296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0" i="0" lang="en" sz="1200" u="none" cap="none" strike="noStrike">
                <a:solidFill>
                  <a:schemeClr val="lt1"/>
                </a:solidFill>
                <a:latin typeface="Calibri"/>
                <a:ea typeface="Calibri"/>
                <a:cs typeface="Calibri"/>
                <a:sym typeface="Calibri"/>
              </a:rPr>
              <a:t>GitHub:  </a:t>
            </a:r>
            <a:r>
              <a:rPr lang="en" sz="1200" u="sng">
                <a:solidFill>
                  <a:schemeClr val="lt1"/>
                </a:solidFill>
                <a:latin typeface="Calibri"/>
                <a:ea typeface="Calibri"/>
                <a:cs typeface="Calibri"/>
                <a:sym typeface="Calibri"/>
                <a:hlinkClick r:id="rId3">
                  <a:extLst>
                    <a:ext uri="{A12FA001-AC4F-418D-AE19-62706E023703}">
                      <ahyp:hlinkClr val="tx"/>
                    </a:ext>
                  </a:extLst>
                </a:hlinkClick>
              </a:rPr>
              <a:t>https://github.com/candylyt/vllm-omni</a:t>
            </a:r>
            <a:endParaRPr sz="1200">
              <a:solidFill>
                <a:schemeClr val="lt1"/>
              </a:solidFill>
              <a:latin typeface="Calibri"/>
              <a:ea typeface="Calibri"/>
              <a:cs typeface="Calibri"/>
              <a:sym typeface="Calibri"/>
            </a:endParaRPr>
          </a:p>
          <a:p>
            <a:pPr indent="0" lvl="0" marL="0" marR="0" rtl="0" algn="l">
              <a:spcBef>
                <a:spcPts val="0"/>
              </a:spcBef>
              <a:spcAft>
                <a:spcPts val="0"/>
              </a:spcAft>
              <a:buClr>
                <a:srgbClr val="FFFFFF"/>
              </a:buClr>
              <a:buSzPts val="1200"/>
              <a:buFont typeface="Calibri"/>
              <a:buNone/>
            </a:pPr>
            <a:r>
              <a:rPr b="0" i="0" lang="en" sz="1200" u="none" cap="none" strike="noStrike">
                <a:solidFill>
                  <a:schemeClr val="lt1"/>
                </a:solidFill>
                <a:latin typeface="Calibri"/>
                <a:ea typeface="Calibri"/>
                <a:cs typeface="Calibri"/>
                <a:sym typeface="Calibri"/>
              </a:rPr>
              <a:t>Tracking:  </a:t>
            </a:r>
            <a:r>
              <a:rPr lang="en" sz="1200" u="sng">
                <a:solidFill>
                  <a:schemeClr val="lt1"/>
                </a:solidFill>
                <a:latin typeface="Calibri"/>
                <a:ea typeface="Calibri"/>
                <a:cs typeface="Calibri"/>
                <a:sym typeface="Calibri"/>
                <a:hlinkClick r:id="rId4">
                  <a:extLst>
                    <a:ext uri="{A12FA001-AC4F-418D-AE19-62706E023703}">
                      <ahyp:hlinkClr val="tx"/>
                    </a:ext>
                  </a:extLst>
                </a:hlinkClick>
              </a:rPr>
              <a:t>https://wandb.ai/ac5905-columbia-university/hpml-final-project/runs/xfa9dt56?nw=nwuserac5905</a:t>
            </a:r>
            <a:endParaRPr b="0" i="0" sz="1200" u="none" cap="none" strike="noStrike">
              <a:solidFill>
                <a:schemeClr val="lt1"/>
              </a:solidFill>
              <a:latin typeface="Calibri"/>
              <a:ea typeface="Calibri"/>
              <a:cs typeface="Calibri"/>
              <a:sym typeface="Calibri"/>
            </a:endParaRPr>
          </a:p>
        </p:txBody>
      </p:sp>
      <p:sp>
        <p:nvSpPr>
          <p:cNvPr id="248" name="Google Shape;248;p18"/>
          <p:cNvSpPr/>
          <p:nvPr/>
        </p:nvSpPr>
        <p:spPr>
          <a:xfrm>
            <a:off x="342900" y="4903470"/>
            <a:ext cx="41148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E939A"/>
              </a:buClr>
              <a:buSzPts val="800"/>
              <a:buFont typeface="Calibri"/>
              <a:buNone/>
            </a:pPr>
            <a:r>
              <a:rPr b="0" i="1" lang="en" sz="800" u="none" cap="none" strike="noStrike">
                <a:solidFill>
                  <a:srgbClr val="8E939A"/>
                </a:solidFill>
                <a:latin typeface="Calibri"/>
                <a:ea typeface="Calibri"/>
                <a:cs typeface="Calibri"/>
                <a:sym typeface="Calibri"/>
              </a:rPr>
              <a:t>HPML · Spring 2026</a:t>
            </a:r>
            <a:endParaRPr b="0" i="0" sz="800" u="none" cap="none" strike="noStrike">
              <a:solidFill>
                <a:schemeClr val="dk1"/>
              </a:solidFill>
              <a:latin typeface="Calibri"/>
              <a:ea typeface="Calibri"/>
              <a:cs typeface="Calibri"/>
              <a:sym typeface="Calibri"/>
            </a:endParaRPr>
          </a:p>
        </p:txBody>
      </p:sp>
      <p:sp>
        <p:nvSpPr>
          <p:cNvPr id="249" name="Google Shape;249;p18"/>
          <p:cNvSpPr/>
          <p:nvPr/>
        </p:nvSpPr>
        <p:spPr>
          <a:xfrm>
            <a:off x="4684014" y="4903470"/>
            <a:ext cx="4114800" cy="2057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E939A"/>
              </a:buClr>
              <a:buSzPts val="800"/>
              <a:buFont typeface="Calibri"/>
              <a:buNone/>
            </a:pPr>
            <a:r>
              <a:rPr b="0" i="0" lang="en" sz="800" u="none" cap="none" strike="noStrike">
                <a:solidFill>
                  <a:srgbClr val="8E939A"/>
                </a:solidFill>
                <a:latin typeface="Calibri"/>
                <a:ea typeface="Calibri"/>
                <a:cs typeface="Calibri"/>
                <a:sym typeface="Calibri"/>
              </a:rPr>
              <a:t>1</a:t>
            </a:r>
            <a:r>
              <a:rPr lang="en" sz="800">
                <a:solidFill>
                  <a:srgbClr val="8E939A"/>
                </a:solidFill>
                <a:latin typeface="Calibri"/>
                <a:ea typeface="Calibri"/>
                <a:cs typeface="Calibri"/>
                <a:sym typeface="Calibri"/>
              </a:rPr>
              <a:t>5</a:t>
            </a:r>
            <a:r>
              <a:rPr b="0" i="0" lang="en" sz="800" u="none" cap="none" strike="noStrike">
                <a:solidFill>
                  <a:srgbClr val="8E939A"/>
                </a:solidFill>
                <a:latin typeface="Calibri"/>
                <a:ea typeface="Calibri"/>
                <a:cs typeface="Calibri"/>
                <a:sym typeface="Calibri"/>
              </a:rPr>
              <a:t> / 1</a:t>
            </a:r>
            <a:r>
              <a:rPr lang="en" sz="800">
                <a:solidFill>
                  <a:srgbClr val="8E939A"/>
                </a:solidFill>
                <a:latin typeface="Calibri"/>
                <a:ea typeface="Calibri"/>
                <a:cs typeface="Calibri"/>
                <a:sym typeface="Calibri"/>
              </a:rPr>
              <a:t>5</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pic>
        <p:nvPicPr>
          <p:cNvPr id="254" name="Google Shape;254;p19" title="ChatGPT Image May 6, 2026, 07_04_40 PM.png"/>
          <p:cNvPicPr preferRelativeResize="0"/>
          <p:nvPr/>
        </p:nvPicPr>
        <p:blipFill>
          <a:blip r:embed="rId3">
            <a:alphaModFix/>
          </a:blip>
          <a:stretch>
            <a:fillRect/>
          </a:stretch>
        </p:blipFill>
        <p:spPr>
          <a:xfrm>
            <a:off x="0" y="91821"/>
            <a:ext cx="9144000" cy="5051680"/>
          </a:xfrm>
          <a:prstGeom prst="rect">
            <a:avLst/>
          </a:prstGeom>
          <a:noFill/>
          <a:ln>
            <a:noFill/>
          </a:ln>
        </p:spPr>
      </p:pic>
      <p:sp>
        <p:nvSpPr>
          <p:cNvPr id="255" name="Google Shape;255;p19"/>
          <p:cNvSpPr/>
          <p:nvPr/>
        </p:nvSpPr>
        <p:spPr>
          <a:xfrm>
            <a:off x="45253" y="0"/>
            <a:ext cx="8455800" cy="480000"/>
          </a:xfrm>
          <a:prstGeom prst="rect">
            <a:avLst/>
          </a:prstGeom>
          <a:solidFill>
            <a:schemeClr val="lt1"/>
          </a:solid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400"/>
              <a:buFont typeface="Calibri"/>
              <a:buNone/>
            </a:pPr>
            <a:r>
              <a:rPr b="1" lang="en" sz="2400">
                <a:solidFill>
                  <a:srgbClr val="1A1A1A"/>
                </a:solidFill>
                <a:latin typeface="Calibri"/>
                <a:ea typeface="Calibri"/>
                <a:cs typeface="Calibri"/>
                <a:sym typeface="Calibri"/>
              </a:rPr>
              <a:t>Appendix</a:t>
            </a:r>
            <a:r>
              <a:rPr b="1" i="0" lang="en" sz="2400" u="none" cap="none" strike="noStrike">
                <a:solidFill>
                  <a:srgbClr val="1A1A1A"/>
                </a:solidFill>
                <a:latin typeface="Calibri"/>
                <a:ea typeface="Calibri"/>
                <a:cs typeface="Calibri"/>
                <a:sym typeface="Calibri"/>
              </a:rPr>
              <a:t> — </a:t>
            </a:r>
            <a:r>
              <a:rPr b="1" lang="en" sz="2400">
                <a:solidFill>
                  <a:srgbClr val="1A1A1A"/>
                </a:solidFill>
                <a:latin typeface="Calibri"/>
                <a:ea typeface="Calibri"/>
                <a:cs typeface="Calibri"/>
                <a:sym typeface="Calibri"/>
              </a:rPr>
              <a:t>Delay Model Integration</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0"/>
          <p:cNvSpPr/>
          <p:nvPr/>
        </p:nvSpPr>
        <p:spPr>
          <a:xfrm>
            <a:off x="342900" y="377190"/>
            <a:ext cx="8455800" cy="48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400"/>
              <a:buFont typeface="Calibri"/>
              <a:buNone/>
            </a:pPr>
            <a:r>
              <a:rPr b="1" i="0" lang="en" sz="2400" u="none" cap="none" strike="noStrike">
                <a:solidFill>
                  <a:srgbClr val="1A1A1A"/>
                </a:solidFill>
                <a:latin typeface="Calibri"/>
                <a:ea typeface="Calibri"/>
                <a:cs typeface="Calibri"/>
                <a:sym typeface="Calibri"/>
              </a:rPr>
              <a:t>Backup — Prelim</a:t>
            </a:r>
            <a:r>
              <a:rPr b="1" lang="en" sz="2400">
                <a:solidFill>
                  <a:srgbClr val="1A1A1A"/>
                </a:solidFill>
                <a:latin typeface="Calibri"/>
                <a:ea typeface="Calibri"/>
                <a:cs typeface="Calibri"/>
                <a:sym typeface="Calibri"/>
              </a:rPr>
              <a:t>inary Results of CUDA Graph</a:t>
            </a:r>
            <a:endParaRPr b="0" i="0" sz="2400" u="none" cap="none" strike="noStrike">
              <a:solidFill>
                <a:schemeClr val="dk1"/>
              </a:solidFill>
              <a:latin typeface="Calibri"/>
              <a:ea typeface="Calibri"/>
              <a:cs typeface="Calibri"/>
              <a:sym typeface="Calibri"/>
            </a:endParaRPr>
          </a:p>
        </p:txBody>
      </p:sp>
      <p:pic>
        <p:nvPicPr>
          <p:cNvPr id="261" name="Google Shape;261;p20"/>
          <p:cNvPicPr preferRelativeResize="0"/>
          <p:nvPr/>
        </p:nvPicPr>
        <p:blipFill>
          <a:blip r:embed="rId3">
            <a:alphaModFix/>
          </a:blip>
          <a:stretch>
            <a:fillRect/>
          </a:stretch>
        </p:blipFill>
        <p:spPr>
          <a:xfrm>
            <a:off x="152400" y="1009590"/>
            <a:ext cx="8839204" cy="2261593"/>
          </a:xfrm>
          <a:prstGeom prst="rect">
            <a:avLst/>
          </a:prstGeom>
          <a:noFill/>
          <a:ln>
            <a:noFill/>
          </a:ln>
        </p:spPr>
      </p:pic>
      <p:sp>
        <p:nvSpPr>
          <p:cNvPr id="262" name="Google Shape;262;p20"/>
          <p:cNvSpPr/>
          <p:nvPr/>
        </p:nvSpPr>
        <p:spPr>
          <a:xfrm>
            <a:off x="342900" y="1241675"/>
            <a:ext cx="8681400" cy="240000"/>
          </a:xfrm>
          <a:prstGeom prst="roundRect">
            <a:avLst>
              <a:gd fmla="val 16667" name="adj"/>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63" name="Google Shape;263;p20"/>
          <p:cNvPicPr preferRelativeResize="0"/>
          <p:nvPr/>
        </p:nvPicPr>
        <p:blipFill>
          <a:blip r:embed="rId4">
            <a:alphaModFix/>
          </a:blip>
          <a:stretch>
            <a:fillRect/>
          </a:stretch>
        </p:blipFill>
        <p:spPr>
          <a:xfrm>
            <a:off x="499550" y="3504775"/>
            <a:ext cx="2190000" cy="480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1"/>
          <p:cNvSpPr/>
          <p:nvPr/>
        </p:nvSpPr>
        <p:spPr>
          <a:xfrm>
            <a:off x="342900" y="377190"/>
            <a:ext cx="8455800" cy="48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400"/>
              <a:buFont typeface="Calibri"/>
              <a:buNone/>
            </a:pPr>
            <a:r>
              <a:rPr b="1" i="0" lang="en" sz="2400" u="none" cap="none" strike="noStrike">
                <a:solidFill>
                  <a:srgbClr val="1A1A1A"/>
                </a:solidFill>
                <a:latin typeface="Calibri"/>
                <a:ea typeface="Calibri"/>
                <a:cs typeface="Calibri"/>
                <a:sym typeface="Calibri"/>
              </a:rPr>
              <a:t>Backup — Prelim</a:t>
            </a:r>
            <a:r>
              <a:rPr b="1" lang="en" sz="2400">
                <a:solidFill>
                  <a:srgbClr val="1A1A1A"/>
                </a:solidFill>
                <a:latin typeface="Calibri"/>
                <a:ea typeface="Calibri"/>
                <a:cs typeface="Calibri"/>
                <a:sym typeface="Calibri"/>
              </a:rPr>
              <a:t>inary Results of CUDA Graph</a:t>
            </a:r>
            <a:endParaRPr b="0" i="0" sz="2400" u="none" cap="none" strike="noStrike">
              <a:solidFill>
                <a:schemeClr val="dk1"/>
              </a:solidFill>
              <a:latin typeface="Calibri"/>
              <a:ea typeface="Calibri"/>
              <a:cs typeface="Calibri"/>
              <a:sym typeface="Calibri"/>
            </a:endParaRPr>
          </a:p>
        </p:txBody>
      </p:sp>
      <p:pic>
        <p:nvPicPr>
          <p:cNvPr id="269" name="Google Shape;269;p21"/>
          <p:cNvPicPr preferRelativeResize="0"/>
          <p:nvPr/>
        </p:nvPicPr>
        <p:blipFill rotWithShape="1">
          <a:blip r:embed="rId3">
            <a:alphaModFix/>
          </a:blip>
          <a:srcRect b="0" l="3326" r="3503" t="0"/>
          <a:stretch/>
        </p:blipFill>
        <p:spPr>
          <a:xfrm>
            <a:off x="499538" y="976025"/>
            <a:ext cx="7976873" cy="2161000"/>
          </a:xfrm>
          <a:prstGeom prst="rect">
            <a:avLst/>
          </a:prstGeom>
          <a:noFill/>
          <a:ln>
            <a:noFill/>
          </a:ln>
        </p:spPr>
      </p:pic>
      <p:sp>
        <p:nvSpPr>
          <p:cNvPr id="270" name="Google Shape;270;p21"/>
          <p:cNvSpPr/>
          <p:nvPr/>
        </p:nvSpPr>
        <p:spPr>
          <a:xfrm>
            <a:off x="499725" y="1531550"/>
            <a:ext cx="8050800" cy="223500"/>
          </a:xfrm>
          <a:prstGeom prst="roundRect">
            <a:avLst>
              <a:gd fmla="val 16667" name="adj"/>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71" name="Google Shape;271;p21"/>
          <p:cNvPicPr preferRelativeResize="0"/>
          <p:nvPr/>
        </p:nvPicPr>
        <p:blipFill>
          <a:blip r:embed="rId4">
            <a:alphaModFix/>
          </a:blip>
          <a:stretch>
            <a:fillRect/>
          </a:stretch>
        </p:blipFill>
        <p:spPr>
          <a:xfrm>
            <a:off x="499725" y="3463375"/>
            <a:ext cx="2190037" cy="480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2"/>
          <p:cNvSpPr/>
          <p:nvPr/>
        </p:nvSpPr>
        <p:spPr>
          <a:xfrm>
            <a:off x="342900" y="377190"/>
            <a:ext cx="8455800" cy="48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400"/>
              <a:buFont typeface="Calibri"/>
              <a:buNone/>
            </a:pPr>
            <a:r>
              <a:rPr b="1" lang="en" sz="2400">
                <a:solidFill>
                  <a:srgbClr val="1A1A1A"/>
                </a:solidFill>
                <a:latin typeface="Calibri"/>
                <a:ea typeface="Calibri"/>
                <a:cs typeface="Calibri"/>
                <a:sym typeface="Calibri"/>
              </a:rPr>
              <a:t>Appendix</a:t>
            </a:r>
            <a:r>
              <a:rPr b="1" i="0" lang="en" sz="2400" u="none" cap="none" strike="noStrike">
                <a:solidFill>
                  <a:srgbClr val="1A1A1A"/>
                </a:solidFill>
                <a:latin typeface="Calibri"/>
                <a:ea typeface="Calibri"/>
                <a:cs typeface="Calibri"/>
                <a:sym typeface="Calibri"/>
              </a:rPr>
              <a:t> — </a:t>
            </a:r>
            <a:r>
              <a:rPr b="1" lang="en" sz="2400">
                <a:solidFill>
                  <a:srgbClr val="1A1A1A"/>
                </a:solidFill>
                <a:latin typeface="Calibri"/>
                <a:ea typeface="Calibri"/>
                <a:cs typeface="Calibri"/>
                <a:sym typeface="Calibri"/>
              </a:rPr>
              <a:t>vLLM-Omni Introduction</a:t>
            </a:r>
            <a:endParaRPr b="0" i="0" sz="2400" u="none" cap="none" strike="noStrike">
              <a:solidFill>
                <a:schemeClr val="dk1"/>
              </a:solidFill>
              <a:latin typeface="Calibri"/>
              <a:ea typeface="Calibri"/>
              <a:cs typeface="Calibri"/>
              <a:sym typeface="Calibri"/>
            </a:endParaRPr>
          </a:p>
        </p:txBody>
      </p:sp>
      <p:pic>
        <p:nvPicPr>
          <p:cNvPr descr="Google Shape;285;p6" id="277" name="Google Shape;277;p22"/>
          <p:cNvPicPr preferRelativeResize="0"/>
          <p:nvPr/>
        </p:nvPicPr>
        <p:blipFill rotWithShape="1">
          <a:blip r:embed="rId3">
            <a:alphaModFix/>
          </a:blip>
          <a:srcRect b="0" l="0" r="0" t="0"/>
          <a:stretch/>
        </p:blipFill>
        <p:spPr>
          <a:xfrm>
            <a:off x="2045719" y="936332"/>
            <a:ext cx="5052568" cy="2105294"/>
          </a:xfrm>
          <a:prstGeom prst="rect">
            <a:avLst/>
          </a:prstGeom>
          <a:noFill/>
          <a:ln>
            <a:noFill/>
          </a:ln>
        </p:spPr>
      </p:pic>
      <p:sp>
        <p:nvSpPr>
          <p:cNvPr id="278" name="Google Shape;278;p22"/>
          <p:cNvSpPr txBox="1"/>
          <p:nvPr/>
        </p:nvSpPr>
        <p:spPr>
          <a:xfrm>
            <a:off x="1026600" y="3301075"/>
            <a:ext cx="7090800" cy="160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1100"/>
              </a:spcBef>
              <a:spcAft>
                <a:spcPts val="0"/>
              </a:spcAft>
              <a:buNone/>
            </a:pPr>
            <a:r>
              <a:rPr b="1" lang="en">
                <a:solidFill>
                  <a:srgbClr val="1A1A1A"/>
                </a:solidFill>
                <a:latin typeface="Calibri"/>
                <a:ea typeface="Calibri"/>
                <a:cs typeface="Calibri"/>
                <a:sym typeface="Calibri"/>
              </a:rPr>
              <a:t>Motivation</a:t>
            </a:r>
            <a:endParaRPr b="1">
              <a:solidFill>
                <a:srgbClr val="1A1A1A"/>
              </a:solidFill>
              <a:latin typeface="Calibri"/>
              <a:ea typeface="Calibri"/>
              <a:cs typeface="Calibri"/>
              <a:sym typeface="Calibri"/>
            </a:endParaRPr>
          </a:p>
          <a:p>
            <a:pPr indent="-254000" lvl="0" marL="254000" marR="0" rtl="0" algn="l">
              <a:lnSpc>
                <a:spcPct val="100000"/>
              </a:lnSpc>
              <a:spcBef>
                <a:spcPts val="1100"/>
              </a:spcBef>
              <a:spcAft>
                <a:spcPts val="0"/>
              </a:spcAft>
              <a:buClr>
                <a:srgbClr val="1A1A1A"/>
              </a:buClr>
              <a:buSzPts val="1400"/>
              <a:buFont typeface="Calibri"/>
              <a:buChar char="•"/>
            </a:pPr>
            <a:r>
              <a:rPr lang="en">
                <a:solidFill>
                  <a:srgbClr val="1A1A1A"/>
                </a:solidFill>
                <a:latin typeface="Calibri"/>
                <a:ea typeface="Calibri"/>
                <a:cs typeface="Calibri"/>
                <a:sym typeface="Calibri"/>
              </a:rPr>
              <a:t>— Any-to-any models combine multiple heterogeneous components.</a:t>
            </a:r>
            <a:endParaRPr>
              <a:solidFill>
                <a:srgbClr val="1A1A1A"/>
              </a:solidFill>
              <a:latin typeface="Calibri"/>
              <a:ea typeface="Calibri"/>
              <a:cs typeface="Calibri"/>
              <a:sym typeface="Calibri"/>
            </a:endParaRPr>
          </a:p>
          <a:p>
            <a:pPr indent="-254000" lvl="0" marL="254000" marR="0" rtl="0" algn="l">
              <a:lnSpc>
                <a:spcPct val="100000"/>
              </a:lnSpc>
              <a:spcBef>
                <a:spcPts val="1100"/>
              </a:spcBef>
              <a:spcAft>
                <a:spcPts val="0"/>
              </a:spcAft>
              <a:buClr>
                <a:srgbClr val="1A1A1A"/>
              </a:buClr>
              <a:buSzPts val="1400"/>
              <a:buFont typeface="Calibri"/>
              <a:buChar char="•"/>
            </a:pPr>
            <a:r>
              <a:rPr lang="en">
                <a:solidFill>
                  <a:srgbClr val="1A1A1A"/>
                </a:solidFill>
                <a:latin typeface="Calibri"/>
                <a:ea typeface="Calibri"/>
                <a:cs typeface="Calibri"/>
                <a:sym typeface="Calibri"/>
              </a:rPr>
              <a:t>— </a:t>
            </a:r>
            <a:r>
              <a:rPr lang="en">
                <a:solidFill>
                  <a:srgbClr val="1A1A1A"/>
                </a:solidFill>
                <a:latin typeface="Calibri"/>
                <a:ea typeface="Calibri"/>
                <a:cs typeface="Calibri"/>
                <a:sym typeface="Calibri"/>
              </a:rPr>
              <a:t>Existing LLM serving systems mainly optimize single AR decoding.</a:t>
            </a:r>
            <a:endParaRPr>
              <a:solidFill>
                <a:srgbClr val="1A1A1A"/>
              </a:solidFill>
              <a:latin typeface="Calibri"/>
              <a:ea typeface="Calibri"/>
              <a:cs typeface="Calibri"/>
              <a:sym typeface="Calibri"/>
            </a:endParaRPr>
          </a:p>
          <a:p>
            <a:pPr indent="-254000" lvl="0" marL="254000" marR="0" rtl="0" algn="l">
              <a:lnSpc>
                <a:spcPct val="100000"/>
              </a:lnSpc>
              <a:spcBef>
                <a:spcPts val="1100"/>
              </a:spcBef>
              <a:spcAft>
                <a:spcPts val="0"/>
              </a:spcAft>
              <a:buClr>
                <a:srgbClr val="1A1A1A"/>
              </a:buClr>
              <a:buSzPts val="1400"/>
              <a:buFont typeface="Calibri"/>
              <a:buChar char="•"/>
            </a:pPr>
            <a:r>
              <a:rPr lang="en">
                <a:solidFill>
                  <a:srgbClr val="1A1A1A"/>
                </a:solidFill>
                <a:latin typeface="Calibri"/>
                <a:ea typeface="Calibri"/>
                <a:cs typeface="Calibri"/>
                <a:sym typeface="Calibri"/>
              </a:rPr>
              <a:t>— </a:t>
            </a:r>
            <a:r>
              <a:rPr lang="en">
                <a:solidFill>
                  <a:srgbClr val="1A1A1A"/>
                </a:solidFill>
                <a:latin typeface="Calibri"/>
                <a:ea typeface="Calibri"/>
                <a:cs typeface="Calibri"/>
                <a:sym typeface="Calibri"/>
              </a:rPr>
              <a:t>Manual multi-stage orchestration causes poor batching, poor resource usage, and high latency.</a:t>
            </a:r>
            <a:endParaRPr>
              <a:solidFill>
                <a:srgbClr val="1A1A1A"/>
              </a:solidFill>
              <a:latin typeface="Calibri"/>
              <a:ea typeface="Calibri"/>
              <a:cs typeface="Calibri"/>
              <a:sym typeface="Calibri"/>
            </a:endParaRPr>
          </a:p>
        </p:txBody>
      </p:sp>
      <p:sp>
        <p:nvSpPr>
          <p:cNvPr id="279" name="Google Shape;279;p22"/>
          <p:cNvSpPr txBox="1"/>
          <p:nvPr/>
        </p:nvSpPr>
        <p:spPr>
          <a:xfrm>
            <a:off x="5513100" y="4763875"/>
            <a:ext cx="35910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900"/>
              <a:t>Reference: vLLM-Omni Official Slides</a:t>
            </a:r>
            <a:endParaRPr i="1" sz="9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3"/>
          <p:cNvSpPr txBox="1"/>
          <p:nvPr>
            <p:ph idx="12" type="sldNum"/>
          </p:nvPr>
        </p:nvSpPr>
        <p:spPr>
          <a:xfrm>
            <a:off x="8684345" y="4692391"/>
            <a:ext cx="336900" cy="335400"/>
          </a:xfrm>
          <a:prstGeom prst="rect">
            <a:avLst/>
          </a:prstGeom>
          <a:noFill/>
          <a:ln>
            <a:noFill/>
          </a:ln>
        </p:spPr>
        <p:txBody>
          <a:bodyPr anchorCtr="0" anchor="ctr" bIns="91400" lIns="91400" spcFirstLastPara="1" rIns="91400" wrap="square" tIns="91400">
            <a:normAutofit/>
          </a:bodyPr>
          <a:lstStyle/>
          <a:p>
            <a:pPr indent="0" lvl="0" marL="0" rtl="0" algn="r">
              <a:lnSpc>
                <a:spcPct val="100000"/>
              </a:lnSpc>
              <a:spcBef>
                <a:spcPts val="0"/>
              </a:spcBef>
              <a:spcAft>
                <a:spcPts val="0"/>
              </a:spcAft>
              <a:buClr>
                <a:srgbClr val="585858"/>
              </a:buClr>
              <a:buSzPts val="1000"/>
              <a:buFont typeface="Lexend"/>
              <a:buNone/>
            </a:pPr>
            <a:fld id="{00000000-1234-1234-1234-123412341234}" type="slidenum">
              <a:rPr lang="en" sz="1000">
                <a:solidFill>
                  <a:srgbClr val="585858"/>
                </a:solidFill>
                <a:latin typeface="Lexend"/>
                <a:ea typeface="Lexend"/>
                <a:cs typeface="Lexend"/>
                <a:sym typeface="Lexend"/>
              </a:rPr>
              <a:t>‹#›</a:t>
            </a:fld>
            <a:endParaRPr/>
          </a:p>
        </p:txBody>
      </p:sp>
      <p:sp>
        <p:nvSpPr>
          <p:cNvPr id="285" name="Google Shape;285;p23"/>
          <p:cNvSpPr/>
          <p:nvPr/>
        </p:nvSpPr>
        <p:spPr>
          <a:xfrm>
            <a:off x="598883" y="4833034"/>
            <a:ext cx="487200" cy="170700"/>
          </a:xfrm>
          <a:prstGeom prst="rect">
            <a:avLst/>
          </a:prstGeom>
          <a:solidFill>
            <a:srgbClr val="D4F1F5"/>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666666"/>
              </a:buClr>
              <a:buSzPts val="1200"/>
              <a:buFont typeface="Lexend"/>
              <a:buNone/>
            </a:pPr>
            <a:r>
              <a:t/>
            </a:r>
            <a:endParaRPr b="0" i="0" sz="1200" u="none" cap="none" strike="noStrike">
              <a:solidFill>
                <a:srgbClr val="666666"/>
              </a:solidFill>
              <a:latin typeface="Lexend"/>
              <a:ea typeface="Lexend"/>
              <a:cs typeface="Lexend"/>
              <a:sym typeface="Lexend"/>
            </a:endParaRPr>
          </a:p>
        </p:txBody>
      </p:sp>
      <p:sp>
        <p:nvSpPr>
          <p:cNvPr id="286" name="Google Shape;286;p23"/>
          <p:cNvSpPr txBox="1"/>
          <p:nvPr/>
        </p:nvSpPr>
        <p:spPr>
          <a:xfrm>
            <a:off x="1117468" y="4833034"/>
            <a:ext cx="862200" cy="184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Lexend"/>
              <a:buNone/>
            </a:pPr>
            <a:r>
              <a:rPr b="0" i="0" lang="en" sz="1200" u="none" cap="none" strike="noStrike">
                <a:solidFill>
                  <a:srgbClr val="000000"/>
                </a:solidFill>
                <a:latin typeface="Lexend"/>
                <a:ea typeface="Lexend"/>
                <a:cs typeface="Lexend"/>
                <a:sym typeface="Lexend"/>
              </a:rPr>
              <a:t>imported </a:t>
            </a:r>
            <a:endParaRPr/>
          </a:p>
        </p:txBody>
      </p:sp>
      <p:sp>
        <p:nvSpPr>
          <p:cNvPr id="287" name="Google Shape;287;p23"/>
          <p:cNvSpPr/>
          <p:nvPr/>
        </p:nvSpPr>
        <p:spPr>
          <a:xfrm>
            <a:off x="2118461" y="4833034"/>
            <a:ext cx="487200" cy="170700"/>
          </a:xfrm>
          <a:prstGeom prst="rect">
            <a:avLst/>
          </a:prstGeom>
          <a:solidFill>
            <a:srgbClr val="FFF4CB"/>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666666"/>
              </a:buClr>
              <a:buSzPts val="1200"/>
              <a:buFont typeface="Lexend"/>
              <a:buNone/>
            </a:pPr>
            <a:r>
              <a:t/>
            </a:r>
            <a:endParaRPr b="0" i="0" sz="1200" u="none" cap="none" strike="noStrike">
              <a:solidFill>
                <a:srgbClr val="666666"/>
              </a:solidFill>
              <a:latin typeface="Lexend"/>
              <a:ea typeface="Lexend"/>
              <a:cs typeface="Lexend"/>
              <a:sym typeface="Lexend"/>
            </a:endParaRPr>
          </a:p>
        </p:txBody>
      </p:sp>
      <p:sp>
        <p:nvSpPr>
          <p:cNvPr id="288" name="Google Shape;288;p23"/>
          <p:cNvSpPr txBox="1"/>
          <p:nvPr/>
        </p:nvSpPr>
        <p:spPr>
          <a:xfrm>
            <a:off x="2657736" y="4833034"/>
            <a:ext cx="828300" cy="184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Lexend"/>
              <a:buNone/>
            </a:pPr>
            <a:r>
              <a:rPr b="0" i="0" lang="en" sz="1200" u="none" cap="none" strike="noStrike">
                <a:solidFill>
                  <a:srgbClr val="000000"/>
                </a:solidFill>
                <a:latin typeface="Lexend"/>
                <a:ea typeface="Lexend"/>
                <a:cs typeface="Lexend"/>
                <a:sym typeface="Lexend"/>
              </a:rPr>
              <a:t>modified</a:t>
            </a:r>
            <a:endParaRPr/>
          </a:p>
        </p:txBody>
      </p:sp>
      <p:sp>
        <p:nvSpPr>
          <p:cNvPr id="289" name="Google Shape;289;p23"/>
          <p:cNvSpPr/>
          <p:nvPr/>
        </p:nvSpPr>
        <p:spPr>
          <a:xfrm>
            <a:off x="3674536" y="4833034"/>
            <a:ext cx="487200" cy="170700"/>
          </a:xfrm>
          <a:prstGeom prst="rect">
            <a:avLst/>
          </a:prstGeom>
          <a:solidFill>
            <a:srgbClr val="FFC8D3"/>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666666"/>
              </a:buClr>
              <a:buSzPts val="1200"/>
              <a:buFont typeface="Lexend"/>
              <a:buNone/>
            </a:pPr>
            <a:r>
              <a:t/>
            </a:r>
            <a:endParaRPr b="0" i="0" sz="1200" u="none" cap="none" strike="noStrike">
              <a:solidFill>
                <a:srgbClr val="666666"/>
              </a:solidFill>
              <a:latin typeface="Lexend"/>
              <a:ea typeface="Lexend"/>
              <a:cs typeface="Lexend"/>
              <a:sym typeface="Lexend"/>
            </a:endParaRPr>
          </a:p>
        </p:txBody>
      </p:sp>
      <p:sp>
        <p:nvSpPr>
          <p:cNvPr id="290" name="Google Shape;290;p23"/>
          <p:cNvSpPr txBox="1"/>
          <p:nvPr/>
        </p:nvSpPr>
        <p:spPr>
          <a:xfrm>
            <a:off x="4243801" y="4833034"/>
            <a:ext cx="372600" cy="184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Lexend"/>
              <a:buNone/>
            </a:pPr>
            <a:r>
              <a:rPr b="0" i="0" lang="en" sz="1200" u="none" cap="none" strike="noStrike">
                <a:solidFill>
                  <a:srgbClr val="000000"/>
                </a:solidFill>
                <a:latin typeface="Lexend"/>
                <a:ea typeface="Lexend"/>
                <a:cs typeface="Lexend"/>
                <a:sym typeface="Lexend"/>
              </a:rPr>
              <a:t>new</a:t>
            </a:r>
            <a:endParaRPr/>
          </a:p>
        </p:txBody>
      </p:sp>
      <p:grpSp>
        <p:nvGrpSpPr>
          <p:cNvPr id="291" name="Google Shape;291;p23"/>
          <p:cNvGrpSpPr/>
          <p:nvPr/>
        </p:nvGrpSpPr>
        <p:grpSpPr>
          <a:xfrm>
            <a:off x="253637" y="583355"/>
            <a:ext cx="4937100" cy="4525200"/>
            <a:chOff x="0" y="0"/>
            <a:chExt cx="4937100" cy="4525200"/>
          </a:xfrm>
        </p:grpSpPr>
        <p:sp>
          <p:nvSpPr>
            <p:cNvPr id="292" name="Google Shape;292;p23"/>
            <p:cNvSpPr/>
            <p:nvPr/>
          </p:nvSpPr>
          <p:spPr>
            <a:xfrm>
              <a:off x="0" y="195043"/>
              <a:ext cx="4937100" cy="3955800"/>
            </a:xfrm>
            <a:prstGeom prst="rect">
              <a:avLst/>
            </a:prstGeom>
            <a:solidFill>
              <a:srgbClr val="F2F2F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666666"/>
                </a:buClr>
                <a:buSzPts val="1600"/>
                <a:buFont typeface="Lexend"/>
                <a:buNone/>
              </a:pPr>
              <a:r>
                <a:t/>
              </a:r>
              <a:endParaRPr b="0" i="0" sz="1600" u="none" cap="none" strike="noStrike">
                <a:solidFill>
                  <a:srgbClr val="666666"/>
                </a:solidFill>
                <a:latin typeface="Lexend"/>
                <a:ea typeface="Lexend"/>
                <a:cs typeface="Lexend"/>
                <a:sym typeface="Lexend"/>
              </a:endParaRPr>
            </a:p>
          </p:txBody>
        </p:sp>
        <p:sp>
          <p:nvSpPr>
            <p:cNvPr id="293" name="Google Shape;293;p23"/>
            <p:cNvSpPr txBox="1"/>
            <p:nvPr/>
          </p:nvSpPr>
          <p:spPr>
            <a:xfrm>
              <a:off x="45675" y="0"/>
              <a:ext cx="4845900" cy="4525200"/>
            </a:xfrm>
            <a:prstGeom prst="rect">
              <a:avLst/>
            </a:prstGeom>
            <a:noFill/>
            <a:ln>
              <a:noFill/>
            </a:ln>
          </p:spPr>
          <p:txBody>
            <a:bodyPr anchorCtr="0" anchor="ctr" bIns="45675" lIns="45675" spcFirstLastPara="1" rIns="45675" wrap="square" tIns="45675">
              <a:spAutoFit/>
            </a:bodyPr>
            <a:lstStyle/>
            <a:p>
              <a:pPr indent="0" lvl="0" marL="0" marR="0" rtl="0" algn="ctr">
                <a:lnSpc>
                  <a:spcPct val="100000"/>
                </a:lnSpc>
                <a:spcBef>
                  <a:spcPts val="0"/>
                </a:spcBef>
                <a:spcAft>
                  <a:spcPts val="0"/>
                </a:spcAft>
                <a:buClr>
                  <a:srgbClr val="1D1D1A"/>
                </a:buClr>
                <a:buSzPts val="1800"/>
                <a:buFont typeface="Lexend"/>
                <a:buNone/>
              </a:pPr>
              <a:r>
                <a:t/>
              </a:r>
              <a:endParaRPr b="0" i="0" sz="1800" u="none" cap="none" strike="noStrike">
                <a:solidFill>
                  <a:srgbClr val="1D1D1A"/>
                </a:solidFill>
                <a:latin typeface="Lexend"/>
                <a:ea typeface="Lexend"/>
                <a:cs typeface="Lexend"/>
                <a:sym typeface="Lexend"/>
              </a:endParaRPr>
            </a:p>
            <a:p>
              <a:pPr indent="0" lvl="0" marL="0" marR="0" rtl="0" algn="ctr">
                <a:lnSpc>
                  <a:spcPct val="100000"/>
                </a:lnSpc>
                <a:spcBef>
                  <a:spcPts val="0"/>
                </a:spcBef>
                <a:spcAft>
                  <a:spcPts val="0"/>
                </a:spcAft>
                <a:buClr>
                  <a:srgbClr val="1D1D1A"/>
                </a:buClr>
                <a:buSzPts val="1800"/>
                <a:buFont typeface="Lexend"/>
                <a:buNone/>
              </a:pPr>
              <a:r>
                <a:rPr b="0" i="0" lang="en" sz="1800" u="none" cap="none" strike="noStrike">
                  <a:solidFill>
                    <a:srgbClr val="1D1D1A"/>
                  </a:solidFill>
                  <a:latin typeface="Lexend"/>
                  <a:ea typeface="Lexend"/>
                  <a:cs typeface="Lexend"/>
                  <a:sym typeface="Lexend"/>
                </a:rPr>
                <a:t>vLLM-Omni</a:t>
              </a:r>
              <a:endParaRPr/>
            </a:p>
            <a:p>
              <a:pPr indent="0" lvl="0" marL="0" marR="0" rtl="0" algn="ctr">
                <a:lnSpc>
                  <a:spcPct val="100000"/>
                </a:lnSpc>
                <a:spcBef>
                  <a:spcPts val="0"/>
                </a:spcBef>
                <a:spcAft>
                  <a:spcPts val="0"/>
                </a:spcAft>
                <a:buClr>
                  <a:srgbClr val="1D1D1A"/>
                </a:buClr>
                <a:buSzPts val="1800"/>
                <a:buFont typeface="Lexend"/>
                <a:buNone/>
              </a:pPr>
              <a:r>
                <a:t/>
              </a:r>
              <a:endParaRPr b="0" i="0" sz="1800" u="none" cap="none" strike="noStrike">
                <a:solidFill>
                  <a:srgbClr val="1D1D1A"/>
                </a:solidFill>
                <a:latin typeface="Lexend"/>
                <a:ea typeface="Lexend"/>
                <a:cs typeface="Lexend"/>
                <a:sym typeface="Lexend"/>
              </a:endParaRPr>
            </a:p>
            <a:p>
              <a:pPr indent="0" lvl="0" marL="0" marR="0" rtl="0" algn="ctr">
                <a:lnSpc>
                  <a:spcPct val="100000"/>
                </a:lnSpc>
                <a:spcBef>
                  <a:spcPts val="0"/>
                </a:spcBef>
                <a:spcAft>
                  <a:spcPts val="0"/>
                </a:spcAft>
                <a:buClr>
                  <a:srgbClr val="1D1D1A"/>
                </a:buClr>
                <a:buSzPts val="1800"/>
                <a:buFont typeface="Lexend"/>
                <a:buNone/>
              </a:pPr>
              <a:r>
                <a:t/>
              </a:r>
              <a:endParaRPr b="0" i="0" sz="1800" u="none" cap="none" strike="noStrike">
                <a:solidFill>
                  <a:srgbClr val="1D1D1A"/>
                </a:solidFill>
                <a:latin typeface="Lexend"/>
                <a:ea typeface="Lexend"/>
                <a:cs typeface="Lexend"/>
                <a:sym typeface="Lexend"/>
              </a:endParaRPr>
            </a:p>
            <a:p>
              <a:pPr indent="0" lvl="0" marL="0" marR="0" rtl="0" algn="ctr">
                <a:lnSpc>
                  <a:spcPct val="100000"/>
                </a:lnSpc>
                <a:spcBef>
                  <a:spcPts val="0"/>
                </a:spcBef>
                <a:spcAft>
                  <a:spcPts val="0"/>
                </a:spcAft>
                <a:buClr>
                  <a:srgbClr val="666666"/>
                </a:buClr>
                <a:buSzPts val="1800"/>
                <a:buFont typeface="Lexend"/>
                <a:buNone/>
              </a:pPr>
              <a:r>
                <a:t/>
              </a:r>
              <a:endParaRPr b="0" i="0" sz="1800" u="none" cap="none" strike="noStrike">
                <a:solidFill>
                  <a:srgbClr val="1D1D1A"/>
                </a:solidFill>
                <a:latin typeface="Lexend"/>
                <a:ea typeface="Lexend"/>
                <a:cs typeface="Lexend"/>
                <a:sym typeface="Lexend"/>
              </a:endParaRPr>
            </a:p>
            <a:p>
              <a:pPr indent="0" lvl="0" marL="0" marR="0" rtl="0" algn="ctr">
                <a:lnSpc>
                  <a:spcPct val="100000"/>
                </a:lnSpc>
                <a:spcBef>
                  <a:spcPts val="0"/>
                </a:spcBef>
                <a:spcAft>
                  <a:spcPts val="0"/>
                </a:spcAft>
                <a:buClr>
                  <a:srgbClr val="666666"/>
                </a:buClr>
                <a:buSzPts val="1800"/>
                <a:buFont typeface="Lexend"/>
                <a:buNone/>
              </a:pPr>
              <a:r>
                <a:t/>
              </a:r>
              <a:endParaRPr b="0" i="0" sz="1800" u="none" cap="none" strike="noStrike">
                <a:solidFill>
                  <a:srgbClr val="1D1D1A"/>
                </a:solidFill>
                <a:latin typeface="Lexend"/>
                <a:ea typeface="Lexend"/>
                <a:cs typeface="Lexend"/>
                <a:sym typeface="Lexend"/>
              </a:endParaRPr>
            </a:p>
            <a:p>
              <a:pPr indent="0" lvl="0" marL="0" marR="0" rtl="0" algn="ctr">
                <a:lnSpc>
                  <a:spcPct val="100000"/>
                </a:lnSpc>
                <a:spcBef>
                  <a:spcPts val="0"/>
                </a:spcBef>
                <a:spcAft>
                  <a:spcPts val="0"/>
                </a:spcAft>
                <a:buClr>
                  <a:srgbClr val="666666"/>
                </a:buClr>
                <a:buSzPts val="1800"/>
                <a:buFont typeface="Lexend"/>
                <a:buNone/>
              </a:pPr>
              <a:r>
                <a:t/>
              </a:r>
              <a:endParaRPr b="0" i="0" sz="1800" u="none" cap="none" strike="noStrike">
                <a:solidFill>
                  <a:srgbClr val="1D1D1A"/>
                </a:solidFill>
                <a:latin typeface="Lexend"/>
                <a:ea typeface="Lexend"/>
                <a:cs typeface="Lexend"/>
                <a:sym typeface="Lexend"/>
              </a:endParaRPr>
            </a:p>
            <a:p>
              <a:pPr indent="0" lvl="0" marL="0" marR="0" rtl="0" algn="ctr">
                <a:lnSpc>
                  <a:spcPct val="100000"/>
                </a:lnSpc>
                <a:spcBef>
                  <a:spcPts val="0"/>
                </a:spcBef>
                <a:spcAft>
                  <a:spcPts val="0"/>
                </a:spcAft>
                <a:buClr>
                  <a:srgbClr val="666666"/>
                </a:buClr>
                <a:buSzPts val="1800"/>
                <a:buFont typeface="Lexend"/>
                <a:buNone/>
              </a:pPr>
              <a:r>
                <a:t/>
              </a:r>
              <a:endParaRPr b="0" i="0" sz="1800" u="none" cap="none" strike="noStrike">
                <a:solidFill>
                  <a:srgbClr val="1D1D1A"/>
                </a:solidFill>
                <a:latin typeface="Lexend"/>
                <a:ea typeface="Lexend"/>
                <a:cs typeface="Lexend"/>
                <a:sym typeface="Lexend"/>
              </a:endParaRPr>
            </a:p>
            <a:p>
              <a:pPr indent="0" lvl="0" marL="0" marR="0" rtl="0" algn="ctr">
                <a:lnSpc>
                  <a:spcPct val="100000"/>
                </a:lnSpc>
                <a:spcBef>
                  <a:spcPts val="0"/>
                </a:spcBef>
                <a:spcAft>
                  <a:spcPts val="0"/>
                </a:spcAft>
                <a:buClr>
                  <a:srgbClr val="666666"/>
                </a:buClr>
                <a:buSzPts val="1800"/>
                <a:buFont typeface="Lexend"/>
                <a:buNone/>
              </a:pPr>
              <a:r>
                <a:t/>
              </a:r>
              <a:endParaRPr b="0" i="0" sz="1800" u="none" cap="none" strike="noStrike">
                <a:solidFill>
                  <a:srgbClr val="1D1D1A"/>
                </a:solidFill>
                <a:latin typeface="Lexend"/>
                <a:ea typeface="Lexend"/>
                <a:cs typeface="Lexend"/>
                <a:sym typeface="Lexend"/>
              </a:endParaRPr>
            </a:p>
            <a:p>
              <a:pPr indent="0" lvl="0" marL="0" marR="0" rtl="0" algn="ctr">
                <a:lnSpc>
                  <a:spcPct val="100000"/>
                </a:lnSpc>
                <a:spcBef>
                  <a:spcPts val="0"/>
                </a:spcBef>
                <a:spcAft>
                  <a:spcPts val="0"/>
                </a:spcAft>
                <a:buClr>
                  <a:srgbClr val="666666"/>
                </a:buClr>
                <a:buSzPts val="1800"/>
                <a:buFont typeface="Lexend"/>
                <a:buNone/>
              </a:pPr>
              <a:r>
                <a:t/>
              </a:r>
              <a:endParaRPr b="0" i="0" sz="1800" u="none" cap="none" strike="noStrike">
                <a:solidFill>
                  <a:srgbClr val="1D1D1A"/>
                </a:solidFill>
                <a:latin typeface="Lexend"/>
                <a:ea typeface="Lexend"/>
                <a:cs typeface="Lexend"/>
                <a:sym typeface="Lexend"/>
              </a:endParaRPr>
            </a:p>
            <a:p>
              <a:pPr indent="0" lvl="0" marL="0" marR="0" rtl="0" algn="ctr">
                <a:lnSpc>
                  <a:spcPct val="100000"/>
                </a:lnSpc>
                <a:spcBef>
                  <a:spcPts val="0"/>
                </a:spcBef>
                <a:spcAft>
                  <a:spcPts val="0"/>
                </a:spcAft>
                <a:buClr>
                  <a:srgbClr val="666666"/>
                </a:buClr>
                <a:buSzPts val="1800"/>
                <a:buFont typeface="Lexend"/>
                <a:buNone/>
              </a:pPr>
              <a:r>
                <a:t/>
              </a:r>
              <a:endParaRPr b="0" i="0" sz="1800" u="none" cap="none" strike="noStrike">
                <a:solidFill>
                  <a:srgbClr val="1D1D1A"/>
                </a:solidFill>
                <a:latin typeface="Lexend"/>
                <a:ea typeface="Lexend"/>
                <a:cs typeface="Lexend"/>
                <a:sym typeface="Lexend"/>
              </a:endParaRPr>
            </a:p>
            <a:p>
              <a:pPr indent="0" lvl="0" marL="0" marR="0" rtl="0" algn="ctr">
                <a:lnSpc>
                  <a:spcPct val="100000"/>
                </a:lnSpc>
                <a:spcBef>
                  <a:spcPts val="0"/>
                </a:spcBef>
                <a:spcAft>
                  <a:spcPts val="0"/>
                </a:spcAft>
                <a:buClr>
                  <a:srgbClr val="666666"/>
                </a:buClr>
                <a:buSzPts val="1800"/>
                <a:buFont typeface="Lexend"/>
                <a:buNone/>
              </a:pPr>
              <a:r>
                <a:t/>
              </a:r>
              <a:endParaRPr b="0" i="0" sz="1800" u="none" cap="none" strike="noStrike">
                <a:solidFill>
                  <a:srgbClr val="1D1D1A"/>
                </a:solidFill>
                <a:latin typeface="Lexend"/>
                <a:ea typeface="Lexend"/>
                <a:cs typeface="Lexend"/>
                <a:sym typeface="Lexend"/>
              </a:endParaRPr>
            </a:p>
            <a:p>
              <a:pPr indent="0" lvl="0" marL="0" marR="0" rtl="0" algn="ctr">
                <a:lnSpc>
                  <a:spcPct val="100000"/>
                </a:lnSpc>
                <a:spcBef>
                  <a:spcPts val="0"/>
                </a:spcBef>
                <a:spcAft>
                  <a:spcPts val="0"/>
                </a:spcAft>
                <a:buClr>
                  <a:srgbClr val="666666"/>
                </a:buClr>
                <a:buSzPts val="1800"/>
                <a:buFont typeface="Lexend"/>
                <a:buNone/>
              </a:pPr>
              <a:r>
                <a:t/>
              </a:r>
              <a:endParaRPr b="0" i="0" sz="1800" u="none" cap="none" strike="noStrike">
                <a:solidFill>
                  <a:srgbClr val="1D1D1A"/>
                </a:solidFill>
                <a:latin typeface="Lexend"/>
                <a:ea typeface="Lexend"/>
                <a:cs typeface="Lexend"/>
                <a:sym typeface="Lexend"/>
              </a:endParaRPr>
            </a:p>
            <a:p>
              <a:pPr indent="0" lvl="0" marL="0" marR="0" rtl="0" algn="ctr">
                <a:lnSpc>
                  <a:spcPct val="100000"/>
                </a:lnSpc>
                <a:spcBef>
                  <a:spcPts val="0"/>
                </a:spcBef>
                <a:spcAft>
                  <a:spcPts val="0"/>
                </a:spcAft>
                <a:buClr>
                  <a:srgbClr val="666666"/>
                </a:buClr>
                <a:buSzPts val="1800"/>
                <a:buFont typeface="Lexend"/>
                <a:buNone/>
              </a:pPr>
              <a:r>
                <a:t/>
              </a:r>
              <a:endParaRPr b="0" i="0" sz="1800" u="none" cap="none" strike="noStrike">
                <a:solidFill>
                  <a:srgbClr val="1D1D1A"/>
                </a:solidFill>
                <a:latin typeface="Lexend"/>
                <a:ea typeface="Lexend"/>
                <a:cs typeface="Lexend"/>
                <a:sym typeface="Lexend"/>
              </a:endParaRPr>
            </a:p>
            <a:p>
              <a:pPr indent="0" lvl="0" marL="0" marR="0" rtl="0" algn="ctr">
                <a:lnSpc>
                  <a:spcPct val="100000"/>
                </a:lnSpc>
                <a:spcBef>
                  <a:spcPts val="0"/>
                </a:spcBef>
                <a:spcAft>
                  <a:spcPts val="0"/>
                </a:spcAft>
                <a:buClr>
                  <a:srgbClr val="666666"/>
                </a:buClr>
                <a:buSzPts val="1800"/>
                <a:buFont typeface="Lexend"/>
                <a:buNone/>
              </a:pPr>
              <a:r>
                <a:t/>
              </a:r>
              <a:endParaRPr b="0" i="0" sz="1800" u="none" cap="none" strike="noStrike">
                <a:solidFill>
                  <a:srgbClr val="1D1D1A"/>
                </a:solidFill>
                <a:latin typeface="Lexend"/>
                <a:ea typeface="Lexend"/>
                <a:cs typeface="Lexend"/>
                <a:sym typeface="Lexend"/>
              </a:endParaRPr>
            </a:p>
            <a:p>
              <a:pPr indent="0" lvl="0" marL="0" marR="0" rtl="0" algn="ctr">
                <a:lnSpc>
                  <a:spcPct val="100000"/>
                </a:lnSpc>
                <a:spcBef>
                  <a:spcPts val="0"/>
                </a:spcBef>
                <a:spcAft>
                  <a:spcPts val="0"/>
                </a:spcAft>
                <a:buClr>
                  <a:srgbClr val="666666"/>
                </a:buClr>
                <a:buSzPts val="1800"/>
                <a:buFont typeface="Lexend"/>
                <a:buNone/>
              </a:pPr>
              <a:r>
                <a:t/>
              </a:r>
              <a:endParaRPr b="0" i="0" sz="1800" u="none" cap="none" strike="noStrike">
                <a:solidFill>
                  <a:srgbClr val="1D1D1A"/>
                </a:solidFill>
                <a:latin typeface="Lexend"/>
                <a:ea typeface="Lexend"/>
                <a:cs typeface="Lexend"/>
                <a:sym typeface="Lexend"/>
              </a:endParaRPr>
            </a:p>
          </p:txBody>
        </p:sp>
      </p:grpSp>
      <p:grpSp>
        <p:nvGrpSpPr>
          <p:cNvPr id="294" name="Google Shape;294;p23"/>
          <p:cNvGrpSpPr/>
          <p:nvPr/>
        </p:nvGrpSpPr>
        <p:grpSpPr>
          <a:xfrm>
            <a:off x="389715" y="501708"/>
            <a:ext cx="2632500" cy="4617600"/>
            <a:chOff x="0" y="-1"/>
            <a:chExt cx="2632500" cy="4617600"/>
          </a:xfrm>
        </p:grpSpPr>
        <p:sp>
          <p:nvSpPr>
            <p:cNvPr id="295" name="Google Shape;295;p23"/>
            <p:cNvSpPr/>
            <p:nvPr/>
          </p:nvSpPr>
          <p:spPr>
            <a:xfrm>
              <a:off x="0" y="1609100"/>
              <a:ext cx="2632500" cy="1673700"/>
            </a:xfrm>
            <a:prstGeom prst="rect">
              <a:avLst/>
            </a:prstGeom>
            <a:solidFill>
              <a:srgbClr val="FFC8D3"/>
            </a:solidFill>
            <a:ln cap="flat" cmpd="sng" w="12700">
              <a:solidFill>
                <a:srgbClr val="C6C6C6"/>
              </a:solidFill>
              <a:prstDash val="solid"/>
              <a:miter lim="800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400"/>
                <a:buFont typeface="Lexend"/>
                <a:buNone/>
              </a:pPr>
              <a:r>
                <a:t/>
              </a:r>
              <a:endParaRPr b="0" i="0" sz="1400" u="none" cap="none" strike="noStrike">
                <a:solidFill>
                  <a:srgbClr val="000000"/>
                </a:solidFill>
                <a:latin typeface="Lexend"/>
                <a:ea typeface="Lexend"/>
                <a:cs typeface="Lexend"/>
                <a:sym typeface="Lexend"/>
              </a:endParaRPr>
            </a:p>
          </p:txBody>
        </p:sp>
        <p:sp>
          <p:nvSpPr>
            <p:cNvPr id="296" name="Google Shape;296;p23"/>
            <p:cNvSpPr txBox="1"/>
            <p:nvPr/>
          </p:nvSpPr>
          <p:spPr>
            <a:xfrm>
              <a:off x="52024" y="-1"/>
              <a:ext cx="2528400" cy="4617600"/>
            </a:xfrm>
            <a:prstGeom prst="rect">
              <a:avLst/>
            </a:prstGeom>
            <a:noFill/>
            <a:ln>
              <a:noFill/>
            </a:ln>
          </p:spPr>
          <p:txBody>
            <a:bodyPr anchorCtr="0" anchor="ctr" bIns="45675" lIns="45675" spcFirstLastPara="1" rIns="45675" wrap="square" tIns="45675">
              <a:spAutoFit/>
            </a:bodyPr>
            <a:lstStyle/>
            <a:p>
              <a:pPr indent="0" lvl="0" marL="0" marR="0" rtl="0" algn="ctr">
                <a:lnSpc>
                  <a:spcPct val="100000"/>
                </a:lnSpc>
                <a:spcBef>
                  <a:spcPts val="0"/>
                </a:spcBef>
                <a:spcAft>
                  <a:spcPts val="0"/>
                </a:spcAft>
                <a:buClr>
                  <a:srgbClr val="000000"/>
                </a:buClr>
                <a:buSzPts val="1400"/>
                <a:buFont typeface="Lexend"/>
                <a:buNone/>
              </a:pPr>
              <a:r>
                <a:t/>
              </a:r>
              <a:endParaRPr b="0" i="0" sz="14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1400"/>
                <a:buFont typeface="Lexend"/>
                <a:buNone/>
              </a:pPr>
              <a:r>
                <a:t/>
              </a:r>
              <a:endParaRPr b="0" i="0" sz="14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1400"/>
                <a:buFont typeface="Lexend"/>
                <a:buNone/>
              </a:pPr>
              <a:r>
                <a:t/>
              </a:r>
              <a:endParaRPr b="0" i="0" sz="14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1400"/>
                <a:buFont typeface="Lexend"/>
                <a:buNone/>
              </a:pPr>
              <a:r>
                <a:t/>
              </a:r>
              <a:endParaRPr b="0" i="0" sz="14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1400"/>
                <a:buFont typeface="Lexend"/>
                <a:buNone/>
              </a:pPr>
              <a:r>
                <a:t/>
              </a:r>
              <a:endParaRPr b="0" i="0" sz="14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1400"/>
                <a:buFont typeface="Lexend"/>
                <a:buNone/>
              </a:pPr>
              <a:r>
                <a:t/>
              </a:r>
              <a:endParaRPr b="0" i="0" sz="14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1400"/>
                <a:buFont typeface="Lexend"/>
                <a:buNone/>
              </a:pPr>
              <a:r>
                <a:t/>
              </a:r>
              <a:endParaRPr b="0" i="0" sz="14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1400"/>
                <a:buFont typeface="Lexend"/>
                <a:buNone/>
              </a:pPr>
              <a:r>
                <a:rPr b="0" i="0" lang="en" sz="1400" u="none" cap="none" strike="noStrike">
                  <a:solidFill>
                    <a:srgbClr val="000000"/>
                  </a:solidFill>
                  <a:latin typeface="Lexend"/>
                  <a:ea typeface="Lexend"/>
                  <a:cs typeface="Lexend"/>
                  <a:sym typeface="Lexend"/>
                </a:rPr>
                <a:t>AR</a:t>
              </a:r>
              <a:endParaRPr/>
            </a:p>
            <a:p>
              <a:pPr indent="0" lvl="0" marL="0" marR="0" rtl="0" algn="ctr">
                <a:lnSpc>
                  <a:spcPct val="100000"/>
                </a:lnSpc>
                <a:spcBef>
                  <a:spcPts val="0"/>
                </a:spcBef>
                <a:spcAft>
                  <a:spcPts val="0"/>
                </a:spcAft>
                <a:buClr>
                  <a:srgbClr val="000000"/>
                </a:buClr>
                <a:buSzPts val="1400"/>
                <a:buFont typeface="Lexend"/>
                <a:buNone/>
              </a:pPr>
              <a:r>
                <a:t/>
              </a:r>
              <a:endParaRPr b="0" i="0" sz="14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1400"/>
                <a:buFont typeface="Lexend"/>
                <a:buNone/>
              </a:pPr>
              <a:r>
                <a:t/>
              </a:r>
              <a:endParaRPr b="0" i="0" sz="14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1400"/>
                <a:buFont typeface="Lexend"/>
                <a:buNone/>
              </a:pPr>
              <a:r>
                <a:t/>
              </a:r>
              <a:endParaRPr b="0" i="0" sz="14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1400"/>
                <a:buFont typeface="Lexend"/>
                <a:buNone/>
              </a:pPr>
              <a:r>
                <a:t/>
              </a:r>
              <a:endParaRPr b="0" i="0" sz="14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1400"/>
                <a:buFont typeface="Lexend"/>
                <a:buNone/>
              </a:pPr>
              <a:r>
                <a:t/>
              </a:r>
              <a:endParaRPr b="0" i="0" sz="14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1400"/>
                <a:buFont typeface="Lexend"/>
                <a:buNone/>
              </a:pPr>
              <a:r>
                <a:t/>
              </a:r>
              <a:endParaRPr b="0" i="0" sz="14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1400"/>
                <a:buFont typeface="Lexend"/>
                <a:buNone/>
              </a:pPr>
              <a:r>
                <a:t/>
              </a:r>
              <a:endParaRPr b="0" i="0" sz="14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1400"/>
                <a:buFont typeface="Lexend"/>
                <a:buNone/>
              </a:pPr>
              <a:r>
                <a:t/>
              </a:r>
              <a:endParaRPr b="0" i="0" sz="14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1400"/>
                <a:buFont typeface="Lexend"/>
                <a:buNone/>
              </a:pPr>
              <a:r>
                <a:t/>
              </a:r>
              <a:endParaRPr b="0" i="0" sz="14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1400"/>
                <a:buFont typeface="Lexend"/>
                <a:buNone/>
              </a:pPr>
              <a:r>
                <a:t/>
              </a:r>
              <a:endParaRPr b="0" i="0" sz="14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1400"/>
                <a:buFont typeface="Lexend"/>
                <a:buNone/>
              </a:pPr>
              <a:r>
                <a:t/>
              </a:r>
              <a:endParaRPr b="0" i="0" sz="14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1400"/>
                <a:buFont typeface="Lexend"/>
                <a:buNone/>
              </a:pPr>
              <a:r>
                <a:t/>
              </a:r>
              <a:endParaRPr b="0" i="0" sz="14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1400"/>
                <a:buFont typeface="Lexend"/>
                <a:buNone/>
              </a:pPr>
              <a:r>
                <a:t/>
              </a:r>
              <a:endParaRPr b="0" i="0" sz="1400" u="none" cap="none" strike="noStrike">
                <a:solidFill>
                  <a:srgbClr val="000000"/>
                </a:solidFill>
                <a:latin typeface="Lexend"/>
                <a:ea typeface="Lexend"/>
                <a:cs typeface="Lexend"/>
                <a:sym typeface="Lexend"/>
              </a:endParaRPr>
            </a:p>
          </p:txBody>
        </p:sp>
      </p:grpSp>
      <p:grpSp>
        <p:nvGrpSpPr>
          <p:cNvPr id="297" name="Google Shape;297;p23"/>
          <p:cNvGrpSpPr/>
          <p:nvPr/>
        </p:nvGrpSpPr>
        <p:grpSpPr>
          <a:xfrm>
            <a:off x="389898" y="1328744"/>
            <a:ext cx="4684800" cy="716554"/>
            <a:chOff x="0" y="0"/>
            <a:chExt cx="4684800" cy="716554"/>
          </a:xfrm>
        </p:grpSpPr>
        <p:sp>
          <p:nvSpPr>
            <p:cNvPr id="298" name="Google Shape;298;p23"/>
            <p:cNvSpPr/>
            <p:nvPr/>
          </p:nvSpPr>
          <p:spPr>
            <a:xfrm>
              <a:off x="0" y="22354"/>
              <a:ext cx="4684800" cy="694200"/>
            </a:xfrm>
            <a:prstGeom prst="rect">
              <a:avLst/>
            </a:prstGeom>
            <a:solidFill>
              <a:srgbClr val="D4F1F5"/>
            </a:solidFill>
            <a:ln cap="flat" cmpd="sng" w="12700">
              <a:solidFill>
                <a:srgbClr val="C6C6C6"/>
              </a:solidFill>
              <a:prstDash val="solid"/>
              <a:miter lim="800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1D1D1A"/>
                </a:buClr>
                <a:buSzPts val="1400"/>
                <a:buFont typeface="Lexend"/>
                <a:buNone/>
              </a:pPr>
              <a:r>
                <a:t/>
              </a:r>
              <a:endParaRPr b="0" i="0" sz="1400" u="none" cap="none" strike="noStrike">
                <a:solidFill>
                  <a:srgbClr val="1D1D1A"/>
                </a:solidFill>
                <a:latin typeface="Lexend"/>
                <a:ea typeface="Lexend"/>
                <a:cs typeface="Lexend"/>
                <a:sym typeface="Lexend"/>
              </a:endParaRPr>
            </a:p>
          </p:txBody>
        </p:sp>
        <p:sp>
          <p:nvSpPr>
            <p:cNvPr id="299" name="Google Shape;299;p23"/>
            <p:cNvSpPr txBox="1"/>
            <p:nvPr/>
          </p:nvSpPr>
          <p:spPr>
            <a:xfrm>
              <a:off x="52024" y="0"/>
              <a:ext cx="4580700" cy="523200"/>
            </a:xfrm>
            <a:prstGeom prst="rect">
              <a:avLst/>
            </a:prstGeom>
            <a:noFill/>
            <a:ln>
              <a:noFill/>
            </a:ln>
          </p:spPr>
          <p:txBody>
            <a:bodyPr anchorCtr="0" anchor="ctr" bIns="45675" lIns="45675" spcFirstLastPara="1" rIns="45675" wrap="square" tIns="45675">
              <a:spAutoFit/>
            </a:bodyPr>
            <a:lstStyle/>
            <a:p>
              <a:pPr indent="0" lvl="0" marL="0" marR="0" rtl="0" algn="ctr">
                <a:lnSpc>
                  <a:spcPct val="100000"/>
                </a:lnSpc>
                <a:spcBef>
                  <a:spcPts val="0"/>
                </a:spcBef>
                <a:spcAft>
                  <a:spcPts val="0"/>
                </a:spcAft>
                <a:buClr>
                  <a:srgbClr val="000000"/>
                </a:buClr>
                <a:buSzPts val="1400"/>
                <a:buFont typeface="Lexend"/>
                <a:buNone/>
              </a:pPr>
              <a:r>
                <a:rPr b="0" i="0" lang="en" sz="1400" u="none" cap="none" strike="noStrike">
                  <a:solidFill>
                    <a:srgbClr val="000000"/>
                  </a:solidFill>
                  <a:latin typeface="Lexend"/>
                  <a:ea typeface="Lexend"/>
                  <a:cs typeface="Lexend"/>
                  <a:sym typeface="Lexend"/>
                </a:rPr>
                <a:t>EntryPoints</a:t>
              </a:r>
              <a:endParaRPr/>
            </a:p>
            <a:p>
              <a:pPr indent="0" lvl="0" marL="0" marR="0" rtl="0" algn="ctr">
                <a:lnSpc>
                  <a:spcPct val="100000"/>
                </a:lnSpc>
                <a:spcBef>
                  <a:spcPts val="0"/>
                </a:spcBef>
                <a:spcAft>
                  <a:spcPts val="0"/>
                </a:spcAft>
                <a:buClr>
                  <a:srgbClr val="1D1D1A"/>
                </a:buClr>
                <a:buSzPts val="1400"/>
                <a:buFont typeface="Lexend"/>
                <a:buNone/>
              </a:pPr>
              <a:r>
                <a:t/>
              </a:r>
              <a:endParaRPr b="0" i="0" sz="1400" u="none" cap="none" strike="noStrike">
                <a:solidFill>
                  <a:srgbClr val="000000"/>
                </a:solidFill>
                <a:latin typeface="Lexend"/>
                <a:ea typeface="Lexend"/>
                <a:cs typeface="Lexend"/>
                <a:sym typeface="Lexend"/>
              </a:endParaRPr>
            </a:p>
          </p:txBody>
        </p:sp>
      </p:grpSp>
      <p:grpSp>
        <p:nvGrpSpPr>
          <p:cNvPr id="300" name="Google Shape;300;p23"/>
          <p:cNvGrpSpPr/>
          <p:nvPr/>
        </p:nvGrpSpPr>
        <p:grpSpPr>
          <a:xfrm>
            <a:off x="512654" y="1658346"/>
            <a:ext cx="1005300" cy="276900"/>
            <a:chOff x="0" y="-1"/>
            <a:chExt cx="1005300" cy="276900"/>
          </a:xfrm>
        </p:grpSpPr>
        <p:sp>
          <p:nvSpPr>
            <p:cNvPr id="301" name="Google Shape;301;p23"/>
            <p:cNvSpPr/>
            <p:nvPr/>
          </p:nvSpPr>
          <p:spPr>
            <a:xfrm>
              <a:off x="0" y="7230"/>
              <a:ext cx="1005300" cy="254700"/>
            </a:xfrm>
            <a:prstGeom prst="rect">
              <a:avLst/>
            </a:prstGeom>
            <a:solidFill>
              <a:srgbClr val="FFF4CB"/>
            </a:solidFill>
            <a:ln cap="flat" cmpd="sng" w="9525">
              <a:solidFill>
                <a:srgbClr val="C6C6C6"/>
              </a:solidFill>
              <a:prstDash val="solid"/>
              <a:miter lim="800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1D1D1A"/>
                </a:buClr>
                <a:buSzPts val="1200"/>
                <a:buFont typeface="Lexend"/>
                <a:buNone/>
              </a:pPr>
              <a:r>
                <a:t/>
              </a:r>
              <a:endParaRPr b="0" i="0" sz="1200" u="none" cap="none" strike="noStrike">
                <a:solidFill>
                  <a:srgbClr val="1D1D1A"/>
                </a:solidFill>
                <a:latin typeface="Lexend"/>
                <a:ea typeface="Lexend"/>
                <a:cs typeface="Lexend"/>
                <a:sym typeface="Lexend"/>
              </a:endParaRPr>
            </a:p>
          </p:txBody>
        </p:sp>
        <p:sp>
          <p:nvSpPr>
            <p:cNvPr id="302" name="Google Shape;302;p23"/>
            <p:cNvSpPr txBox="1"/>
            <p:nvPr/>
          </p:nvSpPr>
          <p:spPr>
            <a:xfrm>
              <a:off x="50437" y="-1"/>
              <a:ext cx="904500" cy="276900"/>
            </a:xfrm>
            <a:prstGeom prst="rect">
              <a:avLst/>
            </a:prstGeom>
            <a:noFill/>
            <a:ln>
              <a:noFill/>
            </a:ln>
          </p:spPr>
          <p:txBody>
            <a:bodyPr anchorCtr="0" anchor="ctr" bIns="45675" lIns="45675" spcFirstLastPara="1" rIns="45675" wrap="square" tIns="45675">
              <a:spAutoFit/>
            </a:bodyPr>
            <a:lstStyle/>
            <a:p>
              <a:pPr indent="0" lvl="0" marL="0" marR="0" rtl="0" algn="ctr">
                <a:lnSpc>
                  <a:spcPct val="100000"/>
                </a:lnSpc>
                <a:spcBef>
                  <a:spcPts val="0"/>
                </a:spcBef>
                <a:spcAft>
                  <a:spcPts val="0"/>
                </a:spcAft>
                <a:buClr>
                  <a:srgbClr val="1D1D1A"/>
                </a:buClr>
                <a:buSzPts val="1200"/>
                <a:buFont typeface="Lexend"/>
                <a:buNone/>
              </a:pPr>
              <a:r>
                <a:rPr b="0" i="0" lang="en" sz="1200" u="none" cap="none" strike="noStrike">
                  <a:solidFill>
                    <a:srgbClr val="1D1D1A"/>
                  </a:solidFill>
                  <a:latin typeface="Lexend"/>
                  <a:ea typeface="Lexend"/>
                  <a:cs typeface="Lexend"/>
                  <a:sym typeface="Lexend"/>
                </a:rPr>
                <a:t>APIServer</a:t>
              </a:r>
              <a:endParaRPr/>
            </a:p>
          </p:txBody>
        </p:sp>
      </p:grpSp>
      <p:grpSp>
        <p:nvGrpSpPr>
          <p:cNvPr id="303" name="Google Shape;303;p23"/>
          <p:cNvGrpSpPr/>
          <p:nvPr/>
        </p:nvGrpSpPr>
        <p:grpSpPr>
          <a:xfrm>
            <a:off x="1831277" y="1663431"/>
            <a:ext cx="1530000" cy="276900"/>
            <a:chOff x="0" y="-1"/>
            <a:chExt cx="1530000" cy="276900"/>
          </a:xfrm>
        </p:grpSpPr>
        <p:sp>
          <p:nvSpPr>
            <p:cNvPr id="304" name="Google Shape;304;p23"/>
            <p:cNvSpPr/>
            <p:nvPr/>
          </p:nvSpPr>
          <p:spPr>
            <a:xfrm>
              <a:off x="0" y="7229"/>
              <a:ext cx="1530000" cy="254700"/>
            </a:xfrm>
            <a:prstGeom prst="rect">
              <a:avLst/>
            </a:prstGeom>
            <a:solidFill>
              <a:srgbClr val="FFC7D1"/>
            </a:solidFill>
            <a:ln cap="flat" cmpd="sng" w="12700">
              <a:solidFill>
                <a:srgbClr val="C6C6C6"/>
              </a:solidFill>
              <a:prstDash val="solid"/>
              <a:miter lim="800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1D1D1A"/>
                </a:buClr>
                <a:buSzPts val="1200"/>
                <a:buFont typeface="Lexend"/>
                <a:buNone/>
              </a:pPr>
              <a:r>
                <a:t/>
              </a:r>
              <a:endParaRPr b="0" i="0" sz="1200" u="none" cap="none" strike="noStrike">
                <a:solidFill>
                  <a:srgbClr val="1D1D1A"/>
                </a:solidFill>
                <a:latin typeface="Lexend"/>
                <a:ea typeface="Lexend"/>
                <a:cs typeface="Lexend"/>
                <a:sym typeface="Lexend"/>
              </a:endParaRPr>
            </a:p>
          </p:txBody>
        </p:sp>
        <p:sp>
          <p:nvSpPr>
            <p:cNvPr id="305" name="Google Shape;305;p23"/>
            <p:cNvSpPr txBox="1"/>
            <p:nvPr/>
          </p:nvSpPr>
          <p:spPr>
            <a:xfrm>
              <a:off x="52024" y="-1"/>
              <a:ext cx="1425900" cy="276900"/>
            </a:xfrm>
            <a:prstGeom prst="rect">
              <a:avLst/>
            </a:prstGeom>
            <a:noFill/>
            <a:ln>
              <a:noFill/>
            </a:ln>
          </p:spPr>
          <p:txBody>
            <a:bodyPr anchorCtr="0" anchor="ctr" bIns="45675" lIns="45675" spcFirstLastPara="1" rIns="45675" wrap="square" tIns="45675">
              <a:spAutoFit/>
            </a:bodyPr>
            <a:lstStyle/>
            <a:p>
              <a:pPr indent="0" lvl="0" marL="0" marR="0" rtl="0" algn="ctr">
                <a:lnSpc>
                  <a:spcPct val="100000"/>
                </a:lnSpc>
                <a:spcBef>
                  <a:spcPts val="0"/>
                </a:spcBef>
                <a:spcAft>
                  <a:spcPts val="0"/>
                </a:spcAft>
                <a:buClr>
                  <a:srgbClr val="1D1D1A"/>
                </a:buClr>
                <a:buSzPts val="1200"/>
                <a:buFont typeface="Lexend"/>
                <a:buNone/>
              </a:pPr>
              <a:r>
                <a:rPr b="0" i="0" lang="en" sz="1200" u="none" cap="none" strike="noStrike">
                  <a:solidFill>
                    <a:srgbClr val="1D1D1A"/>
                  </a:solidFill>
                  <a:latin typeface="Lexend"/>
                  <a:ea typeface="Lexend"/>
                  <a:cs typeface="Lexend"/>
                  <a:sym typeface="Lexend"/>
                </a:rPr>
                <a:t>Omni/AsyncOmni</a:t>
              </a:r>
              <a:endParaRPr/>
            </a:p>
          </p:txBody>
        </p:sp>
      </p:grpSp>
      <p:grpSp>
        <p:nvGrpSpPr>
          <p:cNvPr id="306" name="Google Shape;306;p23"/>
          <p:cNvGrpSpPr/>
          <p:nvPr/>
        </p:nvGrpSpPr>
        <p:grpSpPr>
          <a:xfrm>
            <a:off x="3674536" y="1664934"/>
            <a:ext cx="1035900" cy="276900"/>
            <a:chOff x="0" y="-1"/>
            <a:chExt cx="1035900" cy="276900"/>
          </a:xfrm>
        </p:grpSpPr>
        <p:sp>
          <p:nvSpPr>
            <p:cNvPr id="307" name="Google Shape;307;p23"/>
            <p:cNvSpPr/>
            <p:nvPr/>
          </p:nvSpPr>
          <p:spPr>
            <a:xfrm>
              <a:off x="0" y="7229"/>
              <a:ext cx="1035900" cy="254700"/>
            </a:xfrm>
            <a:prstGeom prst="rect">
              <a:avLst/>
            </a:prstGeom>
            <a:solidFill>
              <a:srgbClr val="FFC7D1"/>
            </a:solidFill>
            <a:ln cap="flat" cmpd="sng" w="12700">
              <a:solidFill>
                <a:srgbClr val="C6C6C6"/>
              </a:solidFill>
              <a:prstDash val="solid"/>
              <a:miter lim="800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1D1D1A"/>
                </a:buClr>
                <a:buSzPts val="1200"/>
                <a:buFont typeface="Lexend"/>
                <a:buNone/>
              </a:pPr>
              <a:r>
                <a:t/>
              </a:r>
              <a:endParaRPr b="0" i="0" sz="1200" u="none" cap="none" strike="noStrike">
                <a:solidFill>
                  <a:srgbClr val="1D1D1A"/>
                </a:solidFill>
                <a:latin typeface="Lexend"/>
                <a:ea typeface="Lexend"/>
                <a:cs typeface="Lexend"/>
                <a:sym typeface="Lexend"/>
              </a:endParaRPr>
            </a:p>
          </p:txBody>
        </p:sp>
        <p:sp>
          <p:nvSpPr>
            <p:cNvPr id="308" name="Google Shape;308;p23"/>
            <p:cNvSpPr txBox="1"/>
            <p:nvPr/>
          </p:nvSpPr>
          <p:spPr>
            <a:xfrm>
              <a:off x="52024" y="-1"/>
              <a:ext cx="931800" cy="276900"/>
            </a:xfrm>
            <a:prstGeom prst="rect">
              <a:avLst/>
            </a:prstGeom>
            <a:noFill/>
            <a:ln>
              <a:noFill/>
            </a:ln>
          </p:spPr>
          <p:txBody>
            <a:bodyPr anchorCtr="0" anchor="ctr" bIns="45675" lIns="45675" spcFirstLastPara="1" rIns="45675" wrap="square" tIns="45675">
              <a:spAutoFit/>
            </a:bodyPr>
            <a:lstStyle/>
            <a:p>
              <a:pPr indent="0" lvl="0" marL="0" marR="0" rtl="0" algn="ctr">
                <a:lnSpc>
                  <a:spcPct val="100000"/>
                </a:lnSpc>
                <a:spcBef>
                  <a:spcPts val="0"/>
                </a:spcBef>
                <a:spcAft>
                  <a:spcPts val="0"/>
                </a:spcAft>
                <a:buClr>
                  <a:srgbClr val="1D1D1A"/>
                </a:buClr>
                <a:buSzPts val="1200"/>
                <a:buFont typeface="Lexend"/>
                <a:buNone/>
              </a:pPr>
              <a:r>
                <a:rPr b="0" i="0" lang="en" sz="1200" u="none" cap="none" strike="noStrike">
                  <a:solidFill>
                    <a:srgbClr val="1D1D1A"/>
                  </a:solidFill>
                  <a:latin typeface="Lexend"/>
                  <a:ea typeface="Lexend"/>
                  <a:cs typeface="Lexend"/>
                  <a:sym typeface="Lexend"/>
                </a:rPr>
                <a:t>OmniStage</a:t>
              </a:r>
              <a:endParaRPr/>
            </a:p>
          </p:txBody>
        </p:sp>
      </p:grpSp>
      <p:grpSp>
        <p:nvGrpSpPr>
          <p:cNvPr id="309" name="Google Shape;309;p23"/>
          <p:cNvGrpSpPr/>
          <p:nvPr/>
        </p:nvGrpSpPr>
        <p:grpSpPr>
          <a:xfrm>
            <a:off x="389715" y="3810367"/>
            <a:ext cx="4684800" cy="307800"/>
            <a:chOff x="0" y="-1"/>
            <a:chExt cx="4684800" cy="307800"/>
          </a:xfrm>
        </p:grpSpPr>
        <p:sp>
          <p:nvSpPr>
            <p:cNvPr id="310" name="Google Shape;310;p23"/>
            <p:cNvSpPr/>
            <p:nvPr/>
          </p:nvSpPr>
          <p:spPr>
            <a:xfrm>
              <a:off x="0" y="12999"/>
              <a:ext cx="4684800" cy="281400"/>
            </a:xfrm>
            <a:prstGeom prst="rect">
              <a:avLst/>
            </a:prstGeom>
            <a:solidFill>
              <a:srgbClr val="FFC8D3"/>
            </a:solidFill>
            <a:ln cap="flat" cmpd="sng" w="12700">
              <a:solidFill>
                <a:srgbClr val="C6C6C6"/>
              </a:solidFill>
              <a:prstDash val="solid"/>
              <a:miter lim="800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400"/>
                <a:buFont typeface="Lexend"/>
                <a:buNone/>
              </a:pPr>
              <a:r>
                <a:t/>
              </a:r>
              <a:endParaRPr b="0" i="0" sz="1400" u="none" cap="none" strike="noStrike">
                <a:solidFill>
                  <a:srgbClr val="000000"/>
                </a:solidFill>
                <a:latin typeface="Lexend"/>
                <a:ea typeface="Lexend"/>
                <a:cs typeface="Lexend"/>
                <a:sym typeface="Lexend"/>
              </a:endParaRPr>
            </a:p>
          </p:txBody>
        </p:sp>
        <p:sp>
          <p:nvSpPr>
            <p:cNvPr id="311" name="Google Shape;311;p23"/>
            <p:cNvSpPr txBox="1"/>
            <p:nvPr/>
          </p:nvSpPr>
          <p:spPr>
            <a:xfrm>
              <a:off x="52024" y="-1"/>
              <a:ext cx="4580700" cy="307800"/>
            </a:xfrm>
            <a:prstGeom prst="rect">
              <a:avLst/>
            </a:prstGeom>
            <a:noFill/>
            <a:ln>
              <a:noFill/>
            </a:ln>
          </p:spPr>
          <p:txBody>
            <a:bodyPr anchorCtr="0" anchor="ctr" bIns="45675" lIns="45675" spcFirstLastPara="1" rIns="45675" wrap="square" tIns="45675">
              <a:spAutoFit/>
            </a:bodyPr>
            <a:lstStyle/>
            <a:p>
              <a:pPr indent="0" lvl="0" marL="0" marR="0" rtl="0" algn="ctr">
                <a:lnSpc>
                  <a:spcPct val="100000"/>
                </a:lnSpc>
                <a:spcBef>
                  <a:spcPts val="0"/>
                </a:spcBef>
                <a:spcAft>
                  <a:spcPts val="0"/>
                </a:spcAft>
                <a:buClr>
                  <a:srgbClr val="000000"/>
                </a:buClr>
                <a:buSzPts val="1400"/>
                <a:buFont typeface="Lexend"/>
                <a:buNone/>
              </a:pPr>
              <a:r>
                <a:rPr b="0" i="0" lang="en" sz="1400" u="none" cap="none" strike="noStrike">
                  <a:solidFill>
                    <a:srgbClr val="000000"/>
                  </a:solidFill>
                  <a:latin typeface="Lexend"/>
                  <a:ea typeface="Lexend"/>
                  <a:cs typeface="Lexend"/>
                  <a:sym typeface="Lexend"/>
                </a:rPr>
                <a:t>Model/Layer/Ops</a:t>
              </a:r>
              <a:endParaRPr/>
            </a:p>
          </p:txBody>
        </p:sp>
      </p:grpSp>
      <p:grpSp>
        <p:nvGrpSpPr>
          <p:cNvPr id="312" name="Google Shape;312;p23"/>
          <p:cNvGrpSpPr/>
          <p:nvPr/>
        </p:nvGrpSpPr>
        <p:grpSpPr>
          <a:xfrm>
            <a:off x="389717" y="4141228"/>
            <a:ext cx="4684800" cy="325986"/>
            <a:chOff x="0" y="0"/>
            <a:chExt cx="4684800" cy="325986"/>
          </a:xfrm>
        </p:grpSpPr>
        <p:sp>
          <p:nvSpPr>
            <p:cNvPr id="313" name="Google Shape;313;p23"/>
            <p:cNvSpPr/>
            <p:nvPr/>
          </p:nvSpPr>
          <p:spPr>
            <a:xfrm>
              <a:off x="0" y="19386"/>
              <a:ext cx="4684800" cy="306600"/>
            </a:xfrm>
            <a:prstGeom prst="rect">
              <a:avLst/>
            </a:prstGeom>
            <a:solidFill>
              <a:srgbClr val="FFC8D3"/>
            </a:solidFill>
            <a:ln cap="flat" cmpd="sng" w="12700">
              <a:solidFill>
                <a:srgbClr val="C6C6C6"/>
              </a:solidFill>
              <a:prstDash val="solid"/>
              <a:miter lim="800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400"/>
                <a:buFont typeface="Lexend"/>
                <a:buNone/>
              </a:pPr>
              <a:r>
                <a:t/>
              </a:r>
              <a:endParaRPr b="0" i="0" sz="1400" u="none" cap="none" strike="noStrike">
                <a:solidFill>
                  <a:srgbClr val="000000"/>
                </a:solidFill>
                <a:latin typeface="Lexend"/>
                <a:ea typeface="Lexend"/>
                <a:cs typeface="Lexend"/>
                <a:sym typeface="Lexend"/>
              </a:endParaRPr>
            </a:p>
          </p:txBody>
        </p:sp>
        <p:sp>
          <p:nvSpPr>
            <p:cNvPr id="314" name="Google Shape;314;p23"/>
            <p:cNvSpPr txBox="1"/>
            <p:nvPr/>
          </p:nvSpPr>
          <p:spPr>
            <a:xfrm>
              <a:off x="52024" y="0"/>
              <a:ext cx="4580700" cy="307800"/>
            </a:xfrm>
            <a:prstGeom prst="rect">
              <a:avLst/>
            </a:prstGeom>
            <a:noFill/>
            <a:ln>
              <a:noFill/>
            </a:ln>
          </p:spPr>
          <p:txBody>
            <a:bodyPr anchorCtr="0" anchor="ctr" bIns="45675" lIns="45675" spcFirstLastPara="1" rIns="45675" wrap="square" tIns="45675">
              <a:spAutoFit/>
            </a:bodyPr>
            <a:lstStyle/>
            <a:p>
              <a:pPr indent="0" lvl="0" marL="0" marR="0" rtl="0" algn="ctr">
                <a:lnSpc>
                  <a:spcPct val="100000"/>
                </a:lnSpc>
                <a:spcBef>
                  <a:spcPts val="0"/>
                </a:spcBef>
                <a:spcAft>
                  <a:spcPts val="0"/>
                </a:spcAft>
                <a:buClr>
                  <a:srgbClr val="000000"/>
                </a:buClr>
                <a:buSzPts val="1400"/>
                <a:buFont typeface="Lexend"/>
                <a:buNone/>
              </a:pPr>
              <a:r>
                <a:rPr b="0" i="0" lang="en" sz="1400" u="none" cap="none" strike="noStrike">
                  <a:solidFill>
                    <a:srgbClr val="000000"/>
                  </a:solidFill>
                  <a:latin typeface="Lexend"/>
                  <a:ea typeface="Lexend"/>
                  <a:cs typeface="Lexend"/>
                  <a:sym typeface="Lexend"/>
                </a:rPr>
                <a:t>OmniConnector</a:t>
              </a:r>
              <a:r>
                <a:rPr b="0" i="0" lang="en" sz="1400" u="none" cap="none" strike="noStrike">
                  <a:solidFill>
                    <a:srgbClr val="000000"/>
                  </a:solidFill>
                  <a:latin typeface="Microsoft Yahei"/>
                  <a:ea typeface="Microsoft Yahei"/>
                  <a:cs typeface="Microsoft Yahei"/>
                  <a:sym typeface="Microsoft Yahei"/>
                </a:rPr>
                <a:t>（</a:t>
              </a:r>
              <a:r>
                <a:rPr b="0" i="0" lang="en" sz="1400" u="none" cap="none" strike="noStrike">
                  <a:solidFill>
                    <a:srgbClr val="000000"/>
                  </a:solidFill>
                  <a:latin typeface="Lexend"/>
                  <a:ea typeface="Lexend"/>
                  <a:cs typeface="Lexend"/>
                  <a:sym typeface="Lexend"/>
                </a:rPr>
                <a:t>E/P/D/G</a:t>
              </a:r>
              <a:r>
                <a:rPr b="0" i="0" lang="en" sz="1400" u="none" cap="none" strike="noStrike">
                  <a:solidFill>
                    <a:srgbClr val="000000"/>
                  </a:solidFill>
                  <a:latin typeface="Microsoft Yahei"/>
                  <a:ea typeface="Microsoft Yahei"/>
                  <a:cs typeface="Microsoft Yahei"/>
                  <a:sym typeface="Microsoft Yahei"/>
                </a:rPr>
                <a:t>）</a:t>
              </a:r>
              <a:endParaRPr/>
            </a:p>
          </p:txBody>
        </p:sp>
      </p:grpSp>
      <p:grpSp>
        <p:nvGrpSpPr>
          <p:cNvPr id="315" name="Google Shape;315;p23"/>
          <p:cNvGrpSpPr/>
          <p:nvPr/>
        </p:nvGrpSpPr>
        <p:grpSpPr>
          <a:xfrm>
            <a:off x="456899" y="2409530"/>
            <a:ext cx="2506501" cy="1288812"/>
            <a:chOff x="-1" y="0"/>
            <a:chExt cx="2506501" cy="1288812"/>
          </a:xfrm>
        </p:grpSpPr>
        <p:grpSp>
          <p:nvGrpSpPr>
            <p:cNvPr id="316" name="Google Shape;316;p23"/>
            <p:cNvGrpSpPr/>
            <p:nvPr/>
          </p:nvGrpSpPr>
          <p:grpSpPr>
            <a:xfrm>
              <a:off x="-1" y="0"/>
              <a:ext cx="2506500" cy="282949"/>
              <a:chOff x="-1" y="0"/>
              <a:chExt cx="2506500" cy="282949"/>
            </a:xfrm>
          </p:grpSpPr>
          <p:sp>
            <p:nvSpPr>
              <p:cNvPr id="317" name="Google Shape;317;p23"/>
              <p:cNvSpPr/>
              <p:nvPr/>
            </p:nvSpPr>
            <p:spPr>
              <a:xfrm>
                <a:off x="-1" y="0"/>
                <a:ext cx="2506500" cy="281100"/>
              </a:xfrm>
              <a:prstGeom prst="rect">
                <a:avLst/>
              </a:prstGeom>
              <a:solidFill>
                <a:srgbClr val="D4F1F5"/>
              </a:solidFill>
              <a:ln cap="flat" cmpd="sng" w="12700">
                <a:solidFill>
                  <a:srgbClr val="C6C6C6"/>
                </a:solidFill>
                <a:prstDash val="solid"/>
                <a:miter lim="800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Lexend"/>
                  <a:buNone/>
                </a:pPr>
                <a:r>
                  <a:t/>
                </a:r>
                <a:endParaRPr b="0" i="0" sz="1200" u="none" cap="none" strike="noStrike">
                  <a:solidFill>
                    <a:srgbClr val="000000"/>
                  </a:solidFill>
                  <a:latin typeface="Lexend"/>
                  <a:ea typeface="Lexend"/>
                  <a:cs typeface="Lexend"/>
                  <a:sym typeface="Lexend"/>
                </a:endParaRPr>
              </a:p>
            </p:txBody>
          </p:sp>
          <p:sp>
            <p:nvSpPr>
              <p:cNvPr id="318" name="Google Shape;318;p23"/>
              <p:cNvSpPr txBox="1"/>
              <p:nvPr/>
            </p:nvSpPr>
            <p:spPr>
              <a:xfrm>
                <a:off x="52024" y="6049"/>
                <a:ext cx="2402400" cy="276900"/>
              </a:xfrm>
              <a:prstGeom prst="rect">
                <a:avLst/>
              </a:prstGeom>
              <a:noFill/>
              <a:ln>
                <a:noFill/>
              </a:ln>
            </p:spPr>
            <p:txBody>
              <a:bodyPr anchorCtr="0" anchor="ctr" bIns="45675" lIns="45675" spcFirstLastPara="1" rIns="45675" wrap="square" tIns="45675">
                <a:spAutoFit/>
              </a:bodyPr>
              <a:lstStyle/>
              <a:p>
                <a:pPr indent="0" lvl="0" marL="0" marR="0" rtl="0" algn="ctr">
                  <a:lnSpc>
                    <a:spcPct val="100000"/>
                  </a:lnSpc>
                  <a:spcBef>
                    <a:spcPts val="0"/>
                  </a:spcBef>
                  <a:spcAft>
                    <a:spcPts val="0"/>
                  </a:spcAft>
                  <a:buClr>
                    <a:srgbClr val="000000"/>
                  </a:buClr>
                  <a:buSzPts val="1200"/>
                  <a:buFont typeface="Lexend"/>
                  <a:buNone/>
                </a:pPr>
                <a:r>
                  <a:rPr b="0" i="0" lang="en" sz="1200" u="none" cap="none" strike="noStrike">
                    <a:solidFill>
                      <a:srgbClr val="000000"/>
                    </a:solidFill>
                    <a:latin typeface="Lexend"/>
                    <a:ea typeface="Lexend"/>
                    <a:cs typeface="Lexend"/>
                    <a:sym typeface="Lexend"/>
                  </a:rPr>
                  <a:t>LLMEngine</a:t>
                </a:r>
                <a:endParaRPr/>
              </a:p>
            </p:txBody>
          </p:sp>
        </p:grpSp>
        <p:grpSp>
          <p:nvGrpSpPr>
            <p:cNvPr id="319" name="Google Shape;319;p23"/>
            <p:cNvGrpSpPr/>
            <p:nvPr/>
          </p:nvGrpSpPr>
          <p:grpSpPr>
            <a:xfrm>
              <a:off x="0" y="662202"/>
              <a:ext cx="2506500" cy="282949"/>
              <a:chOff x="0" y="0"/>
              <a:chExt cx="2506500" cy="282949"/>
            </a:xfrm>
          </p:grpSpPr>
          <p:sp>
            <p:nvSpPr>
              <p:cNvPr id="320" name="Google Shape;320;p23"/>
              <p:cNvSpPr/>
              <p:nvPr/>
            </p:nvSpPr>
            <p:spPr>
              <a:xfrm>
                <a:off x="0" y="0"/>
                <a:ext cx="2506500" cy="281100"/>
              </a:xfrm>
              <a:prstGeom prst="rect">
                <a:avLst/>
              </a:prstGeom>
              <a:solidFill>
                <a:srgbClr val="D4F1F5"/>
              </a:solidFill>
              <a:ln cap="flat" cmpd="sng" w="12700">
                <a:solidFill>
                  <a:srgbClr val="C6C6C6"/>
                </a:solidFill>
                <a:prstDash val="solid"/>
                <a:miter lim="800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Lexend"/>
                  <a:buNone/>
                </a:pPr>
                <a:r>
                  <a:t/>
                </a:r>
                <a:endParaRPr b="0" i="0" sz="1200" u="none" cap="none" strike="noStrike">
                  <a:solidFill>
                    <a:srgbClr val="000000"/>
                  </a:solidFill>
                  <a:latin typeface="Lexend"/>
                  <a:ea typeface="Lexend"/>
                  <a:cs typeface="Lexend"/>
                  <a:sym typeface="Lexend"/>
                </a:endParaRPr>
              </a:p>
            </p:txBody>
          </p:sp>
          <p:sp>
            <p:nvSpPr>
              <p:cNvPr id="321" name="Google Shape;321;p23"/>
              <p:cNvSpPr txBox="1"/>
              <p:nvPr/>
            </p:nvSpPr>
            <p:spPr>
              <a:xfrm>
                <a:off x="52025" y="6049"/>
                <a:ext cx="2402400" cy="276900"/>
              </a:xfrm>
              <a:prstGeom prst="rect">
                <a:avLst/>
              </a:prstGeom>
              <a:noFill/>
              <a:ln>
                <a:noFill/>
              </a:ln>
            </p:spPr>
            <p:txBody>
              <a:bodyPr anchorCtr="0" anchor="ctr" bIns="45675" lIns="45675" spcFirstLastPara="1" rIns="45675" wrap="square" tIns="45675">
                <a:spAutoFit/>
              </a:bodyPr>
              <a:lstStyle/>
              <a:p>
                <a:pPr indent="0" lvl="0" marL="0" marR="0" rtl="0" algn="ctr">
                  <a:lnSpc>
                    <a:spcPct val="100000"/>
                  </a:lnSpc>
                  <a:spcBef>
                    <a:spcPts val="0"/>
                  </a:spcBef>
                  <a:spcAft>
                    <a:spcPts val="0"/>
                  </a:spcAft>
                  <a:buClr>
                    <a:srgbClr val="000000"/>
                  </a:buClr>
                  <a:buSzPts val="1200"/>
                  <a:buFont typeface="Lexend"/>
                  <a:buNone/>
                </a:pPr>
                <a:r>
                  <a:rPr b="0" i="0" lang="en" sz="1200" u="none" cap="none" strike="noStrike">
                    <a:solidFill>
                      <a:srgbClr val="000000"/>
                    </a:solidFill>
                    <a:latin typeface="Lexend"/>
                    <a:ea typeface="Lexend"/>
                    <a:cs typeface="Lexend"/>
                    <a:sym typeface="Lexend"/>
                  </a:rPr>
                  <a:t>Executor</a:t>
                </a:r>
                <a:endParaRPr/>
              </a:p>
            </p:txBody>
          </p:sp>
        </p:grpSp>
        <p:grpSp>
          <p:nvGrpSpPr>
            <p:cNvPr id="322" name="Google Shape;322;p23"/>
            <p:cNvGrpSpPr/>
            <p:nvPr/>
          </p:nvGrpSpPr>
          <p:grpSpPr>
            <a:xfrm>
              <a:off x="1302090" y="823162"/>
              <a:ext cx="1204200" cy="461700"/>
              <a:chOff x="0" y="0"/>
              <a:chExt cx="1204200" cy="461700"/>
            </a:xfrm>
          </p:grpSpPr>
          <p:sp>
            <p:nvSpPr>
              <p:cNvPr id="323" name="Google Shape;323;p23"/>
              <p:cNvSpPr/>
              <p:nvPr/>
            </p:nvSpPr>
            <p:spPr>
              <a:xfrm>
                <a:off x="0" y="171750"/>
                <a:ext cx="1204200" cy="281400"/>
              </a:xfrm>
              <a:prstGeom prst="rect">
                <a:avLst/>
              </a:prstGeom>
              <a:solidFill>
                <a:srgbClr val="FFF4CB"/>
              </a:solidFill>
              <a:ln cap="flat" cmpd="sng" w="12700">
                <a:solidFill>
                  <a:srgbClr val="C6C6C6"/>
                </a:solidFill>
                <a:prstDash val="solid"/>
                <a:miter lim="800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666666"/>
                  </a:buClr>
                  <a:buSzPts val="1200"/>
                  <a:buFont typeface="Lexend"/>
                  <a:buNone/>
                </a:pPr>
                <a:r>
                  <a:t/>
                </a:r>
                <a:endParaRPr b="0" i="0" sz="1200" u="none" cap="none" strike="noStrike">
                  <a:solidFill>
                    <a:srgbClr val="666666"/>
                  </a:solidFill>
                  <a:latin typeface="Lexend"/>
                  <a:ea typeface="Lexend"/>
                  <a:cs typeface="Lexend"/>
                  <a:sym typeface="Lexend"/>
                </a:endParaRPr>
              </a:p>
            </p:txBody>
          </p:sp>
          <p:sp>
            <p:nvSpPr>
              <p:cNvPr id="324" name="Google Shape;324;p23"/>
              <p:cNvSpPr txBox="1"/>
              <p:nvPr/>
            </p:nvSpPr>
            <p:spPr>
              <a:xfrm>
                <a:off x="52024" y="0"/>
                <a:ext cx="1100400" cy="461700"/>
              </a:xfrm>
              <a:prstGeom prst="rect">
                <a:avLst/>
              </a:prstGeom>
              <a:noFill/>
              <a:ln>
                <a:noFill/>
              </a:ln>
            </p:spPr>
            <p:txBody>
              <a:bodyPr anchorCtr="0" anchor="ctr" bIns="45675" lIns="45675" spcFirstLastPara="1" rIns="45675" wrap="square" tIns="45675">
                <a:spAutoFit/>
              </a:bodyPr>
              <a:lstStyle/>
              <a:p>
                <a:pPr indent="0" lvl="0" marL="0" marR="0" rtl="0" algn="ctr">
                  <a:lnSpc>
                    <a:spcPct val="100000"/>
                  </a:lnSpc>
                  <a:spcBef>
                    <a:spcPts val="0"/>
                  </a:spcBef>
                  <a:spcAft>
                    <a:spcPts val="0"/>
                  </a:spcAft>
                  <a:buClr>
                    <a:srgbClr val="000000"/>
                  </a:buClr>
                  <a:buSzPts val="1200"/>
                  <a:buFont typeface="Lexend"/>
                  <a:buNone/>
                </a:pPr>
                <a:r>
                  <a:t/>
                </a:r>
                <a:endParaRPr b="0" i="0" sz="12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1200"/>
                  <a:buFont typeface="Lexend"/>
                  <a:buNone/>
                </a:pPr>
                <a:r>
                  <a:rPr b="0" i="0" lang="en" sz="1200" u="none" cap="none" strike="noStrike">
                    <a:solidFill>
                      <a:srgbClr val="000000"/>
                    </a:solidFill>
                    <a:latin typeface="Lexend"/>
                    <a:ea typeface="Lexend"/>
                    <a:cs typeface="Lexend"/>
                    <a:sym typeface="Lexend"/>
                  </a:rPr>
                  <a:t>ModelRunner</a:t>
                </a:r>
                <a:endParaRPr/>
              </a:p>
            </p:txBody>
          </p:sp>
        </p:grpSp>
        <p:grpSp>
          <p:nvGrpSpPr>
            <p:cNvPr id="325" name="Google Shape;325;p23"/>
            <p:cNvGrpSpPr/>
            <p:nvPr/>
          </p:nvGrpSpPr>
          <p:grpSpPr>
            <a:xfrm>
              <a:off x="0" y="827112"/>
              <a:ext cx="1204200" cy="461700"/>
              <a:chOff x="0" y="0"/>
              <a:chExt cx="1204200" cy="461700"/>
            </a:xfrm>
          </p:grpSpPr>
          <p:sp>
            <p:nvSpPr>
              <p:cNvPr id="326" name="Google Shape;326;p23"/>
              <p:cNvSpPr/>
              <p:nvPr/>
            </p:nvSpPr>
            <p:spPr>
              <a:xfrm>
                <a:off x="0" y="171750"/>
                <a:ext cx="1204200" cy="281400"/>
              </a:xfrm>
              <a:prstGeom prst="rect">
                <a:avLst/>
              </a:prstGeom>
              <a:solidFill>
                <a:srgbClr val="FFF4CB"/>
              </a:solidFill>
              <a:ln cap="flat" cmpd="sng" w="12700">
                <a:solidFill>
                  <a:srgbClr val="C6C6C6"/>
                </a:solidFill>
                <a:prstDash val="solid"/>
                <a:miter lim="800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666666"/>
                  </a:buClr>
                  <a:buSzPts val="1200"/>
                  <a:buFont typeface="Lexend"/>
                  <a:buNone/>
                </a:pPr>
                <a:r>
                  <a:t/>
                </a:r>
                <a:endParaRPr b="0" i="0" sz="1200" u="none" cap="none" strike="noStrike">
                  <a:solidFill>
                    <a:srgbClr val="666666"/>
                  </a:solidFill>
                  <a:latin typeface="Lexend"/>
                  <a:ea typeface="Lexend"/>
                  <a:cs typeface="Lexend"/>
                  <a:sym typeface="Lexend"/>
                </a:endParaRPr>
              </a:p>
            </p:txBody>
          </p:sp>
          <p:sp>
            <p:nvSpPr>
              <p:cNvPr id="327" name="Google Shape;327;p23"/>
              <p:cNvSpPr txBox="1"/>
              <p:nvPr/>
            </p:nvSpPr>
            <p:spPr>
              <a:xfrm>
                <a:off x="52024" y="0"/>
                <a:ext cx="1100400" cy="461700"/>
              </a:xfrm>
              <a:prstGeom prst="rect">
                <a:avLst/>
              </a:prstGeom>
              <a:noFill/>
              <a:ln>
                <a:noFill/>
              </a:ln>
            </p:spPr>
            <p:txBody>
              <a:bodyPr anchorCtr="0" anchor="ctr" bIns="45675" lIns="45675" spcFirstLastPara="1" rIns="45675" wrap="square" tIns="45675">
                <a:spAutoFit/>
              </a:bodyPr>
              <a:lstStyle/>
              <a:p>
                <a:pPr indent="0" lvl="0" marL="0" marR="0" rtl="0" algn="ctr">
                  <a:lnSpc>
                    <a:spcPct val="100000"/>
                  </a:lnSpc>
                  <a:spcBef>
                    <a:spcPts val="0"/>
                  </a:spcBef>
                  <a:spcAft>
                    <a:spcPts val="0"/>
                  </a:spcAft>
                  <a:buClr>
                    <a:srgbClr val="000000"/>
                  </a:buClr>
                  <a:buSzPts val="1200"/>
                  <a:buFont typeface="Lexend"/>
                  <a:buNone/>
                </a:pPr>
                <a:r>
                  <a:t/>
                </a:r>
                <a:endParaRPr b="0" i="0" sz="12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1200"/>
                  <a:buFont typeface="Lexend"/>
                  <a:buNone/>
                </a:pPr>
                <a:r>
                  <a:rPr b="0" i="0" lang="en" sz="1200" u="none" cap="none" strike="noStrike">
                    <a:solidFill>
                      <a:srgbClr val="000000"/>
                    </a:solidFill>
                    <a:latin typeface="Lexend"/>
                    <a:ea typeface="Lexend"/>
                    <a:cs typeface="Lexend"/>
                    <a:sym typeface="Lexend"/>
                  </a:rPr>
                  <a:t>Worker</a:t>
                </a:r>
                <a:endParaRPr/>
              </a:p>
            </p:txBody>
          </p:sp>
        </p:grpSp>
        <p:grpSp>
          <p:nvGrpSpPr>
            <p:cNvPr id="328" name="Google Shape;328;p23"/>
            <p:cNvGrpSpPr/>
            <p:nvPr/>
          </p:nvGrpSpPr>
          <p:grpSpPr>
            <a:xfrm>
              <a:off x="1302090" y="157283"/>
              <a:ext cx="1204200" cy="646500"/>
              <a:chOff x="0" y="0"/>
              <a:chExt cx="1204200" cy="646500"/>
            </a:xfrm>
          </p:grpSpPr>
          <p:sp>
            <p:nvSpPr>
              <p:cNvPr id="329" name="Google Shape;329;p23"/>
              <p:cNvSpPr/>
              <p:nvPr/>
            </p:nvSpPr>
            <p:spPr>
              <a:xfrm>
                <a:off x="0" y="171750"/>
                <a:ext cx="1204200" cy="281400"/>
              </a:xfrm>
              <a:prstGeom prst="rect">
                <a:avLst/>
              </a:prstGeom>
              <a:solidFill>
                <a:srgbClr val="FFF4CB"/>
              </a:solidFill>
              <a:ln cap="flat" cmpd="sng" w="12700">
                <a:solidFill>
                  <a:srgbClr val="C6C6C6"/>
                </a:solidFill>
                <a:prstDash val="solid"/>
                <a:miter lim="800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666666"/>
                  </a:buClr>
                  <a:buSzPts val="1200"/>
                  <a:buFont typeface="Lexend"/>
                  <a:buNone/>
                </a:pPr>
                <a:r>
                  <a:t/>
                </a:r>
                <a:endParaRPr b="0" i="0" sz="1200" u="none" cap="none" strike="noStrike">
                  <a:solidFill>
                    <a:srgbClr val="666666"/>
                  </a:solidFill>
                  <a:latin typeface="Lexend"/>
                  <a:ea typeface="Lexend"/>
                  <a:cs typeface="Lexend"/>
                  <a:sym typeface="Lexend"/>
                </a:endParaRPr>
              </a:p>
            </p:txBody>
          </p:sp>
          <p:sp>
            <p:nvSpPr>
              <p:cNvPr id="330" name="Google Shape;330;p23"/>
              <p:cNvSpPr txBox="1"/>
              <p:nvPr/>
            </p:nvSpPr>
            <p:spPr>
              <a:xfrm>
                <a:off x="52024" y="0"/>
                <a:ext cx="1100400" cy="646500"/>
              </a:xfrm>
              <a:prstGeom prst="rect">
                <a:avLst/>
              </a:prstGeom>
              <a:noFill/>
              <a:ln>
                <a:noFill/>
              </a:ln>
            </p:spPr>
            <p:txBody>
              <a:bodyPr anchorCtr="0" anchor="ctr" bIns="45675" lIns="45675" spcFirstLastPara="1" rIns="45675" wrap="square" tIns="45675">
                <a:spAutoFit/>
              </a:bodyPr>
              <a:lstStyle/>
              <a:p>
                <a:pPr indent="0" lvl="0" marL="0" marR="0" rtl="0" algn="ctr">
                  <a:lnSpc>
                    <a:spcPct val="100000"/>
                  </a:lnSpc>
                  <a:spcBef>
                    <a:spcPts val="0"/>
                  </a:spcBef>
                  <a:spcAft>
                    <a:spcPts val="0"/>
                  </a:spcAft>
                  <a:buClr>
                    <a:srgbClr val="000000"/>
                  </a:buClr>
                  <a:buSzPts val="1200"/>
                  <a:buFont typeface="Lexend"/>
                  <a:buNone/>
                </a:pPr>
                <a:r>
                  <a:t/>
                </a:r>
                <a:endParaRPr b="0" i="0" sz="12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1200"/>
                  <a:buFont typeface="Lexend"/>
                  <a:buNone/>
                </a:pPr>
                <a:r>
                  <a:rPr b="0" i="0" lang="en" sz="1200" u="none" cap="none" strike="noStrike">
                    <a:solidFill>
                      <a:srgbClr val="000000"/>
                    </a:solidFill>
                    <a:latin typeface="Lexend"/>
                    <a:ea typeface="Lexend"/>
                    <a:cs typeface="Lexend"/>
                    <a:sym typeface="Lexend"/>
                  </a:rPr>
                  <a:t>Cache Engine</a:t>
                </a:r>
                <a:endParaRPr/>
              </a:p>
            </p:txBody>
          </p:sp>
        </p:grpSp>
        <p:grpSp>
          <p:nvGrpSpPr>
            <p:cNvPr id="331" name="Google Shape;331;p23"/>
            <p:cNvGrpSpPr/>
            <p:nvPr/>
          </p:nvGrpSpPr>
          <p:grpSpPr>
            <a:xfrm>
              <a:off x="295" y="157283"/>
              <a:ext cx="1204200" cy="461700"/>
              <a:chOff x="0" y="0"/>
              <a:chExt cx="1204200" cy="461700"/>
            </a:xfrm>
          </p:grpSpPr>
          <p:sp>
            <p:nvSpPr>
              <p:cNvPr id="332" name="Google Shape;332;p23"/>
              <p:cNvSpPr/>
              <p:nvPr/>
            </p:nvSpPr>
            <p:spPr>
              <a:xfrm>
                <a:off x="0" y="171750"/>
                <a:ext cx="1204200" cy="281400"/>
              </a:xfrm>
              <a:prstGeom prst="rect">
                <a:avLst/>
              </a:prstGeom>
              <a:solidFill>
                <a:srgbClr val="FFF4CB"/>
              </a:solidFill>
              <a:ln cap="flat" cmpd="sng" w="12700">
                <a:solidFill>
                  <a:srgbClr val="C6C6C6"/>
                </a:solidFill>
                <a:prstDash val="solid"/>
                <a:miter lim="800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666666"/>
                  </a:buClr>
                  <a:buSzPts val="1200"/>
                  <a:buFont typeface="Lexend"/>
                  <a:buNone/>
                </a:pPr>
                <a:r>
                  <a:t/>
                </a:r>
                <a:endParaRPr b="0" i="0" sz="1200" u="none" cap="none" strike="noStrike">
                  <a:solidFill>
                    <a:srgbClr val="666666"/>
                  </a:solidFill>
                  <a:latin typeface="Lexend"/>
                  <a:ea typeface="Lexend"/>
                  <a:cs typeface="Lexend"/>
                  <a:sym typeface="Lexend"/>
                </a:endParaRPr>
              </a:p>
            </p:txBody>
          </p:sp>
          <p:sp>
            <p:nvSpPr>
              <p:cNvPr id="333" name="Google Shape;333;p23"/>
              <p:cNvSpPr txBox="1"/>
              <p:nvPr/>
            </p:nvSpPr>
            <p:spPr>
              <a:xfrm>
                <a:off x="52024" y="0"/>
                <a:ext cx="1100400" cy="461700"/>
              </a:xfrm>
              <a:prstGeom prst="rect">
                <a:avLst/>
              </a:prstGeom>
              <a:noFill/>
              <a:ln>
                <a:noFill/>
              </a:ln>
            </p:spPr>
            <p:txBody>
              <a:bodyPr anchorCtr="0" anchor="ctr" bIns="45675" lIns="45675" spcFirstLastPara="1" rIns="45675" wrap="square" tIns="45675">
                <a:spAutoFit/>
              </a:bodyPr>
              <a:lstStyle/>
              <a:p>
                <a:pPr indent="0" lvl="0" marL="0" marR="0" rtl="0" algn="ctr">
                  <a:lnSpc>
                    <a:spcPct val="100000"/>
                  </a:lnSpc>
                  <a:spcBef>
                    <a:spcPts val="0"/>
                  </a:spcBef>
                  <a:spcAft>
                    <a:spcPts val="0"/>
                  </a:spcAft>
                  <a:buClr>
                    <a:srgbClr val="000000"/>
                  </a:buClr>
                  <a:buSzPts val="1200"/>
                  <a:buFont typeface="Lexend"/>
                  <a:buNone/>
                </a:pPr>
                <a:r>
                  <a:t/>
                </a:r>
                <a:endParaRPr b="0" i="0" sz="12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1200"/>
                  <a:buFont typeface="Lexend"/>
                  <a:buNone/>
                </a:pPr>
                <a:r>
                  <a:rPr b="0" i="0" lang="en" sz="1200" u="none" cap="none" strike="noStrike">
                    <a:solidFill>
                      <a:srgbClr val="000000"/>
                    </a:solidFill>
                    <a:latin typeface="Lexend"/>
                    <a:ea typeface="Lexend"/>
                    <a:cs typeface="Lexend"/>
                    <a:sym typeface="Lexend"/>
                  </a:rPr>
                  <a:t>Scheduler</a:t>
                </a:r>
                <a:endParaRPr/>
              </a:p>
            </p:txBody>
          </p:sp>
        </p:grpSp>
      </p:grpSp>
      <p:grpSp>
        <p:nvGrpSpPr>
          <p:cNvPr id="334" name="Google Shape;334;p23"/>
          <p:cNvGrpSpPr/>
          <p:nvPr/>
        </p:nvGrpSpPr>
        <p:grpSpPr>
          <a:xfrm>
            <a:off x="3096361" y="717608"/>
            <a:ext cx="1978200" cy="4186500"/>
            <a:chOff x="0" y="-1"/>
            <a:chExt cx="1978200" cy="4186500"/>
          </a:xfrm>
        </p:grpSpPr>
        <p:grpSp>
          <p:nvGrpSpPr>
            <p:cNvPr id="335" name="Google Shape;335;p23"/>
            <p:cNvGrpSpPr/>
            <p:nvPr/>
          </p:nvGrpSpPr>
          <p:grpSpPr>
            <a:xfrm>
              <a:off x="0" y="-1"/>
              <a:ext cx="1978200" cy="4186500"/>
              <a:chOff x="0" y="-1"/>
              <a:chExt cx="1978200" cy="4186500"/>
            </a:xfrm>
          </p:grpSpPr>
          <p:sp>
            <p:nvSpPr>
              <p:cNvPr id="336" name="Google Shape;336;p23"/>
              <p:cNvSpPr/>
              <p:nvPr/>
            </p:nvSpPr>
            <p:spPr>
              <a:xfrm>
                <a:off x="0" y="1393200"/>
                <a:ext cx="1978200" cy="1673700"/>
              </a:xfrm>
              <a:prstGeom prst="rect">
                <a:avLst/>
              </a:prstGeom>
              <a:solidFill>
                <a:srgbClr val="FFC8D3"/>
              </a:solidFill>
              <a:ln cap="flat" cmpd="sng" w="12700">
                <a:solidFill>
                  <a:srgbClr val="C6C6C6"/>
                </a:solidFill>
                <a:prstDash val="solid"/>
                <a:miter lim="800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400"/>
                  <a:buFont typeface="Lexend"/>
                  <a:buNone/>
                </a:pPr>
                <a:r>
                  <a:t/>
                </a:r>
                <a:endParaRPr b="0" i="0" sz="1400" u="none" cap="none" strike="noStrike">
                  <a:solidFill>
                    <a:srgbClr val="000000"/>
                  </a:solidFill>
                  <a:latin typeface="Lexend"/>
                  <a:ea typeface="Lexend"/>
                  <a:cs typeface="Lexend"/>
                  <a:sym typeface="Lexend"/>
                </a:endParaRPr>
              </a:p>
            </p:txBody>
          </p:sp>
          <p:sp>
            <p:nvSpPr>
              <p:cNvPr id="337" name="Google Shape;337;p23"/>
              <p:cNvSpPr txBox="1"/>
              <p:nvPr/>
            </p:nvSpPr>
            <p:spPr>
              <a:xfrm>
                <a:off x="52024" y="-1"/>
                <a:ext cx="1874100" cy="4186500"/>
              </a:xfrm>
              <a:prstGeom prst="rect">
                <a:avLst/>
              </a:prstGeom>
              <a:noFill/>
              <a:ln>
                <a:noFill/>
              </a:ln>
            </p:spPr>
            <p:txBody>
              <a:bodyPr anchorCtr="0" anchor="ctr" bIns="45675" lIns="45675" spcFirstLastPara="1" rIns="45675" wrap="square" tIns="45675">
                <a:spAutoFit/>
              </a:bodyPr>
              <a:lstStyle/>
              <a:p>
                <a:pPr indent="0" lvl="0" marL="0" marR="0" rtl="0" algn="ctr">
                  <a:lnSpc>
                    <a:spcPct val="100000"/>
                  </a:lnSpc>
                  <a:spcBef>
                    <a:spcPts val="0"/>
                  </a:spcBef>
                  <a:spcAft>
                    <a:spcPts val="0"/>
                  </a:spcAft>
                  <a:buClr>
                    <a:srgbClr val="000000"/>
                  </a:buClr>
                  <a:buSzPts val="1400"/>
                  <a:buFont typeface="Lexend"/>
                  <a:buNone/>
                </a:pPr>
                <a:r>
                  <a:t/>
                </a:r>
                <a:endParaRPr b="0" i="0" sz="14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1400"/>
                  <a:buFont typeface="Lexend"/>
                  <a:buNone/>
                </a:pPr>
                <a:r>
                  <a:t/>
                </a:r>
                <a:endParaRPr b="0" i="0" sz="14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1400"/>
                  <a:buFont typeface="Lexend"/>
                  <a:buNone/>
                </a:pPr>
                <a:r>
                  <a:t/>
                </a:r>
                <a:endParaRPr b="0" i="0" sz="14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1400"/>
                  <a:buFont typeface="Lexend"/>
                  <a:buNone/>
                </a:pPr>
                <a:r>
                  <a:t/>
                </a:r>
                <a:endParaRPr b="0" i="0" sz="14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1400"/>
                  <a:buFont typeface="Lexend"/>
                  <a:buNone/>
                </a:pPr>
                <a:r>
                  <a:t/>
                </a:r>
                <a:endParaRPr b="0" i="0" sz="14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1400"/>
                  <a:buFont typeface="Lexend"/>
                  <a:buNone/>
                </a:pPr>
                <a:r>
                  <a:t/>
                </a:r>
                <a:endParaRPr b="0" i="0" sz="14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1400"/>
                  <a:buFont typeface="Lexend"/>
                  <a:buNone/>
                </a:pPr>
                <a:r>
                  <a:rPr b="0" i="0" lang="en" sz="1400" u="none" cap="none" strike="noStrike">
                    <a:solidFill>
                      <a:srgbClr val="000000"/>
                    </a:solidFill>
                    <a:latin typeface="Lexend"/>
                    <a:ea typeface="Lexend"/>
                    <a:cs typeface="Lexend"/>
                    <a:sym typeface="Lexend"/>
                  </a:rPr>
                  <a:t>Diffusion</a:t>
                </a:r>
                <a:endParaRPr/>
              </a:p>
              <a:p>
                <a:pPr indent="0" lvl="0" marL="0" marR="0" rtl="0" algn="ctr">
                  <a:lnSpc>
                    <a:spcPct val="100000"/>
                  </a:lnSpc>
                  <a:spcBef>
                    <a:spcPts val="0"/>
                  </a:spcBef>
                  <a:spcAft>
                    <a:spcPts val="0"/>
                  </a:spcAft>
                  <a:buClr>
                    <a:srgbClr val="000000"/>
                  </a:buClr>
                  <a:buSzPts val="1400"/>
                  <a:buFont typeface="Lexend"/>
                  <a:buNone/>
                </a:pPr>
                <a:r>
                  <a:t/>
                </a:r>
                <a:endParaRPr b="0" i="0" sz="14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1400"/>
                  <a:buFont typeface="Lexend"/>
                  <a:buNone/>
                </a:pPr>
                <a:r>
                  <a:t/>
                </a:r>
                <a:endParaRPr b="0" i="0" sz="14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1400"/>
                  <a:buFont typeface="Lexend"/>
                  <a:buNone/>
                </a:pPr>
                <a:r>
                  <a:t/>
                </a:r>
                <a:endParaRPr b="0" i="0" sz="14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1400"/>
                  <a:buFont typeface="Lexend"/>
                  <a:buNone/>
                </a:pPr>
                <a:r>
                  <a:t/>
                </a:r>
                <a:endParaRPr b="0" i="0" sz="14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1400"/>
                  <a:buFont typeface="Lexend"/>
                  <a:buNone/>
                </a:pPr>
                <a:r>
                  <a:t/>
                </a:r>
                <a:endParaRPr b="0" i="0" sz="14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1400"/>
                  <a:buFont typeface="Lexend"/>
                  <a:buNone/>
                </a:pPr>
                <a:r>
                  <a:t/>
                </a:r>
                <a:endParaRPr b="0" i="0" sz="14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1400"/>
                  <a:buFont typeface="Lexend"/>
                  <a:buNone/>
                </a:pPr>
                <a:r>
                  <a:t/>
                </a:r>
                <a:endParaRPr b="0" i="0" sz="14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1400"/>
                  <a:buFont typeface="Lexend"/>
                  <a:buNone/>
                </a:pPr>
                <a:r>
                  <a:t/>
                </a:r>
                <a:endParaRPr b="0" i="0" sz="14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1400"/>
                  <a:buFont typeface="Lexend"/>
                  <a:buNone/>
                </a:pPr>
                <a:r>
                  <a:t/>
                </a:r>
                <a:endParaRPr b="0" i="0" sz="14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1400"/>
                  <a:buFont typeface="Lexend"/>
                  <a:buNone/>
                </a:pPr>
                <a:r>
                  <a:t/>
                </a:r>
                <a:endParaRPr b="0" i="0" sz="14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1400"/>
                  <a:buFont typeface="Lexend"/>
                  <a:buNone/>
                </a:pPr>
                <a:r>
                  <a:t/>
                </a:r>
                <a:endParaRPr b="0" i="0" sz="14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1400"/>
                  <a:buFont typeface="Lexend"/>
                  <a:buNone/>
                </a:pPr>
                <a:r>
                  <a:t/>
                </a:r>
                <a:endParaRPr b="0" i="0" sz="1400" u="none" cap="none" strike="noStrike">
                  <a:solidFill>
                    <a:srgbClr val="000000"/>
                  </a:solidFill>
                  <a:latin typeface="Lexend"/>
                  <a:ea typeface="Lexend"/>
                  <a:cs typeface="Lexend"/>
                  <a:sym typeface="Lexend"/>
                </a:endParaRPr>
              </a:p>
            </p:txBody>
          </p:sp>
        </p:grpSp>
        <p:grpSp>
          <p:nvGrpSpPr>
            <p:cNvPr id="338" name="Google Shape;338;p23"/>
            <p:cNvGrpSpPr/>
            <p:nvPr/>
          </p:nvGrpSpPr>
          <p:grpSpPr>
            <a:xfrm>
              <a:off x="301392" y="2361107"/>
              <a:ext cx="1397100" cy="276900"/>
              <a:chOff x="0" y="0"/>
              <a:chExt cx="1397100" cy="276900"/>
            </a:xfrm>
          </p:grpSpPr>
          <p:sp>
            <p:nvSpPr>
              <p:cNvPr id="339" name="Google Shape;339;p23"/>
              <p:cNvSpPr/>
              <p:nvPr/>
            </p:nvSpPr>
            <p:spPr>
              <a:xfrm>
                <a:off x="0" y="10949"/>
                <a:ext cx="1397100" cy="247200"/>
              </a:xfrm>
              <a:prstGeom prst="rect">
                <a:avLst/>
              </a:prstGeom>
              <a:solidFill>
                <a:srgbClr val="FFC8D3"/>
              </a:solidFill>
              <a:ln cap="flat" cmpd="sng" w="12700">
                <a:solidFill>
                  <a:srgbClr val="C6C6C6"/>
                </a:solidFill>
                <a:prstDash val="solid"/>
                <a:miter lim="800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Lexend"/>
                  <a:buNone/>
                </a:pPr>
                <a:r>
                  <a:t/>
                </a:r>
                <a:endParaRPr b="0" i="0" sz="1200" u="none" cap="none" strike="noStrike">
                  <a:solidFill>
                    <a:srgbClr val="000000"/>
                  </a:solidFill>
                  <a:latin typeface="Lexend"/>
                  <a:ea typeface="Lexend"/>
                  <a:cs typeface="Lexend"/>
                  <a:sym typeface="Lexend"/>
                </a:endParaRPr>
              </a:p>
            </p:txBody>
          </p:sp>
          <p:sp>
            <p:nvSpPr>
              <p:cNvPr id="340" name="Google Shape;340;p23"/>
              <p:cNvSpPr txBox="1"/>
              <p:nvPr/>
            </p:nvSpPr>
            <p:spPr>
              <a:xfrm>
                <a:off x="52024" y="0"/>
                <a:ext cx="1293000" cy="276900"/>
              </a:xfrm>
              <a:prstGeom prst="rect">
                <a:avLst/>
              </a:prstGeom>
              <a:noFill/>
              <a:ln>
                <a:noFill/>
              </a:ln>
            </p:spPr>
            <p:txBody>
              <a:bodyPr anchorCtr="0" anchor="ctr" bIns="45675" lIns="45675" spcFirstLastPara="1" rIns="45675" wrap="square" tIns="45675">
                <a:spAutoFit/>
              </a:bodyPr>
              <a:lstStyle/>
              <a:p>
                <a:pPr indent="0" lvl="0" marL="0" marR="0" rtl="0" algn="ctr">
                  <a:lnSpc>
                    <a:spcPct val="100000"/>
                  </a:lnSpc>
                  <a:spcBef>
                    <a:spcPts val="0"/>
                  </a:spcBef>
                  <a:spcAft>
                    <a:spcPts val="0"/>
                  </a:spcAft>
                  <a:buClr>
                    <a:srgbClr val="000000"/>
                  </a:buClr>
                  <a:buSzPts val="1200"/>
                  <a:buFont typeface="Lexend"/>
                  <a:buNone/>
                </a:pPr>
                <a:r>
                  <a:rPr b="0" i="0" lang="en" sz="1200" u="none" cap="none" strike="noStrike">
                    <a:solidFill>
                      <a:srgbClr val="000000"/>
                    </a:solidFill>
                    <a:latin typeface="Lexend"/>
                    <a:ea typeface="Lexend"/>
                    <a:cs typeface="Lexend"/>
                    <a:sym typeface="Lexend"/>
                  </a:rPr>
                  <a:t>Worker</a:t>
                </a:r>
                <a:endParaRPr/>
              </a:p>
            </p:txBody>
          </p:sp>
        </p:grpSp>
        <p:grpSp>
          <p:nvGrpSpPr>
            <p:cNvPr id="341" name="Google Shape;341;p23"/>
            <p:cNvGrpSpPr/>
            <p:nvPr/>
          </p:nvGrpSpPr>
          <p:grpSpPr>
            <a:xfrm>
              <a:off x="301392" y="2627349"/>
              <a:ext cx="1397100" cy="461700"/>
              <a:chOff x="0" y="0"/>
              <a:chExt cx="1397100" cy="461700"/>
            </a:xfrm>
          </p:grpSpPr>
          <p:sp>
            <p:nvSpPr>
              <p:cNvPr id="342" name="Google Shape;342;p23"/>
              <p:cNvSpPr/>
              <p:nvPr/>
            </p:nvSpPr>
            <p:spPr>
              <a:xfrm>
                <a:off x="0" y="48670"/>
                <a:ext cx="1397100" cy="349500"/>
              </a:xfrm>
              <a:prstGeom prst="rect">
                <a:avLst/>
              </a:prstGeom>
              <a:solidFill>
                <a:srgbClr val="FFC8D3"/>
              </a:solidFill>
              <a:ln cap="flat" cmpd="sng" w="12700">
                <a:solidFill>
                  <a:srgbClr val="C6C6C6"/>
                </a:solidFill>
                <a:prstDash val="solid"/>
                <a:miter lim="800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Lexend"/>
                  <a:buNone/>
                </a:pPr>
                <a:r>
                  <a:t/>
                </a:r>
                <a:endParaRPr b="0" i="0" sz="1200" u="none" cap="none" strike="noStrike">
                  <a:solidFill>
                    <a:srgbClr val="000000"/>
                  </a:solidFill>
                  <a:latin typeface="Lexend"/>
                  <a:ea typeface="Lexend"/>
                  <a:cs typeface="Lexend"/>
                  <a:sym typeface="Lexend"/>
                </a:endParaRPr>
              </a:p>
            </p:txBody>
          </p:sp>
          <p:sp>
            <p:nvSpPr>
              <p:cNvPr id="343" name="Google Shape;343;p23"/>
              <p:cNvSpPr txBox="1"/>
              <p:nvPr/>
            </p:nvSpPr>
            <p:spPr>
              <a:xfrm>
                <a:off x="52024" y="0"/>
                <a:ext cx="1293000" cy="461700"/>
              </a:xfrm>
              <a:prstGeom prst="rect">
                <a:avLst/>
              </a:prstGeom>
              <a:noFill/>
              <a:ln>
                <a:noFill/>
              </a:ln>
            </p:spPr>
            <p:txBody>
              <a:bodyPr anchorCtr="0" anchor="ctr" bIns="45675" lIns="45675" spcFirstLastPara="1" rIns="45675" wrap="square" tIns="45675">
                <a:spAutoFit/>
              </a:bodyPr>
              <a:lstStyle/>
              <a:p>
                <a:pPr indent="0" lvl="0" marL="0" marR="0" rtl="0" algn="ctr">
                  <a:lnSpc>
                    <a:spcPct val="100000"/>
                  </a:lnSpc>
                  <a:spcBef>
                    <a:spcPts val="0"/>
                  </a:spcBef>
                  <a:spcAft>
                    <a:spcPts val="0"/>
                  </a:spcAft>
                  <a:buClr>
                    <a:srgbClr val="000000"/>
                  </a:buClr>
                  <a:buSzPts val="1200"/>
                  <a:buFont typeface="Lexend"/>
                  <a:buNone/>
                </a:pPr>
                <a:r>
                  <a:rPr b="0" i="0" lang="en" sz="1200" u="none" cap="none" strike="noStrike">
                    <a:solidFill>
                      <a:srgbClr val="000000"/>
                    </a:solidFill>
                    <a:latin typeface="Lexend"/>
                    <a:ea typeface="Lexend"/>
                    <a:cs typeface="Lexend"/>
                    <a:sym typeface="Lexend"/>
                  </a:rPr>
                  <a:t>ModelRunner</a:t>
                </a:r>
                <a:endParaRPr/>
              </a:p>
              <a:p>
                <a:pPr indent="0" lvl="0" marL="0" marR="0" rtl="0" algn="ctr">
                  <a:lnSpc>
                    <a:spcPct val="100000"/>
                  </a:lnSpc>
                  <a:spcBef>
                    <a:spcPts val="0"/>
                  </a:spcBef>
                  <a:spcAft>
                    <a:spcPts val="0"/>
                  </a:spcAft>
                  <a:buClr>
                    <a:srgbClr val="000000"/>
                  </a:buClr>
                  <a:buSzPts val="1200"/>
                  <a:buFont typeface="Lexend"/>
                  <a:buNone/>
                </a:pPr>
                <a:r>
                  <a:rPr b="0" i="0" lang="en" sz="1200" u="none" cap="none" strike="noStrike">
                    <a:solidFill>
                      <a:srgbClr val="000000"/>
                    </a:solidFill>
                    <a:latin typeface="Lexend"/>
                    <a:ea typeface="Lexend"/>
                    <a:cs typeface="Lexend"/>
                    <a:sym typeface="Lexend"/>
                  </a:rPr>
                  <a:t>/Pipeline</a:t>
                </a:r>
                <a:endParaRPr/>
              </a:p>
            </p:txBody>
          </p:sp>
        </p:grpSp>
        <p:grpSp>
          <p:nvGrpSpPr>
            <p:cNvPr id="344" name="Google Shape;344;p23"/>
            <p:cNvGrpSpPr/>
            <p:nvPr/>
          </p:nvGrpSpPr>
          <p:grpSpPr>
            <a:xfrm>
              <a:off x="301391" y="2038850"/>
              <a:ext cx="1397100" cy="280648"/>
              <a:chOff x="-1" y="0"/>
              <a:chExt cx="1397100" cy="280648"/>
            </a:xfrm>
          </p:grpSpPr>
          <p:sp>
            <p:nvSpPr>
              <p:cNvPr id="345" name="Google Shape;345;p23"/>
              <p:cNvSpPr/>
              <p:nvPr/>
            </p:nvSpPr>
            <p:spPr>
              <a:xfrm>
                <a:off x="-1" y="0"/>
                <a:ext cx="1397100" cy="276600"/>
              </a:xfrm>
              <a:prstGeom prst="rect">
                <a:avLst/>
              </a:prstGeom>
              <a:solidFill>
                <a:srgbClr val="FFC8D3"/>
              </a:solidFill>
              <a:ln cap="flat" cmpd="sng" w="12700">
                <a:solidFill>
                  <a:srgbClr val="C6C6C6"/>
                </a:solidFill>
                <a:prstDash val="solid"/>
                <a:miter lim="800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Lexend"/>
                  <a:buNone/>
                </a:pPr>
                <a:r>
                  <a:t/>
                </a:r>
                <a:endParaRPr b="0" i="0" sz="1200" u="none" cap="none" strike="noStrike">
                  <a:solidFill>
                    <a:srgbClr val="000000"/>
                  </a:solidFill>
                  <a:latin typeface="Lexend"/>
                  <a:ea typeface="Lexend"/>
                  <a:cs typeface="Lexend"/>
                  <a:sym typeface="Lexend"/>
                </a:endParaRPr>
              </a:p>
            </p:txBody>
          </p:sp>
          <p:sp>
            <p:nvSpPr>
              <p:cNvPr id="346" name="Google Shape;346;p23"/>
              <p:cNvSpPr txBox="1"/>
              <p:nvPr/>
            </p:nvSpPr>
            <p:spPr>
              <a:xfrm>
                <a:off x="52024" y="3748"/>
                <a:ext cx="1293000" cy="276900"/>
              </a:xfrm>
              <a:prstGeom prst="rect">
                <a:avLst/>
              </a:prstGeom>
              <a:noFill/>
              <a:ln>
                <a:noFill/>
              </a:ln>
            </p:spPr>
            <p:txBody>
              <a:bodyPr anchorCtr="0" anchor="ctr" bIns="45675" lIns="45675" spcFirstLastPara="1" rIns="45675" wrap="square" tIns="45675">
                <a:spAutoFit/>
              </a:bodyPr>
              <a:lstStyle/>
              <a:p>
                <a:pPr indent="0" lvl="0" marL="0" marR="0" rtl="0" algn="ctr">
                  <a:lnSpc>
                    <a:spcPct val="100000"/>
                  </a:lnSpc>
                  <a:spcBef>
                    <a:spcPts val="0"/>
                  </a:spcBef>
                  <a:spcAft>
                    <a:spcPts val="0"/>
                  </a:spcAft>
                  <a:buClr>
                    <a:srgbClr val="000000"/>
                  </a:buClr>
                  <a:buSzPts val="1200"/>
                  <a:buFont typeface="Lexend"/>
                  <a:buNone/>
                </a:pPr>
                <a:r>
                  <a:rPr b="0" i="0" lang="en" sz="1200" u="none" cap="none" strike="noStrike">
                    <a:solidFill>
                      <a:srgbClr val="000000"/>
                    </a:solidFill>
                    <a:latin typeface="Lexend"/>
                    <a:ea typeface="Lexend"/>
                    <a:cs typeface="Lexend"/>
                    <a:sym typeface="Lexend"/>
                  </a:rPr>
                  <a:t>Scheduler</a:t>
                </a:r>
                <a:endParaRPr/>
              </a:p>
            </p:txBody>
          </p:sp>
        </p:grpSp>
        <p:grpSp>
          <p:nvGrpSpPr>
            <p:cNvPr id="347" name="Google Shape;347;p23"/>
            <p:cNvGrpSpPr/>
            <p:nvPr/>
          </p:nvGrpSpPr>
          <p:grpSpPr>
            <a:xfrm>
              <a:off x="303435" y="1679313"/>
              <a:ext cx="1397100" cy="280648"/>
              <a:chOff x="-1" y="0"/>
              <a:chExt cx="1397100" cy="280648"/>
            </a:xfrm>
          </p:grpSpPr>
          <p:sp>
            <p:nvSpPr>
              <p:cNvPr id="348" name="Google Shape;348;p23"/>
              <p:cNvSpPr/>
              <p:nvPr/>
            </p:nvSpPr>
            <p:spPr>
              <a:xfrm>
                <a:off x="-1" y="0"/>
                <a:ext cx="1397100" cy="276600"/>
              </a:xfrm>
              <a:prstGeom prst="rect">
                <a:avLst/>
              </a:prstGeom>
              <a:solidFill>
                <a:srgbClr val="FFC8D3"/>
              </a:solidFill>
              <a:ln cap="flat" cmpd="sng" w="12700">
                <a:solidFill>
                  <a:srgbClr val="C6C6C6"/>
                </a:solidFill>
                <a:prstDash val="solid"/>
                <a:miter lim="800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Lexend"/>
                  <a:buNone/>
                </a:pPr>
                <a:r>
                  <a:t/>
                </a:r>
                <a:endParaRPr b="0" i="0" sz="1200" u="none" cap="none" strike="noStrike">
                  <a:solidFill>
                    <a:srgbClr val="000000"/>
                  </a:solidFill>
                  <a:latin typeface="Lexend"/>
                  <a:ea typeface="Lexend"/>
                  <a:cs typeface="Lexend"/>
                  <a:sym typeface="Lexend"/>
                </a:endParaRPr>
              </a:p>
            </p:txBody>
          </p:sp>
          <p:sp>
            <p:nvSpPr>
              <p:cNvPr id="349" name="Google Shape;349;p23"/>
              <p:cNvSpPr txBox="1"/>
              <p:nvPr/>
            </p:nvSpPr>
            <p:spPr>
              <a:xfrm>
                <a:off x="52024" y="3748"/>
                <a:ext cx="1293000" cy="276900"/>
              </a:xfrm>
              <a:prstGeom prst="rect">
                <a:avLst/>
              </a:prstGeom>
              <a:noFill/>
              <a:ln>
                <a:noFill/>
              </a:ln>
            </p:spPr>
            <p:txBody>
              <a:bodyPr anchorCtr="0" anchor="ctr" bIns="45675" lIns="45675" spcFirstLastPara="1" rIns="45675" wrap="square" tIns="45675">
                <a:spAutoFit/>
              </a:bodyPr>
              <a:lstStyle/>
              <a:p>
                <a:pPr indent="0" lvl="0" marL="0" marR="0" rtl="0" algn="ctr">
                  <a:lnSpc>
                    <a:spcPct val="100000"/>
                  </a:lnSpc>
                  <a:spcBef>
                    <a:spcPts val="0"/>
                  </a:spcBef>
                  <a:spcAft>
                    <a:spcPts val="0"/>
                  </a:spcAft>
                  <a:buClr>
                    <a:srgbClr val="000000"/>
                  </a:buClr>
                  <a:buSzPts val="1200"/>
                  <a:buFont typeface="Lexend"/>
                  <a:buNone/>
                </a:pPr>
                <a:r>
                  <a:rPr b="0" i="0" lang="en" sz="1200" u="none" cap="none" strike="noStrike">
                    <a:solidFill>
                      <a:srgbClr val="000000"/>
                    </a:solidFill>
                    <a:latin typeface="Lexend"/>
                    <a:ea typeface="Lexend"/>
                    <a:cs typeface="Lexend"/>
                    <a:sym typeface="Lexend"/>
                  </a:rPr>
                  <a:t>DiffusionEngine</a:t>
                </a:r>
                <a:endParaRPr/>
              </a:p>
            </p:txBody>
          </p:sp>
        </p:grpSp>
      </p:grpSp>
      <p:sp>
        <p:nvSpPr>
          <p:cNvPr id="350" name="Google Shape;350;p23"/>
          <p:cNvSpPr txBox="1"/>
          <p:nvPr/>
        </p:nvSpPr>
        <p:spPr>
          <a:xfrm>
            <a:off x="5513089" y="778398"/>
            <a:ext cx="3430200" cy="3814800"/>
          </a:xfrm>
          <a:prstGeom prst="rect">
            <a:avLst/>
          </a:prstGeom>
          <a:noFill/>
          <a:ln>
            <a:noFill/>
          </a:ln>
        </p:spPr>
        <p:txBody>
          <a:bodyPr anchorCtr="0" anchor="t" bIns="45675" lIns="45675" spcFirstLastPara="1" rIns="45675" wrap="square" tIns="45675">
            <a:spAutoFit/>
          </a:bodyPr>
          <a:lstStyle/>
          <a:p>
            <a:pPr indent="0" lvl="0" marL="0" marR="0" rtl="0" algn="l">
              <a:lnSpc>
                <a:spcPct val="100000"/>
              </a:lnSpc>
              <a:spcBef>
                <a:spcPts val="1100"/>
              </a:spcBef>
              <a:spcAft>
                <a:spcPts val="0"/>
              </a:spcAft>
              <a:buNone/>
            </a:pPr>
            <a:r>
              <a:rPr b="1" lang="en">
                <a:solidFill>
                  <a:srgbClr val="1A1A1A"/>
                </a:solidFill>
                <a:latin typeface="Calibri"/>
                <a:ea typeface="Calibri"/>
                <a:cs typeface="Calibri"/>
                <a:sym typeface="Calibri"/>
              </a:rPr>
              <a:t>Main component</a:t>
            </a:r>
            <a:endParaRPr b="1">
              <a:solidFill>
                <a:srgbClr val="1A1A1A"/>
              </a:solidFill>
              <a:latin typeface="Calibri"/>
              <a:ea typeface="Calibri"/>
              <a:cs typeface="Calibri"/>
              <a:sym typeface="Calibri"/>
            </a:endParaRPr>
          </a:p>
          <a:p>
            <a:pPr indent="-254000" lvl="0" marL="254000" marR="0" rtl="0" algn="l">
              <a:lnSpc>
                <a:spcPct val="100000"/>
              </a:lnSpc>
              <a:spcBef>
                <a:spcPts val="1100"/>
              </a:spcBef>
              <a:spcAft>
                <a:spcPts val="0"/>
              </a:spcAft>
              <a:buClr>
                <a:srgbClr val="1A1A1A"/>
              </a:buClr>
              <a:buSzPts val="1400"/>
              <a:buFont typeface="Calibri"/>
              <a:buChar char="•"/>
            </a:pPr>
            <a:r>
              <a:rPr b="1" lang="en">
                <a:solidFill>
                  <a:srgbClr val="1A1A1A"/>
                </a:solidFill>
                <a:latin typeface="Calibri"/>
                <a:ea typeface="Calibri"/>
                <a:cs typeface="Calibri"/>
                <a:sym typeface="Calibri"/>
              </a:rPr>
              <a:t>Entrypoints:</a:t>
            </a:r>
            <a:r>
              <a:rPr lang="en">
                <a:solidFill>
                  <a:srgbClr val="1A1A1A"/>
                </a:solidFill>
                <a:latin typeface="Calibri"/>
                <a:ea typeface="Calibri"/>
                <a:cs typeface="Calibri"/>
                <a:sym typeface="Calibri"/>
              </a:rPr>
              <a:t> offline/online serving, OmniStage abstraction for model stages(AR/DiT)</a:t>
            </a:r>
            <a:endParaRPr>
              <a:solidFill>
                <a:srgbClr val="1A1A1A"/>
              </a:solidFill>
              <a:latin typeface="Calibri"/>
              <a:ea typeface="Calibri"/>
              <a:cs typeface="Calibri"/>
              <a:sym typeface="Calibri"/>
            </a:endParaRPr>
          </a:p>
          <a:p>
            <a:pPr indent="-254000" lvl="0" marL="254000" marR="0" rtl="0" algn="l">
              <a:lnSpc>
                <a:spcPct val="100000"/>
              </a:lnSpc>
              <a:spcBef>
                <a:spcPts val="1100"/>
              </a:spcBef>
              <a:spcAft>
                <a:spcPts val="0"/>
              </a:spcAft>
              <a:buClr>
                <a:srgbClr val="1A1A1A"/>
              </a:buClr>
              <a:buSzPts val="1400"/>
              <a:buFont typeface="Calibri"/>
              <a:buChar char="•"/>
            </a:pPr>
            <a:r>
              <a:rPr b="1" lang="en">
                <a:solidFill>
                  <a:srgbClr val="1A1A1A"/>
                </a:solidFill>
                <a:latin typeface="Calibri"/>
                <a:ea typeface="Calibri"/>
                <a:cs typeface="Calibri"/>
                <a:sym typeface="Calibri"/>
              </a:rPr>
              <a:t>AR module: </a:t>
            </a:r>
            <a:r>
              <a:rPr lang="en">
                <a:solidFill>
                  <a:srgbClr val="1A1A1A"/>
                </a:solidFill>
                <a:latin typeface="Calibri"/>
                <a:ea typeface="Calibri"/>
                <a:cs typeface="Calibri"/>
                <a:sym typeface="Calibri"/>
              </a:rPr>
              <a:t>inherited from vLLM(CB/PA/Prefix Cache…) and adapted to the Omni-modality model</a:t>
            </a:r>
            <a:endParaRPr>
              <a:solidFill>
                <a:srgbClr val="1A1A1A"/>
              </a:solidFill>
              <a:latin typeface="Calibri"/>
              <a:ea typeface="Calibri"/>
              <a:cs typeface="Calibri"/>
              <a:sym typeface="Calibri"/>
            </a:endParaRPr>
          </a:p>
          <a:p>
            <a:pPr indent="-254000" lvl="0" marL="254000" marR="0" rtl="0" algn="l">
              <a:lnSpc>
                <a:spcPct val="100000"/>
              </a:lnSpc>
              <a:spcBef>
                <a:spcPts val="1100"/>
              </a:spcBef>
              <a:spcAft>
                <a:spcPts val="0"/>
              </a:spcAft>
              <a:buClr>
                <a:srgbClr val="1A1A1A"/>
              </a:buClr>
              <a:buSzPts val="1400"/>
              <a:buFont typeface="Calibri"/>
              <a:buChar char="•"/>
            </a:pPr>
            <a:r>
              <a:rPr b="1" lang="en">
                <a:solidFill>
                  <a:srgbClr val="1A1A1A"/>
                </a:solidFill>
                <a:latin typeface="Calibri"/>
                <a:ea typeface="Calibri"/>
                <a:cs typeface="Calibri"/>
                <a:sym typeface="Calibri"/>
              </a:rPr>
              <a:t>Diffusion module: </a:t>
            </a:r>
            <a:r>
              <a:rPr lang="en">
                <a:solidFill>
                  <a:srgbClr val="1A1A1A"/>
                </a:solidFill>
                <a:latin typeface="Calibri"/>
                <a:ea typeface="Calibri"/>
                <a:cs typeface="Calibri"/>
                <a:sym typeface="Calibri"/>
              </a:rPr>
              <a:t>implemented natively and optimized by acceleration components</a:t>
            </a:r>
            <a:endParaRPr>
              <a:solidFill>
                <a:srgbClr val="1A1A1A"/>
              </a:solidFill>
              <a:latin typeface="Calibri"/>
              <a:ea typeface="Calibri"/>
              <a:cs typeface="Calibri"/>
              <a:sym typeface="Calibri"/>
            </a:endParaRPr>
          </a:p>
          <a:p>
            <a:pPr indent="-254000" lvl="0" marL="254000" marR="0" rtl="0" algn="l">
              <a:lnSpc>
                <a:spcPct val="100000"/>
              </a:lnSpc>
              <a:spcBef>
                <a:spcPts val="1100"/>
              </a:spcBef>
              <a:spcAft>
                <a:spcPts val="0"/>
              </a:spcAft>
              <a:buClr>
                <a:srgbClr val="1A1A1A"/>
              </a:buClr>
              <a:buSzPts val="1400"/>
              <a:buFont typeface="Calibri"/>
              <a:buChar char="•"/>
            </a:pPr>
            <a:r>
              <a:rPr b="1" lang="en">
                <a:solidFill>
                  <a:srgbClr val="1A1A1A"/>
                </a:solidFill>
                <a:latin typeface="Calibri"/>
                <a:ea typeface="Calibri"/>
                <a:cs typeface="Calibri"/>
                <a:sym typeface="Calibri"/>
              </a:rPr>
              <a:t>Model/Layer/ops: </a:t>
            </a:r>
            <a:r>
              <a:rPr lang="en">
                <a:solidFill>
                  <a:srgbClr val="1A1A1A"/>
                </a:solidFill>
                <a:latin typeface="Calibri"/>
                <a:ea typeface="Calibri"/>
                <a:cs typeface="Calibri"/>
                <a:sym typeface="Calibri"/>
              </a:rPr>
              <a:t>parallelism, quantization, attention…</a:t>
            </a:r>
            <a:endParaRPr>
              <a:solidFill>
                <a:srgbClr val="1A1A1A"/>
              </a:solidFill>
              <a:latin typeface="Calibri"/>
              <a:ea typeface="Calibri"/>
              <a:cs typeface="Calibri"/>
              <a:sym typeface="Calibri"/>
            </a:endParaRPr>
          </a:p>
          <a:p>
            <a:pPr indent="-254000" lvl="0" marL="254000" marR="0" rtl="0" algn="l">
              <a:lnSpc>
                <a:spcPct val="100000"/>
              </a:lnSpc>
              <a:spcBef>
                <a:spcPts val="1100"/>
              </a:spcBef>
              <a:spcAft>
                <a:spcPts val="0"/>
              </a:spcAft>
              <a:buClr>
                <a:srgbClr val="1A1A1A"/>
              </a:buClr>
              <a:buSzPts val="1400"/>
              <a:buFont typeface="Calibri"/>
              <a:buChar char="•"/>
            </a:pPr>
            <a:r>
              <a:rPr b="1" lang="en">
                <a:solidFill>
                  <a:srgbClr val="1A1A1A"/>
                </a:solidFill>
                <a:latin typeface="Calibri"/>
                <a:ea typeface="Calibri"/>
                <a:cs typeface="Calibri"/>
                <a:sym typeface="Calibri"/>
              </a:rPr>
              <a:t>OmniConnector: </a:t>
            </a:r>
            <a:r>
              <a:rPr lang="en">
                <a:solidFill>
                  <a:srgbClr val="1A1A1A"/>
                </a:solidFill>
                <a:latin typeface="Calibri"/>
                <a:ea typeface="Calibri"/>
                <a:cs typeface="Calibri"/>
                <a:sym typeface="Calibri"/>
              </a:rPr>
              <a:t>natively supports E/P/D/G disaggregation </a:t>
            </a:r>
            <a:endParaRPr>
              <a:solidFill>
                <a:srgbClr val="1A1A1A"/>
              </a:solidFill>
              <a:latin typeface="Calibri"/>
              <a:ea typeface="Calibri"/>
              <a:cs typeface="Calibri"/>
              <a:sym typeface="Calibri"/>
            </a:endParaRPr>
          </a:p>
        </p:txBody>
      </p:sp>
      <p:sp>
        <p:nvSpPr>
          <p:cNvPr id="351" name="Google Shape;351;p23"/>
          <p:cNvSpPr/>
          <p:nvPr/>
        </p:nvSpPr>
        <p:spPr>
          <a:xfrm>
            <a:off x="314475" y="237590"/>
            <a:ext cx="8455800" cy="48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400"/>
              <a:buFont typeface="Calibri"/>
              <a:buNone/>
            </a:pPr>
            <a:r>
              <a:rPr b="1" lang="en" sz="2400">
                <a:solidFill>
                  <a:srgbClr val="1A1A1A"/>
                </a:solidFill>
                <a:latin typeface="Calibri"/>
                <a:ea typeface="Calibri"/>
                <a:cs typeface="Calibri"/>
                <a:sym typeface="Calibri"/>
              </a:rPr>
              <a:t>Appendix</a:t>
            </a:r>
            <a:r>
              <a:rPr b="1" i="0" lang="en" sz="2400" u="none" cap="none" strike="noStrike">
                <a:solidFill>
                  <a:srgbClr val="1A1A1A"/>
                </a:solidFill>
                <a:latin typeface="Calibri"/>
                <a:ea typeface="Calibri"/>
                <a:cs typeface="Calibri"/>
                <a:sym typeface="Calibri"/>
              </a:rPr>
              <a:t> — </a:t>
            </a:r>
            <a:r>
              <a:rPr b="1" lang="en" sz="2400">
                <a:solidFill>
                  <a:srgbClr val="1A1A1A"/>
                </a:solidFill>
                <a:latin typeface="Calibri"/>
                <a:ea typeface="Calibri"/>
                <a:cs typeface="Calibri"/>
                <a:sym typeface="Calibri"/>
              </a:rPr>
              <a:t>vLLM-Omni Introduction</a:t>
            </a:r>
            <a:endParaRPr b="0" i="0" sz="2400" u="none" cap="none" strike="noStrike">
              <a:solidFill>
                <a:schemeClr val="dk1"/>
              </a:solidFill>
              <a:latin typeface="Calibri"/>
              <a:ea typeface="Calibri"/>
              <a:cs typeface="Calibri"/>
              <a:sym typeface="Calibri"/>
            </a:endParaRPr>
          </a:p>
        </p:txBody>
      </p:sp>
      <p:sp>
        <p:nvSpPr>
          <p:cNvPr id="352" name="Google Shape;352;p23"/>
          <p:cNvSpPr txBox="1"/>
          <p:nvPr/>
        </p:nvSpPr>
        <p:spPr>
          <a:xfrm>
            <a:off x="5513100" y="4763875"/>
            <a:ext cx="35910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900"/>
              <a:t>Reference: vLLM-Omni Official Slides</a:t>
            </a:r>
            <a:endParaRPr i="1" sz="9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